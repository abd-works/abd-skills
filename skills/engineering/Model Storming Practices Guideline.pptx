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70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BE"/>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t>25/05/2014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t>25/05/2014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BE"/>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t>25/05/2014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e la date 4"/>
          <p:cNvSpPr>
            <a:spLocks noGrp="1"/>
          </p:cNvSpPr>
          <p:nvPr>
            <p:ph type="dt" sz="half" idx="10"/>
          </p:nvPr>
        </p:nvSpPr>
        <p:spPr/>
        <p:txBody>
          <a:bodyPr/>
          <a:lstStyle/>
          <a:p>
            <a:fld id="{AA309A6D-C09C-4548-B29A-6CF363A7E532}" type="datetimeFigureOut">
              <a:rPr lang="fr-FR" smtClean="0"/>
              <a:t>25/05/2014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7" name="Espace réservé de la date 6"/>
          <p:cNvSpPr>
            <a:spLocks noGrp="1"/>
          </p:cNvSpPr>
          <p:nvPr>
            <p:ph type="dt" sz="half" idx="10"/>
          </p:nvPr>
        </p:nvSpPr>
        <p:spPr/>
        <p:txBody>
          <a:bodyPr/>
          <a:lstStyle/>
          <a:p>
            <a:fld id="{AA309A6D-C09C-4548-B29A-6CF363A7E532}" type="datetimeFigureOut">
              <a:rPr lang="fr-FR" smtClean="0"/>
              <a:t>25/05/2014</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e la date 2"/>
          <p:cNvSpPr>
            <a:spLocks noGrp="1"/>
          </p:cNvSpPr>
          <p:nvPr>
            <p:ph type="dt" sz="half" idx="10"/>
          </p:nvPr>
        </p:nvSpPr>
        <p:spPr/>
        <p:txBody>
          <a:bodyPr/>
          <a:lstStyle/>
          <a:p>
            <a:fld id="{AA309A6D-C09C-4548-B29A-6CF363A7E532}" type="datetimeFigureOut">
              <a:rPr lang="fr-FR" smtClean="0"/>
              <a:t>25/05/2014</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t>25/05/2014</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BE"/>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25/05/2014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BE"/>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25/05/2014</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BE"/>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t>25/05/2014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BE"/>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t>25/05/2014</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BE"/>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BE"/>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9A6D-C09C-4548-B29A-6CF363A7E532}" type="datetimeFigureOut">
              <a:rPr lang="fr-FR" smtClean="0"/>
              <a:t>25/05/2014</a:t>
            </a:fld>
            <a:endParaRPr lang="fr-BE"/>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4668DC-857F-487D-BFFA-8C0CA5037977}" type="slidenum">
              <a:rPr lang="fr-BE" smtClean="0"/>
              <a:t>‹#›</a:t>
            </a:fld>
            <a:endParaRPr lang="fr-B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http://www.ibm.com/developerworks/rational/library/feb06/eele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ibm.com/developerworks/rational/library/4706.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www.pld.ttu.ee/~kruus/db_is02.pd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softwarereality.com/design/early_prototyping.jsp"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agilemodeling.com/essays/modelStorming.ht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agilemodeling.com/artifacts/classDiagram.htm" TargetMode="External"/><Relationship Id="rId2" Type="http://schemas.openxmlformats.org/officeDocument/2006/relationships/hyperlink" Target="http://www.agilemodeling.com/artifacts/sequenceDiagram.ht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extremeprogramming.org/rules/metaphor.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www.extremeprogramming.org/rules/spike.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agilemodeling.com/artifacts/crcModel.ht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infoq.com/news/2008/11/nonfunctional-requirement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en.wikipedia.org/wiki/System_context_diagra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agilemodeling.com/artifacts/essentialUI.ht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www.petercoad.com/download/bookpdfs/jmcuch06.pdf"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upstarthq.com/2010/04/introduction-to-minimum-marketable-features-mm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ibm.com/developerworks/rational/library/sep05/rose/index.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www.informit.com/articles/article.aspx?p=375542&amp;seqNum=3"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methodsandtools.com/archive/archive.php?id=20"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vietnamesetestingboard.org/zbxe/?document_srl=276643"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en.wikipedia.org/wiki/Test-driven_development"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blog.springsource.com/2007/01/15/unit-testing-with-stubs-and-mock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msdn.microsoft.com/en-us/library/cc168618.aspx"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050781" y="2668944"/>
            <a:ext cx="854275" cy="298715"/>
          </a:xfrm>
          <a:prstGeom prst="rect">
            <a:avLst/>
          </a:prstGeom>
          <a:solidFill>
            <a:srgbClr val="8099CC"/>
          </a:solidFill>
          <a:ln>
            <a:noFill/>
          </a:ln>
        </p:spPr>
        <p:txBody>
          <a:bodyPr wrap="square" lIns="82048" tIns="41025" rIns="82048" bIns="4102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Test-driven Development</a:t>
            </a:r>
          </a:p>
        </p:txBody>
      </p:sp>
      <p:sp>
        <p:nvSpPr>
          <p:cNvPr id="7" name="TextBox 6"/>
          <p:cNvSpPr txBox="1"/>
          <p:nvPr/>
        </p:nvSpPr>
        <p:spPr>
          <a:xfrm rot="16200000">
            <a:off x="3580976" y="4055982"/>
            <a:ext cx="380175" cy="998192"/>
          </a:xfrm>
          <a:prstGeom prst="rect">
            <a:avLst/>
          </a:prstGeom>
          <a:solidFill>
            <a:srgbClr val="8099CC"/>
          </a:solidFill>
          <a:ln>
            <a:noFill/>
          </a:ln>
        </p:spPr>
        <p:txBody>
          <a:bodyPr vert="vert" wrap="square" lIns="82048" tIns="41025" rIns="82048" bIns="4102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Acceptance Test Driven Development</a:t>
            </a:r>
          </a:p>
        </p:txBody>
      </p:sp>
      <p:sp>
        <p:nvSpPr>
          <p:cNvPr id="10" name="TextBox 9"/>
          <p:cNvSpPr txBox="1"/>
          <p:nvPr/>
        </p:nvSpPr>
        <p:spPr>
          <a:xfrm>
            <a:off x="3765255" y="3347177"/>
            <a:ext cx="833625" cy="261022"/>
          </a:xfrm>
          <a:prstGeom prst="rect">
            <a:avLst/>
          </a:prstGeom>
          <a:solidFill>
            <a:srgbClr val="8099CC"/>
          </a:solidFill>
          <a:ln>
            <a:noFill/>
          </a:ln>
        </p:spPr>
        <p:txBody>
          <a:bodyPr wrap="square" lIns="82048" tIns="41025" rIns="82048" bIns="4102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smtClean="0"/>
              <a:t>Iteration</a:t>
            </a:r>
            <a:endParaRPr lang="en-US" dirty="0"/>
          </a:p>
        </p:txBody>
      </p:sp>
      <p:sp>
        <p:nvSpPr>
          <p:cNvPr id="11" name="TextBox 10"/>
          <p:cNvSpPr txBox="1"/>
          <p:nvPr/>
        </p:nvSpPr>
        <p:spPr>
          <a:xfrm>
            <a:off x="5062400" y="2295018"/>
            <a:ext cx="796929" cy="298715"/>
          </a:xfrm>
          <a:prstGeom prst="rect">
            <a:avLst/>
          </a:prstGeom>
          <a:solidFill>
            <a:srgbClr val="8099CC"/>
          </a:solidFill>
          <a:ln>
            <a:noFill/>
          </a:ln>
        </p:spPr>
        <p:txBody>
          <a:bodyPr wrap="square" lIns="82048" tIns="41025" rIns="82048" bIns="4102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Model Storming</a:t>
            </a:r>
          </a:p>
        </p:txBody>
      </p:sp>
      <p:sp>
        <p:nvSpPr>
          <p:cNvPr id="12" name="TextBox 11"/>
          <p:cNvSpPr txBox="1"/>
          <p:nvPr/>
        </p:nvSpPr>
        <p:spPr>
          <a:xfrm>
            <a:off x="5481272" y="3220018"/>
            <a:ext cx="796929" cy="298715"/>
          </a:xfrm>
          <a:prstGeom prst="rect">
            <a:avLst/>
          </a:prstGeom>
          <a:solidFill>
            <a:srgbClr val="8099CC"/>
          </a:solidFill>
          <a:ln>
            <a:noFill/>
          </a:ln>
        </p:spPr>
        <p:txBody>
          <a:bodyPr wrap="square" lIns="82048" tIns="41025" rIns="82048" bIns="4102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Model Envisioning</a:t>
            </a:r>
          </a:p>
        </p:txBody>
      </p:sp>
      <p:sp>
        <p:nvSpPr>
          <p:cNvPr id="13" name="TextBox 12"/>
          <p:cNvSpPr txBox="1"/>
          <p:nvPr/>
        </p:nvSpPr>
        <p:spPr>
          <a:xfrm>
            <a:off x="6825991" y="2818302"/>
            <a:ext cx="796927" cy="190088"/>
          </a:xfrm>
          <a:prstGeom prst="rect">
            <a:avLst/>
          </a:prstGeom>
          <a:solidFill>
            <a:srgbClr val="8099CC"/>
          </a:solidFill>
          <a:ln>
            <a:noFill/>
          </a:ln>
        </p:spPr>
        <p:txBody>
          <a:bodyPr wrap="square" lIns="82048" tIns="41025" rIns="82048" bIns="4102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Backlog</a:t>
            </a:r>
          </a:p>
        </p:txBody>
      </p:sp>
      <p:sp>
        <p:nvSpPr>
          <p:cNvPr id="16" name="TextBox 15"/>
          <p:cNvSpPr txBox="1"/>
          <p:nvPr/>
        </p:nvSpPr>
        <p:spPr>
          <a:xfrm rot="16200000">
            <a:off x="5720830" y="3880660"/>
            <a:ext cx="292941" cy="709961"/>
          </a:xfrm>
          <a:prstGeom prst="rect">
            <a:avLst/>
          </a:prstGeom>
          <a:solidFill>
            <a:srgbClr val="8099CC"/>
          </a:solidFill>
          <a:ln>
            <a:noFill/>
          </a:ln>
        </p:spPr>
        <p:txBody>
          <a:bodyPr vert="vert" wrap="square" lIns="82048" tIns="41025" rIns="82048" bIns="4102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Emergent Design</a:t>
            </a:r>
          </a:p>
        </p:txBody>
      </p:sp>
      <p:cxnSp>
        <p:nvCxnSpPr>
          <p:cNvPr id="20" name="Curved Connector 19"/>
          <p:cNvCxnSpPr>
            <a:stCxn id="6" idx="0"/>
            <a:endCxn id="11" idx="1"/>
          </p:cNvCxnSpPr>
          <p:nvPr/>
        </p:nvCxnSpPr>
        <p:spPr bwMode="auto">
          <a:xfrm rot="5400000" flipH="1" flipV="1">
            <a:off x="4157876" y="1764419"/>
            <a:ext cx="224569" cy="1584482"/>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1" name="Curved Connector 20"/>
          <p:cNvCxnSpPr>
            <a:stCxn id="11" idx="3"/>
            <a:endCxn id="13" idx="0"/>
          </p:cNvCxnSpPr>
          <p:nvPr/>
        </p:nvCxnSpPr>
        <p:spPr bwMode="auto">
          <a:xfrm>
            <a:off x="5859329" y="2444376"/>
            <a:ext cx="1365125" cy="373926"/>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2" name="Curved Connector 21"/>
          <p:cNvCxnSpPr>
            <a:stCxn id="11" idx="1"/>
            <a:endCxn id="16" idx="0"/>
          </p:cNvCxnSpPr>
          <p:nvPr/>
        </p:nvCxnSpPr>
        <p:spPr bwMode="auto">
          <a:xfrm rot="10800000" flipH="1" flipV="1">
            <a:off x="5062400" y="2444375"/>
            <a:ext cx="449921" cy="1791265"/>
          </a:xfrm>
          <a:prstGeom prst="curvedConnector3">
            <a:avLst>
              <a:gd name="adj1" fmla="val -46190"/>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3" name="Straight Arrow Connector 22"/>
          <p:cNvCxnSpPr>
            <a:stCxn id="12" idx="2"/>
            <a:endCxn id="16" idx="3"/>
          </p:cNvCxnSpPr>
          <p:nvPr/>
        </p:nvCxnSpPr>
        <p:spPr bwMode="auto">
          <a:xfrm flipH="1">
            <a:off x="5867302" y="3518733"/>
            <a:ext cx="12435" cy="570436"/>
          </a:xfrm>
          <a:prstGeom prst="straightConnector1">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4" name="Curved Connector 23"/>
          <p:cNvCxnSpPr>
            <a:stCxn id="12" idx="0"/>
            <a:endCxn id="13" idx="1"/>
          </p:cNvCxnSpPr>
          <p:nvPr/>
        </p:nvCxnSpPr>
        <p:spPr bwMode="auto">
          <a:xfrm rot="5400000" flipH="1" flipV="1">
            <a:off x="6199528" y="2593555"/>
            <a:ext cx="306672" cy="946255"/>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5" name="Curved Connector 24"/>
          <p:cNvCxnSpPr>
            <a:stCxn id="6" idx="1"/>
            <a:endCxn id="7" idx="0"/>
          </p:cNvCxnSpPr>
          <p:nvPr/>
        </p:nvCxnSpPr>
        <p:spPr bwMode="auto">
          <a:xfrm rot="10800000" flipH="1" flipV="1">
            <a:off x="3050781" y="2818301"/>
            <a:ext cx="221186" cy="1736776"/>
          </a:xfrm>
          <a:prstGeom prst="curvedConnector3">
            <a:avLst>
              <a:gd name="adj1" fmla="val -93956"/>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27" name="Curved Connector 26"/>
          <p:cNvCxnSpPr>
            <a:stCxn id="7" idx="1"/>
            <a:endCxn id="29" idx="0"/>
          </p:cNvCxnSpPr>
          <p:nvPr/>
        </p:nvCxnSpPr>
        <p:spPr bwMode="auto">
          <a:xfrm rot="16200000" flipH="1">
            <a:off x="3866213" y="4650015"/>
            <a:ext cx="924854" cy="1115154"/>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grpSp>
        <p:nvGrpSpPr>
          <p:cNvPr id="53" name="Group 52"/>
          <p:cNvGrpSpPr/>
          <p:nvPr/>
        </p:nvGrpSpPr>
        <p:grpSpPr>
          <a:xfrm>
            <a:off x="4886217" y="4818217"/>
            <a:ext cx="2468407" cy="1703607"/>
            <a:chOff x="4048125" y="5323192"/>
            <a:chExt cx="2715248" cy="1930755"/>
          </a:xfrm>
        </p:grpSpPr>
        <p:sp>
          <p:nvSpPr>
            <p:cNvPr id="5" name="Rectangle 4"/>
            <p:cNvSpPr/>
            <p:nvPr/>
          </p:nvSpPr>
          <p:spPr>
            <a:xfrm>
              <a:off x="4300824" y="5323192"/>
              <a:ext cx="2196484" cy="1695105"/>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600" dirty="0">
                  <a:solidFill>
                    <a:schemeClr val="bg1"/>
                  </a:solidFill>
                </a:rPr>
                <a:t>Multiple Models</a:t>
              </a:r>
              <a:endParaRPr lang="en-US" sz="600" dirty="0">
                <a:solidFill>
                  <a:schemeClr val="bg1"/>
                </a:solidFill>
              </a:endParaRPr>
            </a:p>
            <a:p>
              <a:pPr algn="ctr">
                <a:defRPr/>
              </a:pPr>
              <a:endParaRPr lang="en-US" sz="600" dirty="0">
                <a:solidFill>
                  <a:schemeClr val="bg1"/>
                </a:solidFill>
              </a:endParaRPr>
            </a:p>
            <a:p>
              <a:pPr algn="ctr">
                <a:defRPr/>
              </a:pPr>
              <a:endParaRPr lang="en-US" sz="600" dirty="0">
                <a:solidFill>
                  <a:schemeClr val="bg1"/>
                </a:solidFill>
              </a:endParaRPr>
            </a:p>
            <a:p>
              <a:pPr algn="ctr">
                <a:defRPr/>
              </a:pPr>
              <a:endParaRPr lang="en-US" sz="600" dirty="0">
                <a:solidFill>
                  <a:schemeClr val="bg1"/>
                </a:solidFill>
              </a:endParaRPr>
            </a:p>
            <a:p>
              <a:pPr algn="ctr">
                <a:defRPr/>
              </a:pPr>
              <a:endParaRPr lang="en-US" sz="600" dirty="0">
                <a:solidFill>
                  <a:schemeClr val="bg1"/>
                </a:solidFill>
              </a:endParaRPr>
            </a:p>
          </p:txBody>
        </p:sp>
        <p:sp>
          <p:nvSpPr>
            <p:cNvPr id="14" name="TextBox 13"/>
            <p:cNvSpPr txBox="1"/>
            <p:nvPr/>
          </p:nvSpPr>
          <p:spPr>
            <a:xfrm>
              <a:off x="4376925" y="5606634"/>
              <a:ext cx="966184" cy="380742"/>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Class Responsibility Collaborator</a:t>
              </a:r>
            </a:p>
          </p:txBody>
        </p:sp>
        <p:sp>
          <p:nvSpPr>
            <p:cNvPr id="15" name="TextBox 14"/>
            <p:cNvSpPr txBox="1"/>
            <p:nvPr/>
          </p:nvSpPr>
          <p:spPr>
            <a:xfrm>
              <a:off x="5439917" y="5606634"/>
              <a:ext cx="979519" cy="380742"/>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Domain Driven Design Model</a:t>
              </a:r>
            </a:p>
          </p:txBody>
        </p:sp>
        <p:sp>
          <p:nvSpPr>
            <p:cNvPr id="17" name="TextBox 16"/>
            <p:cNvSpPr txBox="1"/>
            <p:nvPr/>
          </p:nvSpPr>
          <p:spPr>
            <a:xfrm>
              <a:off x="4416202" y="6089275"/>
              <a:ext cx="926907" cy="46165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Agile Class &amp; Sequence Diagrams</a:t>
              </a:r>
            </a:p>
          </p:txBody>
        </p:sp>
        <p:sp>
          <p:nvSpPr>
            <p:cNvPr id="18" name="TextBox 17"/>
            <p:cNvSpPr txBox="1"/>
            <p:nvPr/>
          </p:nvSpPr>
          <p:spPr>
            <a:xfrm>
              <a:off x="5439916" y="6081206"/>
              <a:ext cx="979519" cy="46972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Other Models</a:t>
              </a:r>
            </a:p>
          </p:txBody>
        </p:sp>
        <p:sp>
          <p:nvSpPr>
            <p:cNvPr id="26" name="TextBox 25"/>
            <p:cNvSpPr txBox="1"/>
            <p:nvPr/>
          </p:nvSpPr>
          <p:spPr>
            <a:xfrm>
              <a:off x="4957514" y="6614416"/>
              <a:ext cx="93970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Wiki Project Repository</a:t>
              </a:r>
            </a:p>
          </p:txBody>
        </p:sp>
        <p:sp>
          <p:nvSpPr>
            <p:cNvPr id="28" name="Rectangle 27"/>
            <p:cNvSpPr/>
            <p:nvPr/>
          </p:nvSpPr>
          <p:spPr>
            <a:xfrm>
              <a:off x="4048125" y="6977668"/>
              <a:ext cx="2715248" cy="276277"/>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600" dirty="0">
                  <a:solidFill>
                    <a:schemeClr val="bg1"/>
                  </a:solidFill>
                </a:rPr>
                <a:t>Single Source of Information</a:t>
              </a:r>
              <a:endParaRPr lang="en-US" sz="600" dirty="0">
                <a:solidFill>
                  <a:schemeClr val="bg1"/>
                </a:solidFill>
              </a:endParaRPr>
            </a:p>
            <a:p>
              <a:pPr algn="ctr">
                <a:defRPr/>
              </a:pPr>
              <a:endParaRPr lang="en-US" sz="600" dirty="0">
                <a:solidFill>
                  <a:schemeClr val="bg1"/>
                </a:solidFill>
              </a:endParaRPr>
            </a:p>
            <a:p>
              <a:pPr algn="ctr">
                <a:defRPr/>
              </a:pPr>
              <a:endParaRPr lang="en-US" sz="600" dirty="0">
                <a:solidFill>
                  <a:schemeClr val="bg1"/>
                </a:solidFill>
              </a:endParaRPr>
            </a:p>
            <a:p>
              <a:pPr algn="ctr">
                <a:defRPr/>
              </a:pPr>
              <a:endParaRPr lang="en-US" sz="600" dirty="0">
                <a:solidFill>
                  <a:schemeClr val="bg1"/>
                </a:solidFill>
              </a:endParaRPr>
            </a:p>
            <a:p>
              <a:pPr algn="ctr">
                <a:defRPr/>
              </a:pPr>
              <a:endParaRPr lang="en-US" sz="600" dirty="0">
                <a:solidFill>
                  <a:schemeClr val="bg1"/>
                </a:solidFill>
              </a:endParaRPr>
            </a:p>
          </p:txBody>
        </p:sp>
        <p:sp>
          <p:nvSpPr>
            <p:cNvPr id="29" name="Rectangle 28"/>
            <p:cNvSpPr/>
            <p:nvPr/>
          </p:nvSpPr>
          <p:spPr>
            <a:xfrm rot="16200000">
              <a:off x="3225933" y="6145384"/>
              <a:ext cx="1930755" cy="2863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600" dirty="0">
                  <a:solidFill>
                    <a:schemeClr val="bg1"/>
                  </a:solidFill>
                </a:rPr>
                <a:t>Document Late</a:t>
              </a:r>
              <a:endParaRPr lang="en-US" sz="600" dirty="0">
                <a:solidFill>
                  <a:schemeClr val="bg1"/>
                </a:solidFill>
              </a:endParaRPr>
            </a:p>
            <a:p>
              <a:pPr algn="ctr">
                <a:defRPr/>
              </a:pPr>
              <a:endParaRPr lang="en-US" sz="600" dirty="0">
                <a:solidFill>
                  <a:schemeClr val="bg1"/>
                </a:solidFill>
              </a:endParaRPr>
            </a:p>
          </p:txBody>
        </p:sp>
        <p:sp>
          <p:nvSpPr>
            <p:cNvPr id="30" name="Rectangle 29"/>
            <p:cNvSpPr/>
            <p:nvPr/>
          </p:nvSpPr>
          <p:spPr>
            <a:xfrm rot="16200000">
              <a:off x="5654809" y="6145384"/>
              <a:ext cx="1930755" cy="286371"/>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600" dirty="0">
                  <a:solidFill>
                    <a:schemeClr val="bg1"/>
                  </a:solidFill>
                </a:rPr>
                <a:t>Multiple Models in Parallel</a:t>
              </a:r>
              <a:endParaRPr lang="en-US" sz="600" dirty="0">
                <a:solidFill>
                  <a:schemeClr val="bg1"/>
                </a:solidFill>
              </a:endParaRPr>
            </a:p>
            <a:p>
              <a:pPr algn="ctr">
                <a:defRPr/>
              </a:pPr>
              <a:endParaRPr lang="en-US" sz="600" dirty="0">
                <a:solidFill>
                  <a:schemeClr val="bg1"/>
                </a:solidFill>
              </a:endParaRPr>
            </a:p>
          </p:txBody>
        </p:sp>
      </p:grpSp>
      <p:grpSp>
        <p:nvGrpSpPr>
          <p:cNvPr id="59" name="Group 58"/>
          <p:cNvGrpSpPr/>
          <p:nvPr/>
        </p:nvGrpSpPr>
        <p:grpSpPr>
          <a:xfrm>
            <a:off x="7856285" y="3560842"/>
            <a:ext cx="1010624" cy="2005214"/>
            <a:chOff x="7958546" y="3898168"/>
            <a:chExt cx="1111686" cy="2272576"/>
          </a:xfrm>
        </p:grpSpPr>
        <p:sp>
          <p:nvSpPr>
            <p:cNvPr id="3" name="Rectangle 2"/>
            <p:cNvSpPr/>
            <p:nvPr/>
          </p:nvSpPr>
          <p:spPr>
            <a:xfrm>
              <a:off x="7958547" y="5943601"/>
              <a:ext cx="1111685" cy="227143"/>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600" dirty="0">
                  <a:solidFill>
                    <a:schemeClr val="bg1"/>
                  </a:solidFill>
                </a:rPr>
                <a:t>Document continuously</a:t>
              </a:r>
              <a:endParaRPr lang="en-US" sz="600" dirty="0">
                <a:solidFill>
                  <a:schemeClr val="bg1"/>
                </a:solidFill>
              </a:endParaRPr>
            </a:p>
            <a:p>
              <a:pPr algn="ctr">
                <a:defRPr/>
              </a:pPr>
              <a:endParaRPr lang="en-US" sz="600" dirty="0">
                <a:solidFill>
                  <a:schemeClr val="bg1"/>
                </a:solidFill>
              </a:endParaRPr>
            </a:p>
          </p:txBody>
        </p:sp>
        <p:sp>
          <p:nvSpPr>
            <p:cNvPr id="4" name="Rectangle 3"/>
            <p:cNvSpPr/>
            <p:nvPr/>
          </p:nvSpPr>
          <p:spPr>
            <a:xfrm>
              <a:off x="7958546" y="3898168"/>
              <a:ext cx="1111685" cy="2045433"/>
            </a:xfrm>
            <a:prstGeom prst="rect">
              <a:avLst/>
            </a:prstGeom>
            <a:solidFill>
              <a:srgbClr val="002776"/>
            </a:solidFill>
            <a:ln>
              <a:no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lstStyle/>
            <a:p>
              <a:pPr algn="ctr">
                <a:defRPr/>
              </a:pPr>
              <a:r>
                <a:rPr lang="en-US" sz="600" dirty="0">
                  <a:solidFill>
                    <a:schemeClr val="bg1"/>
                  </a:solidFill>
                </a:rPr>
                <a:t>Model a Bit Ahead</a:t>
              </a:r>
              <a:endParaRPr lang="en-US" sz="600" dirty="0">
                <a:solidFill>
                  <a:schemeClr val="bg1"/>
                </a:solidFill>
              </a:endParaRPr>
            </a:p>
            <a:p>
              <a:pPr algn="ctr">
                <a:defRPr/>
              </a:pPr>
              <a:endParaRPr lang="en-US" sz="600" dirty="0">
                <a:solidFill>
                  <a:schemeClr val="bg1"/>
                </a:solidFill>
              </a:endParaRPr>
            </a:p>
          </p:txBody>
        </p:sp>
        <p:sp>
          <p:nvSpPr>
            <p:cNvPr id="8" name="TextBox 7"/>
            <p:cNvSpPr txBox="1"/>
            <p:nvPr/>
          </p:nvSpPr>
          <p:spPr>
            <a:xfrm>
              <a:off x="8077199" y="4606619"/>
              <a:ext cx="866721"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Architecture Key Mechanism </a:t>
              </a:r>
            </a:p>
          </p:txBody>
        </p:sp>
        <p:sp>
          <p:nvSpPr>
            <p:cNvPr id="9" name="TextBox 8"/>
            <p:cNvSpPr txBox="1"/>
            <p:nvPr/>
          </p:nvSpPr>
          <p:spPr>
            <a:xfrm>
              <a:off x="8086725" y="5012600"/>
              <a:ext cx="857196" cy="310592"/>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4 + 1 views</a:t>
              </a:r>
            </a:p>
          </p:txBody>
        </p:sp>
        <p:sp>
          <p:nvSpPr>
            <p:cNvPr id="19" name="TextBox 18"/>
            <p:cNvSpPr txBox="1"/>
            <p:nvPr/>
          </p:nvSpPr>
          <p:spPr>
            <a:xfrm>
              <a:off x="8077200" y="4209818"/>
              <a:ext cx="876622" cy="338544"/>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System Context</a:t>
              </a:r>
            </a:p>
          </p:txBody>
        </p:sp>
        <p:sp>
          <p:nvSpPr>
            <p:cNvPr id="31" name="TextBox 30"/>
            <p:cNvSpPr txBox="1"/>
            <p:nvPr/>
          </p:nvSpPr>
          <p:spPr>
            <a:xfrm>
              <a:off x="8086725" y="5390301"/>
              <a:ext cx="857196" cy="461655"/>
            </a:xfrm>
            <a:prstGeom prst="rect">
              <a:avLst/>
            </a:prstGeom>
            <a:solidFill>
              <a:srgbClr val="8099CC"/>
            </a:solidFill>
            <a:ln>
              <a:noFill/>
            </a:ln>
          </p:spPr>
          <p:txBody>
            <a:bodyPr wrap="square" lIns="91429" tIns="45715" rIns="91429" bIns="45715" anchor="ctr" anchorCtr="0">
              <a:noAutofit/>
            </a:bodyPr>
            <a:lstStyle>
              <a:defPPr>
                <a:defRPr lang="en-US"/>
              </a:defPPr>
              <a:lvl1pPr algn="ctr" defTabSz="1018824">
                <a:defRPr sz="800">
                  <a:solidFill>
                    <a:srgbClr val="000000"/>
                  </a:solidFill>
                  <a:latin typeface="Arial" pitchFamily="34" charset="0"/>
                  <a:cs typeface="Arial" pitchFamily="34" charset="0"/>
                </a:defRPr>
              </a:lvl1pPr>
            </a:lstStyle>
            <a:p>
              <a:r>
                <a:rPr lang="en-US" dirty="0"/>
                <a:t>Software Architecture Description</a:t>
              </a:r>
            </a:p>
          </p:txBody>
        </p:sp>
      </p:grpSp>
      <p:cxnSp>
        <p:nvCxnSpPr>
          <p:cNvPr id="32" name="Straight Connector 31"/>
          <p:cNvCxnSpPr>
            <a:stCxn id="16" idx="1"/>
            <a:endCxn id="5" idx="0"/>
          </p:cNvCxnSpPr>
          <p:nvPr/>
        </p:nvCxnSpPr>
        <p:spPr bwMode="auto">
          <a:xfrm>
            <a:off x="5867302" y="4382111"/>
            <a:ext cx="247044" cy="436106"/>
          </a:xfrm>
          <a:prstGeom prst="line">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3" name="Curved Connector 32"/>
          <p:cNvCxnSpPr>
            <a:stCxn id="13" idx="3"/>
            <a:endCxn id="4" idx="0"/>
          </p:cNvCxnSpPr>
          <p:nvPr/>
        </p:nvCxnSpPr>
        <p:spPr bwMode="auto">
          <a:xfrm>
            <a:off x="7622919" y="2913346"/>
            <a:ext cx="738679" cy="647496"/>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4" name="Straight Connector 33"/>
          <p:cNvCxnSpPr>
            <a:stCxn id="4" idx="1"/>
            <a:endCxn id="16" idx="2"/>
          </p:cNvCxnSpPr>
          <p:nvPr/>
        </p:nvCxnSpPr>
        <p:spPr bwMode="auto">
          <a:xfrm flipH="1" flipV="1">
            <a:off x="6222282" y="4235640"/>
            <a:ext cx="1634004" cy="227599"/>
          </a:xfrm>
          <a:prstGeom prst="line">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5" name="Curved Connector 34"/>
          <p:cNvCxnSpPr>
            <a:stCxn id="6" idx="3"/>
            <a:endCxn id="10" idx="0"/>
          </p:cNvCxnSpPr>
          <p:nvPr/>
        </p:nvCxnSpPr>
        <p:spPr bwMode="auto">
          <a:xfrm>
            <a:off x="3905056" y="2818302"/>
            <a:ext cx="277012" cy="528875"/>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cxnSp>
        <p:nvCxnSpPr>
          <p:cNvPr id="36" name="Curved Connector 35"/>
          <p:cNvCxnSpPr>
            <a:stCxn id="10" idx="2"/>
            <a:endCxn id="16" idx="0"/>
          </p:cNvCxnSpPr>
          <p:nvPr/>
        </p:nvCxnSpPr>
        <p:spPr bwMode="auto">
          <a:xfrm rot="16200000" flipH="1">
            <a:off x="4533473" y="3256792"/>
            <a:ext cx="627441" cy="1330254"/>
          </a:xfrm>
          <a:prstGeom prst="curvedConnector2">
            <a:avLst/>
          </a:prstGeom>
          <a:solidFill>
            <a:schemeClr val="accent1"/>
          </a:solidFill>
          <a:ln w="34925" cap="flat" cmpd="sng" algn="ctr">
            <a:solidFill>
              <a:schemeClr val="accent1">
                <a:lumMod val="75000"/>
              </a:schemeClr>
            </a:solidFill>
            <a:prstDash val="solid"/>
            <a:round/>
            <a:headEnd type="none" w="med" len="med"/>
            <a:tailEnd type="none"/>
          </a:ln>
          <a:effectLst/>
          <a:extLst>
            <a:ext uri="{AF507438-7753-43E0-B8FC-AC1667EBCBE1}">
              <a14:hiddenEffects xmlns:a14="http://schemas.microsoft.com/office/drawing/2010/main">
                <a:effectLst>
                  <a:outerShdw dist="89803" dir="2700000" algn="ctr" rotWithShape="0">
                    <a:schemeClr val="bg2"/>
                  </a:outerShdw>
                </a:effectLst>
              </a14:hiddenEffects>
            </a:ext>
          </a:extLst>
        </p:spPr>
      </p:cxnSp>
      <p:sp>
        <p:nvSpPr>
          <p:cNvPr id="76" name="Rectangle 2"/>
          <p:cNvSpPr txBox="1">
            <a:spLocks noChangeArrowheads="1"/>
          </p:cNvSpPr>
          <p:nvPr/>
        </p:nvSpPr>
        <p:spPr bwMode="gray">
          <a:xfrm>
            <a:off x="396875" y="152376"/>
            <a:ext cx="8291513" cy="58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defTabSz="914186" eaLnBrk="1" fontAlgn="base" hangingPunct="1">
              <a:lnSpc>
                <a:spcPct val="106000"/>
              </a:lnSpc>
              <a:spcBef>
                <a:spcPct val="0"/>
              </a:spcBef>
              <a:spcAft>
                <a:spcPct val="0"/>
              </a:spcAft>
            </a:pPr>
            <a:r>
              <a:rPr lang="en-US" altLang="zh-CN" b="1" dirty="0" smtClean="0">
                <a:solidFill>
                  <a:prstClr val="black"/>
                </a:solidFill>
              </a:rPr>
              <a:t>The Agile Modeling Method provides a framework to enable best in class system modeling using an iterative, evolutionary, and emergent approach</a:t>
            </a:r>
            <a:endParaRPr lang="en-US" altLang="zh-CN" b="1" dirty="0">
              <a:solidFill>
                <a:prstClr val="black"/>
              </a:solidFill>
            </a:endParaRPr>
          </a:p>
        </p:txBody>
      </p:sp>
      <p:sp>
        <p:nvSpPr>
          <p:cNvPr id="43" name="Rectangle 42"/>
          <p:cNvSpPr/>
          <p:nvPr/>
        </p:nvSpPr>
        <p:spPr>
          <a:xfrm>
            <a:off x="306772" y="806824"/>
            <a:ext cx="8560139" cy="1375513"/>
          </a:xfrm>
          <a:prstGeom prst="rect">
            <a:avLst/>
          </a:prstGeom>
        </p:spPr>
        <p:txBody>
          <a:bodyPr wrap="square" lIns="82048" tIns="41025" rIns="82048" bIns="41025">
            <a:spAutoFit/>
          </a:bodyPr>
          <a:lstStyle/>
          <a:p>
            <a:pPr marL="205122" indent="-205122">
              <a:buFontTx/>
              <a:buAutoNum type="arabicPeriod"/>
            </a:pPr>
            <a:r>
              <a:rPr lang="en-US" sz="1400" b="1" dirty="0">
                <a:solidFill>
                  <a:srgbClr val="000000"/>
                </a:solidFill>
                <a:latin typeface="Arial"/>
              </a:rPr>
              <a:t>Initial model envisioning </a:t>
            </a:r>
            <a:r>
              <a:rPr lang="en-US" sz="1400" dirty="0">
                <a:solidFill>
                  <a:srgbClr val="000000"/>
                </a:solidFill>
                <a:latin typeface="Arial"/>
              </a:rPr>
              <a:t>is conducted for the overall set of requirements in the </a:t>
            </a:r>
            <a:r>
              <a:rPr lang="en-US" sz="1400" b="1" dirty="0">
                <a:solidFill>
                  <a:srgbClr val="000000"/>
                </a:solidFill>
                <a:latin typeface="Arial"/>
              </a:rPr>
              <a:t>backlog</a:t>
            </a:r>
            <a:r>
              <a:rPr lang="en-US" sz="1400" dirty="0">
                <a:solidFill>
                  <a:srgbClr val="000000"/>
                </a:solidFill>
                <a:latin typeface="Arial"/>
              </a:rPr>
              <a:t> by defining a high-level </a:t>
            </a:r>
            <a:r>
              <a:rPr lang="en-US" sz="1400" b="1" dirty="0">
                <a:solidFill>
                  <a:srgbClr val="000000"/>
                </a:solidFill>
                <a:latin typeface="Arial"/>
              </a:rPr>
              <a:t>system context </a:t>
            </a:r>
            <a:r>
              <a:rPr lang="en-US" sz="1400" dirty="0">
                <a:solidFill>
                  <a:srgbClr val="000000"/>
                </a:solidFill>
                <a:latin typeface="Arial"/>
              </a:rPr>
              <a:t>with other </a:t>
            </a:r>
            <a:r>
              <a:rPr lang="en-US" sz="1400" b="1" dirty="0">
                <a:solidFill>
                  <a:srgbClr val="000000"/>
                </a:solidFill>
                <a:latin typeface="Arial"/>
              </a:rPr>
              <a:t>light-weight architecture design artifacts</a:t>
            </a:r>
          </a:p>
          <a:p>
            <a:pPr marL="205122" indent="-205122">
              <a:buFontTx/>
              <a:buAutoNum type="arabicPeriod"/>
            </a:pPr>
            <a:r>
              <a:rPr lang="en-US" sz="1400" b="1" dirty="0">
                <a:solidFill>
                  <a:srgbClr val="000000"/>
                </a:solidFill>
                <a:latin typeface="Arial"/>
              </a:rPr>
              <a:t>Iteration modeling </a:t>
            </a:r>
            <a:r>
              <a:rPr lang="en-US" sz="1400" dirty="0">
                <a:solidFill>
                  <a:srgbClr val="000000"/>
                </a:solidFill>
                <a:latin typeface="Arial"/>
              </a:rPr>
              <a:t>is conducted during each </a:t>
            </a:r>
            <a:r>
              <a:rPr lang="en-US" sz="1400" b="1" dirty="0">
                <a:solidFill>
                  <a:srgbClr val="000000"/>
                </a:solidFill>
                <a:latin typeface="Arial"/>
              </a:rPr>
              <a:t>iteration</a:t>
            </a:r>
            <a:r>
              <a:rPr lang="en-US" sz="1400" dirty="0">
                <a:solidFill>
                  <a:srgbClr val="000000"/>
                </a:solidFill>
                <a:latin typeface="Arial"/>
              </a:rPr>
              <a:t> to model </a:t>
            </a:r>
            <a:r>
              <a:rPr lang="en-US" sz="1400" b="1" dirty="0">
                <a:solidFill>
                  <a:srgbClr val="000000"/>
                </a:solidFill>
                <a:latin typeface="Arial"/>
              </a:rPr>
              <a:t>just good enough </a:t>
            </a:r>
            <a:r>
              <a:rPr lang="en-US" sz="1400" dirty="0">
                <a:solidFill>
                  <a:srgbClr val="000000"/>
                </a:solidFill>
                <a:latin typeface="Arial"/>
              </a:rPr>
              <a:t>to give good estimates</a:t>
            </a:r>
            <a:r>
              <a:rPr lang="en-US" sz="1400" dirty="0">
                <a:solidFill>
                  <a:srgbClr val="000000"/>
                </a:solidFill>
                <a:latin typeface="Arial"/>
              </a:rPr>
              <a:t> </a:t>
            </a:r>
            <a:r>
              <a:rPr lang="en-US" sz="1400" dirty="0">
                <a:solidFill>
                  <a:srgbClr val="000000"/>
                </a:solidFill>
                <a:latin typeface="Arial"/>
              </a:rPr>
              <a:t>and inform iteration planning</a:t>
            </a:r>
          </a:p>
          <a:p>
            <a:pPr marL="205122" indent="-205122">
              <a:buFontTx/>
              <a:buAutoNum type="arabicPeriod"/>
            </a:pPr>
            <a:r>
              <a:rPr lang="en-US" sz="1400" dirty="0">
                <a:solidFill>
                  <a:srgbClr val="000000"/>
                </a:solidFill>
              </a:rPr>
              <a:t>Additional design through </a:t>
            </a:r>
            <a:r>
              <a:rPr lang="en-US" sz="1400" b="1" dirty="0">
                <a:solidFill>
                  <a:srgbClr val="000000"/>
                </a:solidFill>
              </a:rPr>
              <a:t>model storming </a:t>
            </a:r>
            <a:r>
              <a:rPr lang="en-US" sz="1400" dirty="0">
                <a:solidFill>
                  <a:srgbClr val="000000"/>
                </a:solidFill>
              </a:rPr>
              <a:t>occurs just-in-time and the </a:t>
            </a:r>
            <a:r>
              <a:rPr lang="en-US" sz="1400" dirty="0">
                <a:solidFill>
                  <a:srgbClr val="000000"/>
                </a:solidFill>
              </a:rPr>
              <a:t>architecture model is captured through multiple models such </a:t>
            </a:r>
            <a:r>
              <a:rPr lang="en-US" sz="1400" b="1" dirty="0">
                <a:solidFill>
                  <a:srgbClr val="000000"/>
                </a:solidFill>
              </a:rPr>
              <a:t>as Agile Class and Sequence Diagrams</a:t>
            </a:r>
            <a:r>
              <a:rPr lang="en-US" sz="1400" dirty="0">
                <a:solidFill>
                  <a:srgbClr val="000000"/>
                </a:solidFill>
              </a:rPr>
              <a:t> and </a:t>
            </a:r>
            <a:r>
              <a:rPr lang="en-US" sz="1400" b="1" dirty="0">
                <a:solidFill>
                  <a:srgbClr val="000000"/>
                </a:solidFill>
              </a:rPr>
              <a:t>Domain Driven Design</a:t>
            </a:r>
            <a:endParaRPr lang="en-US" sz="1400" b="1" dirty="0">
              <a:solidFill>
                <a:srgbClr val="000000"/>
              </a:solidFill>
            </a:endParaRPr>
          </a:p>
        </p:txBody>
      </p:sp>
      <p:sp>
        <p:nvSpPr>
          <p:cNvPr id="45" name="Rectangle 44"/>
          <p:cNvSpPr/>
          <p:nvPr/>
        </p:nvSpPr>
        <p:spPr>
          <a:xfrm>
            <a:off x="306770" y="2328084"/>
            <a:ext cx="2464140" cy="3992034"/>
          </a:xfrm>
          <a:prstGeom prst="rect">
            <a:avLst/>
          </a:prstGeom>
        </p:spPr>
        <p:txBody>
          <a:bodyPr wrap="square" lIns="82048" tIns="41025" rIns="82048" bIns="41025">
            <a:spAutoFit/>
          </a:bodyPr>
          <a:lstStyle/>
          <a:p>
            <a:pPr marL="205146" indent="-205146">
              <a:buFont typeface="+mj-lt"/>
              <a:buAutoNum type="arabicPeriod" startAt="4"/>
            </a:pPr>
            <a:r>
              <a:rPr lang="en-US" sz="1400" dirty="0">
                <a:solidFill>
                  <a:srgbClr val="000000"/>
                </a:solidFill>
                <a:latin typeface="Arial"/>
              </a:rPr>
              <a:t>Technical practices such as </a:t>
            </a:r>
            <a:r>
              <a:rPr lang="en-US" sz="1400" b="1" dirty="0">
                <a:solidFill>
                  <a:srgbClr val="000000"/>
                </a:solidFill>
                <a:latin typeface="Arial"/>
              </a:rPr>
              <a:t>test-driven development </a:t>
            </a:r>
            <a:r>
              <a:rPr lang="en-US" sz="1400" dirty="0">
                <a:solidFill>
                  <a:srgbClr val="000000"/>
                </a:solidFill>
                <a:latin typeface="Arial"/>
              </a:rPr>
              <a:t>and </a:t>
            </a:r>
            <a:r>
              <a:rPr lang="en-US" sz="1400" b="1" dirty="0">
                <a:solidFill>
                  <a:srgbClr val="000000"/>
                </a:solidFill>
                <a:latin typeface="Arial"/>
              </a:rPr>
              <a:t>acceptance-test driven development </a:t>
            </a:r>
            <a:r>
              <a:rPr lang="en-US" sz="1400" dirty="0">
                <a:solidFill>
                  <a:srgbClr val="000000"/>
                </a:solidFill>
                <a:latin typeface="Arial"/>
              </a:rPr>
              <a:t>is applied during coding, models are </a:t>
            </a:r>
            <a:r>
              <a:rPr lang="en-US" sz="1400" b="1" dirty="0">
                <a:solidFill>
                  <a:srgbClr val="000000"/>
                </a:solidFill>
                <a:latin typeface="Arial"/>
              </a:rPr>
              <a:t>proved with code </a:t>
            </a:r>
            <a:r>
              <a:rPr lang="en-US" sz="1400" dirty="0">
                <a:solidFill>
                  <a:srgbClr val="000000"/>
                </a:solidFill>
                <a:latin typeface="Arial"/>
              </a:rPr>
              <a:t>and any changes are fed back into the models</a:t>
            </a:r>
          </a:p>
          <a:p>
            <a:pPr marL="205146" indent="-205146">
              <a:buFont typeface="+mj-lt"/>
              <a:buAutoNum type="arabicPeriod" startAt="4"/>
            </a:pPr>
            <a:r>
              <a:rPr lang="en-US" sz="1400" dirty="0">
                <a:solidFill>
                  <a:srgbClr val="000000"/>
                </a:solidFill>
                <a:latin typeface="Arial"/>
              </a:rPr>
              <a:t>Models are displayed publicly and collaboration platforms such as a </a:t>
            </a:r>
            <a:r>
              <a:rPr lang="en-US" sz="1400" b="1" dirty="0">
                <a:solidFill>
                  <a:srgbClr val="000000"/>
                </a:solidFill>
                <a:latin typeface="Arial"/>
              </a:rPr>
              <a:t>Wiki Project Repository</a:t>
            </a:r>
            <a:r>
              <a:rPr lang="en-US" sz="1400" dirty="0">
                <a:solidFill>
                  <a:srgbClr val="000000"/>
                </a:solidFill>
                <a:latin typeface="Arial"/>
              </a:rPr>
              <a:t> is used to capture models</a:t>
            </a:r>
          </a:p>
          <a:p>
            <a:pPr marL="205146" indent="-205146">
              <a:buFont typeface="+mj-lt"/>
              <a:buAutoNum type="arabicPeriod" startAt="4"/>
            </a:pPr>
            <a:r>
              <a:rPr lang="en-US" sz="1400" dirty="0">
                <a:solidFill>
                  <a:srgbClr val="000000"/>
                </a:solidFill>
                <a:latin typeface="Arial"/>
              </a:rPr>
              <a:t>The team </a:t>
            </a:r>
            <a:r>
              <a:rPr lang="en-US" sz="1400" b="1" dirty="0">
                <a:solidFill>
                  <a:srgbClr val="000000"/>
                </a:solidFill>
                <a:latin typeface="Arial"/>
              </a:rPr>
              <a:t>models a bit ahead</a:t>
            </a:r>
            <a:r>
              <a:rPr lang="en-US" sz="1400" dirty="0">
                <a:solidFill>
                  <a:srgbClr val="000000"/>
                </a:solidFill>
                <a:latin typeface="Arial"/>
              </a:rPr>
              <a:t> as needed to reduce overall risk as the team moves forward</a:t>
            </a:r>
          </a:p>
        </p:txBody>
      </p:sp>
    </p:spTree>
    <p:extLst>
      <p:ext uri="{BB962C8B-B14F-4D97-AF65-F5344CB8AC3E}">
        <p14:creationId xmlns:p14="http://schemas.microsoft.com/office/powerpoint/2010/main" val="1965682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z="2800"/>
              <a:t>Software Architecture (RUP)</a:t>
            </a:r>
          </a:p>
        </p:txBody>
      </p:sp>
      <p:sp>
        <p:nvSpPr>
          <p:cNvPr id="12291" name="Content Placeholder 2"/>
          <p:cNvSpPr>
            <a:spLocks noGrp="1"/>
          </p:cNvSpPr>
          <p:nvPr>
            <p:ph idx="1"/>
          </p:nvPr>
        </p:nvSpPr>
        <p:spPr>
          <a:xfrm>
            <a:off x="457200" y="1600200"/>
            <a:ext cx="8229600" cy="2521052"/>
          </a:xfrm>
        </p:spPr>
        <p:txBody>
          <a:bodyPr/>
          <a:lstStyle/>
          <a:p>
            <a:r>
              <a:rPr lang="en-US" sz="1400"/>
              <a:t>According to IBM, using RUP: A Software Architecture of a program or computing system is the structure or structures of the system, which comprise software elements, the externally visible properties of those elements, and the relationships among them. The software architecture of a system or a collection of systems consists of all the important design decisions about the software structures and the interactions between those structures that comprise the systems. Decisions made about software architecture support a desired set of qualities that the system should support to be successful, providing a conceptual basis for system development, support, and maintenance.</a:t>
            </a:r>
          </a:p>
          <a:p>
            <a:pPr>
              <a:buFont typeface="Arial" charset="0"/>
              <a:buNone/>
            </a:pPr>
            <a:endParaRPr lang="en-US" sz="1400"/>
          </a:p>
          <a:p>
            <a:pPr>
              <a:buFont typeface="Arial" charset="0"/>
              <a:buNone/>
            </a:pPr>
            <a:r>
              <a:rPr lang="en-US" sz="1400"/>
              <a:t>	For more information: </a:t>
            </a:r>
            <a:r>
              <a:rPr lang="en-US" sz="1400">
                <a:hlinkClick r:id="rId2"/>
              </a:rPr>
              <a:t>http://www.ibm.com/developerworks/rational/library/feb06/eeles/</a:t>
            </a:r>
            <a:endParaRPr lang="en-US" sz="1400"/>
          </a:p>
        </p:txBody>
      </p:sp>
    </p:spTree>
    <p:extLst>
      <p:ext uri="{BB962C8B-B14F-4D97-AF65-F5344CB8AC3E}">
        <p14:creationId xmlns:p14="http://schemas.microsoft.com/office/powerpoint/2010/main" val="1634998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z="2800"/>
              <a:t>Architecture Key Mechanism (RUP) </a:t>
            </a:r>
          </a:p>
        </p:txBody>
      </p:sp>
      <p:sp>
        <p:nvSpPr>
          <p:cNvPr id="13315" name="Content Placeholder 2"/>
          <p:cNvSpPr>
            <a:spLocks noGrp="1"/>
          </p:cNvSpPr>
          <p:nvPr>
            <p:ph idx="1"/>
          </p:nvPr>
        </p:nvSpPr>
        <p:spPr>
          <a:xfrm>
            <a:off x="457200" y="1600200"/>
            <a:ext cx="8229600" cy="2817514"/>
          </a:xfrm>
        </p:spPr>
        <p:txBody>
          <a:bodyPr/>
          <a:lstStyle/>
          <a:p>
            <a:r>
              <a:rPr lang="en-US" sz="1400"/>
              <a:t>Architecture Mechanism represents common concrete solutions to frequently encountered problems. They may be patterns of structure, patterns of behavior, or both. 3 categories of architecture mechanisms include:</a:t>
            </a:r>
          </a:p>
          <a:p>
            <a:endParaRPr lang="en-US" sz="1400"/>
          </a:p>
          <a:p>
            <a:pPr lvl="1">
              <a:buFont typeface="Calibri" pitchFamily="34" charset="0"/>
              <a:buAutoNum type="arabicPeriod"/>
            </a:pPr>
            <a:r>
              <a:rPr lang="en-US" sz="1200"/>
              <a:t>Analysis Mechanism (eg. Communication)</a:t>
            </a:r>
          </a:p>
          <a:p>
            <a:pPr lvl="1">
              <a:buFont typeface="Calibri" pitchFamily="34" charset="0"/>
              <a:buAutoNum type="arabicPeriod"/>
            </a:pPr>
            <a:r>
              <a:rPr lang="en-US" sz="1200"/>
              <a:t>Design Mechanism (eg. Message queue)</a:t>
            </a:r>
          </a:p>
          <a:p>
            <a:pPr lvl="1">
              <a:buFont typeface="Calibri" pitchFamily="34" charset="0"/>
              <a:buAutoNum type="arabicPeriod"/>
            </a:pPr>
            <a:r>
              <a:rPr lang="en-US" sz="1200"/>
              <a:t>Implementation Mechanisms (eg. Oracle)</a:t>
            </a:r>
          </a:p>
          <a:p>
            <a:pPr>
              <a:buFont typeface="Arial" charset="0"/>
              <a:buNone/>
            </a:pPr>
            <a:endParaRPr lang="en-US" sz="1400"/>
          </a:p>
          <a:p>
            <a:pPr>
              <a:buFont typeface="Arial" charset="0"/>
              <a:buNone/>
            </a:pPr>
            <a:r>
              <a:rPr lang="en-US" sz="1400"/>
              <a:t>	For more information: </a:t>
            </a:r>
            <a:r>
              <a:rPr lang="en-US" sz="1400">
                <a:hlinkClick r:id="rId2"/>
              </a:rPr>
              <a:t>http://www.ibm.com/developerworks/rational/library/4706.html</a:t>
            </a:r>
            <a:endParaRPr lang="en-US" sz="1400"/>
          </a:p>
        </p:txBody>
      </p:sp>
    </p:spTree>
    <p:extLst>
      <p:ext uri="{BB962C8B-B14F-4D97-AF65-F5344CB8AC3E}">
        <p14:creationId xmlns:p14="http://schemas.microsoft.com/office/powerpoint/2010/main" val="5947056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z="2800"/>
              <a:t>4 + 1 Views (RUP)</a:t>
            </a:r>
          </a:p>
        </p:txBody>
      </p:sp>
      <p:sp>
        <p:nvSpPr>
          <p:cNvPr id="14339" name="Content Placeholder 2"/>
          <p:cNvSpPr>
            <a:spLocks noGrp="1"/>
          </p:cNvSpPr>
          <p:nvPr>
            <p:ph idx="1"/>
          </p:nvPr>
        </p:nvSpPr>
        <p:spPr>
          <a:xfrm>
            <a:off x="457200" y="1600200"/>
            <a:ext cx="8229600" cy="3912836"/>
          </a:xfrm>
        </p:spPr>
        <p:txBody>
          <a:bodyPr/>
          <a:lstStyle/>
          <a:p>
            <a:r>
              <a:rPr lang="en-US" sz="1400"/>
              <a:t>The 4+1 View Model of Software Architecture organizes a description of a software architecture using five concurrent views, each of which addresses a specific set of concerns Developers capture their design decisions in four views and use the fifth view to illustrate and validate them. This use of multiple views allows one to address the concerns of the various “stakeholders” of the architecture seperately and to handle separately the functional and nonfunctional requirements. The 4 + 1 views are as follows:</a:t>
            </a:r>
          </a:p>
          <a:p>
            <a:endParaRPr lang="en-US" sz="1400"/>
          </a:p>
          <a:p>
            <a:pPr lvl="1"/>
            <a:r>
              <a:rPr lang="en-US" sz="1200"/>
              <a:t>Logical View – functionality</a:t>
            </a:r>
          </a:p>
          <a:p>
            <a:pPr lvl="1"/>
            <a:r>
              <a:rPr lang="en-US" sz="1200"/>
              <a:t>Implementation View – software management</a:t>
            </a:r>
          </a:p>
          <a:p>
            <a:pPr lvl="1"/>
            <a:r>
              <a:rPr lang="en-US" sz="1200"/>
              <a:t>Process View – performance, scalability, throughput</a:t>
            </a:r>
          </a:p>
          <a:p>
            <a:pPr lvl="1"/>
            <a:r>
              <a:rPr lang="en-US" sz="1200"/>
              <a:t>Deployment View – system topology, delivery, installation communication</a:t>
            </a:r>
          </a:p>
          <a:p>
            <a:pPr lvl="1"/>
            <a:r>
              <a:rPr lang="en-US" sz="1200"/>
              <a:t>User-Case View 0- the final view, overlaps each one of these standalone and independent views </a:t>
            </a:r>
          </a:p>
          <a:p>
            <a:pPr>
              <a:buFont typeface="Arial" charset="0"/>
              <a:buNone/>
            </a:pPr>
            <a:endParaRPr lang="en-US" sz="1400"/>
          </a:p>
          <a:p>
            <a:pPr>
              <a:buFont typeface="Arial" charset="0"/>
              <a:buNone/>
            </a:pPr>
            <a:r>
              <a:rPr lang="en-US" sz="1400"/>
              <a:t>	For more information: </a:t>
            </a:r>
            <a:r>
              <a:rPr lang="en-US" sz="1400">
                <a:hlinkClick r:id="rId2"/>
              </a:rPr>
              <a:t>http://www.pld.ttu.ee/~kruus/db_is02.pdf</a:t>
            </a:r>
            <a:endParaRPr lang="en-US" sz="1400"/>
          </a:p>
        </p:txBody>
      </p:sp>
    </p:spTree>
    <p:extLst>
      <p:ext uri="{BB962C8B-B14F-4D97-AF65-F5344CB8AC3E}">
        <p14:creationId xmlns:p14="http://schemas.microsoft.com/office/powerpoint/2010/main" val="24775376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z="2800"/>
              <a:t>Emerging Design (Code Craftsmanship)</a:t>
            </a:r>
          </a:p>
        </p:txBody>
      </p:sp>
      <p:sp>
        <p:nvSpPr>
          <p:cNvPr id="15363" name="Content Placeholder 2"/>
          <p:cNvSpPr>
            <a:spLocks noGrp="1"/>
          </p:cNvSpPr>
          <p:nvPr>
            <p:ph idx="1"/>
          </p:nvPr>
        </p:nvSpPr>
        <p:spPr>
          <a:xfrm>
            <a:off x="457200" y="1600200"/>
            <a:ext cx="8229600" cy="2521052"/>
          </a:xfrm>
        </p:spPr>
        <p:txBody>
          <a:bodyPr/>
          <a:lstStyle/>
          <a:p>
            <a:r>
              <a:rPr lang="en-US" sz="1400"/>
              <a:t>Emerging design is a principle in Agile for which a team starts delivering functionality and lets the design emerge. Development will take a functionality and implement it using best practices and proper test coverage, then then move on to delivering another functionality. When the second functionality is being or have finished being built, the team will assess what has been done and refactor out the commonality, allowing the design to emerge. This continuous process eventually produces the smallest set of the design needed. The end result is a smaller code base, which naturally has less room for defects and a lower cost of maintenance.</a:t>
            </a:r>
            <a:endParaRPr lang="en-US" sz="1200"/>
          </a:p>
          <a:p>
            <a:pPr>
              <a:buFont typeface="Arial" charset="0"/>
              <a:buNone/>
            </a:pPr>
            <a:endParaRPr lang="en-US" sz="1400"/>
          </a:p>
          <a:p>
            <a:pPr>
              <a:buFont typeface="Arial" charset="0"/>
              <a:buNone/>
            </a:pPr>
            <a:r>
              <a:rPr lang="en-US" sz="1400"/>
              <a:t>	For more information: </a:t>
            </a:r>
            <a:r>
              <a:rPr lang="en-US" sz="1400">
                <a:hlinkClick r:id="rId2"/>
              </a:rPr>
              <a:t>http://www.softwarereality.com/design/early_prototyping.jsp</a:t>
            </a:r>
            <a:endParaRPr lang="en-US" sz="1400"/>
          </a:p>
        </p:txBody>
      </p:sp>
    </p:spTree>
    <p:extLst>
      <p:ext uri="{BB962C8B-B14F-4D97-AF65-F5344CB8AC3E}">
        <p14:creationId xmlns:p14="http://schemas.microsoft.com/office/powerpoint/2010/main" val="5692719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2800"/>
              <a:t>Model Storming</a:t>
            </a:r>
          </a:p>
        </p:txBody>
      </p:sp>
      <p:sp>
        <p:nvSpPr>
          <p:cNvPr id="17411" name="Content Placeholder 2"/>
          <p:cNvSpPr>
            <a:spLocks noGrp="1"/>
          </p:cNvSpPr>
          <p:nvPr>
            <p:ph idx="1"/>
          </p:nvPr>
        </p:nvSpPr>
        <p:spPr>
          <a:xfrm>
            <a:off x="457200" y="1600201"/>
            <a:ext cx="8229600" cy="3473801"/>
          </a:xfrm>
        </p:spPr>
        <p:txBody>
          <a:bodyPr/>
          <a:lstStyle/>
          <a:p>
            <a:r>
              <a:rPr lang="en-US" sz="1400"/>
              <a:t>Model storming is just in time (JIT) modeling: when an issue needs to be resolved, the team gets together, explores the issue, identifies what needs to be done and then proceeds to resolve it. Model storming is an Agile implementation of JAD (Joint Application Design) and the team should be cross-functional and may involve business SMEs. Common artifacts generated from a model storming session are:</a:t>
            </a:r>
          </a:p>
          <a:p>
            <a:endParaRPr lang="en-US" sz="1400"/>
          </a:p>
          <a:p>
            <a:pPr lvl="1"/>
            <a:r>
              <a:rPr lang="en-US" sz="1200"/>
              <a:t>Agile class and sequence diagrams</a:t>
            </a:r>
          </a:p>
          <a:p>
            <a:pPr lvl="1"/>
            <a:r>
              <a:rPr lang="en-US" sz="1200"/>
              <a:t>CRC</a:t>
            </a:r>
          </a:p>
          <a:p>
            <a:pPr lvl="1"/>
            <a:r>
              <a:rPr lang="en-US" sz="1200"/>
              <a:t>Agile architecture</a:t>
            </a:r>
          </a:p>
          <a:p>
            <a:pPr lvl="1"/>
            <a:r>
              <a:rPr lang="en-US" sz="1200"/>
              <a:t>Domain model</a:t>
            </a:r>
            <a:endParaRPr lang="en-US" sz="1400"/>
          </a:p>
          <a:p>
            <a:endParaRPr lang="en-US" sz="1400"/>
          </a:p>
          <a:p>
            <a:pPr>
              <a:buFont typeface="Arial" charset="0"/>
              <a:buNone/>
            </a:pPr>
            <a:r>
              <a:rPr lang="en-US" sz="1400"/>
              <a:t>	For more information: </a:t>
            </a:r>
            <a:r>
              <a:rPr lang="en-US" sz="1400">
                <a:hlinkClick r:id="rId2"/>
              </a:rPr>
              <a:t>http://www.agilemodeling.com/essays/modelStorming.htm</a:t>
            </a:r>
            <a:endParaRPr lang="en-US" sz="1400"/>
          </a:p>
        </p:txBody>
      </p:sp>
    </p:spTree>
    <p:extLst>
      <p:ext uri="{BB962C8B-B14F-4D97-AF65-F5344CB8AC3E}">
        <p14:creationId xmlns:p14="http://schemas.microsoft.com/office/powerpoint/2010/main" val="36170093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a:t>Agile Class and Sequence Diagrams</a:t>
            </a:r>
          </a:p>
        </p:txBody>
      </p:sp>
      <p:sp>
        <p:nvSpPr>
          <p:cNvPr id="18435" name="Content Placeholder 2"/>
          <p:cNvSpPr>
            <a:spLocks noGrp="1"/>
          </p:cNvSpPr>
          <p:nvPr>
            <p:ph idx="1"/>
          </p:nvPr>
        </p:nvSpPr>
        <p:spPr>
          <a:xfrm>
            <a:off x="457200" y="1600200"/>
            <a:ext cx="8229600" cy="5173362"/>
          </a:xfrm>
        </p:spPr>
        <p:txBody>
          <a:bodyPr/>
          <a:lstStyle/>
          <a:p>
            <a:r>
              <a:rPr lang="en-US" sz="1400"/>
              <a:t>Agile sequence and class diagrams are artifacts commonly produced using UML during Model Storming sessions for design communicating as opposed to design specification. They can use non-normative UML notation because they are lightweight and not intended to define all cases that need to be considered, but rather serve as accelerators to design discussions with just enough detail to start development. Creating and using these artifacts encourages emergent design. </a:t>
            </a:r>
          </a:p>
          <a:p>
            <a:pPr>
              <a:buFont typeface="Arial" charset="0"/>
              <a:buNone/>
            </a:pPr>
            <a:endParaRPr lang="en-US" sz="1400"/>
          </a:p>
          <a:p>
            <a:r>
              <a:rPr lang="en-US" sz="1400"/>
              <a:t>Sequence diagrams model the flow of logic horizontally across different interacting entities, and models the flow of time vertically. They are a visual way to capture system behavior and is useful for both analysis and design purposes.  Agile class diagrams show the classes of the system, their interrelationships (including inheritance, aggregation, and association), and the operations and attributes of the classes. Class diagrams are often used in both conceptual/domain modeling and detailed design modeling. </a:t>
            </a:r>
          </a:p>
          <a:p>
            <a:pPr>
              <a:buFont typeface="Arial" charset="0"/>
              <a:buNone/>
            </a:pPr>
            <a:endParaRPr lang="en-US" sz="1400"/>
          </a:p>
          <a:p>
            <a:pPr>
              <a:buFont typeface="Arial" charset="0"/>
              <a:buNone/>
            </a:pPr>
            <a:r>
              <a:rPr lang="en-US" sz="1400"/>
              <a:t>	For more information: </a:t>
            </a:r>
          </a:p>
          <a:p>
            <a:pPr>
              <a:buFont typeface="Arial" charset="0"/>
              <a:buNone/>
            </a:pPr>
            <a:r>
              <a:rPr lang="en-US" sz="1400"/>
              <a:t>	</a:t>
            </a:r>
            <a:r>
              <a:rPr lang="en-US" sz="1400">
                <a:hlinkClick r:id="rId2"/>
              </a:rPr>
              <a:t>http://www.agilemodeling.com/artifacts/sequenceDiagram.htm</a:t>
            </a:r>
            <a:endParaRPr lang="en-US" sz="1400"/>
          </a:p>
          <a:p>
            <a:pPr>
              <a:buFont typeface="Arial" charset="0"/>
              <a:buNone/>
            </a:pPr>
            <a:r>
              <a:rPr lang="en-US" sz="1400"/>
              <a:t> 	</a:t>
            </a:r>
            <a:r>
              <a:rPr lang="en-US" sz="1400">
                <a:hlinkClick r:id="rId3"/>
              </a:rPr>
              <a:t>http://www.agilemodeling.com/artifacts/classDiagram.htm</a:t>
            </a:r>
            <a:endParaRPr lang="en-US" sz="1400"/>
          </a:p>
        </p:txBody>
      </p:sp>
    </p:spTree>
    <p:extLst>
      <p:ext uri="{BB962C8B-B14F-4D97-AF65-F5344CB8AC3E}">
        <p14:creationId xmlns:p14="http://schemas.microsoft.com/office/powerpoint/2010/main" val="35159999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z="2800"/>
              <a:t>System Metaphor</a:t>
            </a:r>
          </a:p>
        </p:txBody>
      </p:sp>
      <p:sp>
        <p:nvSpPr>
          <p:cNvPr id="19459" name="Content Placeholder 2"/>
          <p:cNvSpPr>
            <a:spLocks noGrp="1"/>
          </p:cNvSpPr>
          <p:nvPr>
            <p:ph idx="1"/>
          </p:nvPr>
        </p:nvSpPr>
        <p:spPr>
          <a:xfrm>
            <a:off x="457200" y="1600200"/>
            <a:ext cx="8229600" cy="2738306"/>
          </a:xfrm>
        </p:spPr>
        <p:txBody>
          <a:bodyPr/>
          <a:lstStyle/>
          <a:p>
            <a:r>
              <a:rPr lang="en-US" sz="1400"/>
              <a:t>A System metaphor used in Extreme Programming in place of a formal architecture to tell a simple shared story of how the system works, a metaphor. This story typically involves a handful of classes and patterns that shape the core flow of the system being built.  It's a naming concept for classes and methods that should make it easy for a team member to guess the functionality of a particular class/method, from its name only.  An ubiquitous language  (common, rigorous language between developers and users) is used such that confusion in wording of things are minimized. It is XP’s approach to domain driven design, with naming of classes and their responsibilities to reflect the business meaning, and an intention to create intuitive code. </a:t>
            </a:r>
          </a:p>
          <a:p>
            <a:pPr>
              <a:buFont typeface="Arial" charset="0"/>
              <a:buNone/>
            </a:pPr>
            <a:endParaRPr lang="en-US" sz="1400"/>
          </a:p>
          <a:p>
            <a:pPr>
              <a:buFont typeface="Arial" charset="0"/>
              <a:buNone/>
            </a:pPr>
            <a:r>
              <a:rPr lang="en-US" sz="1400"/>
              <a:t>	For more information: </a:t>
            </a:r>
            <a:r>
              <a:rPr lang="en-US" sz="1400">
                <a:hlinkClick r:id="rId2"/>
              </a:rPr>
              <a:t>http://www.extremeprogramming.org/rules/metaphor.html</a:t>
            </a:r>
            <a:endParaRPr lang="en-US" sz="1400"/>
          </a:p>
        </p:txBody>
      </p:sp>
    </p:spTree>
    <p:extLst>
      <p:ext uri="{BB962C8B-B14F-4D97-AF65-F5344CB8AC3E}">
        <p14:creationId xmlns:p14="http://schemas.microsoft.com/office/powerpoint/2010/main" val="25248168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z="2800"/>
              <a:t>Spike</a:t>
            </a:r>
          </a:p>
        </p:txBody>
      </p:sp>
      <p:sp>
        <p:nvSpPr>
          <p:cNvPr id="20483" name="Content Placeholder 2"/>
          <p:cNvSpPr>
            <a:spLocks noGrp="1"/>
          </p:cNvSpPr>
          <p:nvPr>
            <p:ph idx="1"/>
          </p:nvPr>
        </p:nvSpPr>
        <p:spPr>
          <a:xfrm>
            <a:off x="457200" y="1600200"/>
            <a:ext cx="8229600" cy="5252569"/>
          </a:xfrm>
        </p:spPr>
        <p:txBody>
          <a:bodyPr/>
          <a:lstStyle/>
          <a:p>
            <a:r>
              <a:rPr lang="en-US" sz="1400"/>
              <a:t>A spike (from Extreme Programming) is a story that cannot be estimated until a development team runs a timeboxed investigation. The output of a spike story is an estimate for the original story. It is a minimal prototype implementation of some system functionality that encompasses the entire range of system operability.</a:t>
            </a:r>
          </a:p>
          <a:p>
            <a:endParaRPr lang="en-US" sz="1400"/>
          </a:p>
          <a:p>
            <a:pPr>
              <a:buFont typeface="Arial" charset="0"/>
              <a:buNone/>
            </a:pPr>
            <a:r>
              <a:rPr lang="en-US" sz="1400"/>
              <a:t>	A Spike Solution Is:</a:t>
            </a:r>
          </a:p>
          <a:p>
            <a:pPr>
              <a:buFont typeface="Arial" charset="0"/>
              <a:buNone/>
            </a:pPr>
            <a:endParaRPr lang="en-US" sz="1400"/>
          </a:p>
          <a:p>
            <a:pPr lvl="1">
              <a:buFont typeface="Calibri" pitchFamily="34" charset="0"/>
              <a:buAutoNum type="arabicPeriod"/>
            </a:pPr>
            <a:r>
              <a:rPr lang="en-US" sz="1200"/>
              <a:t>Very simple experiment to explore potential solutions</a:t>
            </a:r>
          </a:p>
          <a:p>
            <a:pPr lvl="1">
              <a:buFont typeface="Calibri" pitchFamily="34" charset="0"/>
              <a:buAutoNum type="arabicPeriod"/>
            </a:pPr>
            <a:r>
              <a:rPr lang="en-US" sz="1200"/>
              <a:t>Necessarily time-boxed</a:t>
            </a:r>
          </a:p>
          <a:p>
            <a:pPr lvl="1">
              <a:buFont typeface="Calibri" pitchFamily="34" charset="0"/>
              <a:buAutoNum type="arabicPeriod"/>
            </a:pPr>
            <a:r>
              <a:rPr lang="en-US" sz="1200"/>
              <a:t>Likely intended to be thrown away</a:t>
            </a:r>
          </a:p>
          <a:p>
            <a:pPr>
              <a:buFont typeface="Arial" charset="0"/>
              <a:buNone/>
            </a:pPr>
            <a:endParaRPr lang="en-US" sz="1400"/>
          </a:p>
          <a:p>
            <a:pPr>
              <a:buFont typeface="Arial" charset="0"/>
              <a:buNone/>
            </a:pPr>
            <a:r>
              <a:rPr lang="en-US" sz="1400"/>
              <a:t>	Spikes are very useful to figure out what teams do not know to understand the complexity of something so that it can be properly estimated, quoted, or analyzed for feasibility.</a:t>
            </a:r>
          </a:p>
          <a:p>
            <a:endParaRPr lang="en-US" sz="1400"/>
          </a:p>
          <a:p>
            <a:pPr>
              <a:buFont typeface="Arial" charset="0"/>
              <a:buNone/>
            </a:pPr>
            <a:r>
              <a:rPr lang="en-US" sz="1400"/>
              <a:t>	For more information: </a:t>
            </a:r>
            <a:r>
              <a:rPr lang="en-US" sz="1400">
                <a:hlinkClick r:id="rId2"/>
              </a:rPr>
              <a:t>http://www.extremeprogramming.org/rules/spike.html</a:t>
            </a:r>
            <a:endParaRPr lang="en-US" sz="1400"/>
          </a:p>
        </p:txBody>
      </p:sp>
    </p:spTree>
    <p:extLst>
      <p:ext uri="{BB962C8B-B14F-4D97-AF65-F5344CB8AC3E}">
        <p14:creationId xmlns:p14="http://schemas.microsoft.com/office/powerpoint/2010/main" val="716450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z="2800"/>
              <a:t>Class Responsibility Collaboration (CRC)</a:t>
            </a:r>
          </a:p>
        </p:txBody>
      </p:sp>
      <p:sp>
        <p:nvSpPr>
          <p:cNvPr id="21507" name="Content Placeholder 2"/>
          <p:cNvSpPr>
            <a:spLocks noGrp="1"/>
          </p:cNvSpPr>
          <p:nvPr>
            <p:ph idx="1"/>
          </p:nvPr>
        </p:nvSpPr>
        <p:spPr>
          <a:xfrm>
            <a:off x="457200" y="1600201"/>
            <a:ext cx="8229600" cy="4469549"/>
          </a:xfrm>
        </p:spPr>
        <p:txBody>
          <a:bodyPr/>
          <a:lstStyle/>
          <a:p>
            <a:r>
              <a:rPr lang="en-US" sz="1400"/>
              <a:t>A Class Responsibility Collaborator model (from Extreme Programming) is a collection of standard index cards, often used to facilitate Model Storming, that have been divided into three sections:</a:t>
            </a:r>
          </a:p>
          <a:p>
            <a:pPr>
              <a:buFont typeface="Arial" charset="0"/>
              <a:buNone/>
            </a:pPr>
            <a:endParaRPr lang="en-US" sz="1400"/>
          </a:p>
          <a:p>
            <a:pPr lvl="1">
              <a:buFont typeface="Calibri" pitchFamily="34" charset="0"/>
              <a:buAutoNum type="arabicPeriod"/>
            </a:pPr>
            <a:r>
              <a:rPr lang="en-US" sz="1200"/>
              <a:t>Class Name</a:t>
            </a:r>
          </a:p>
          <a:p>
            <a:pPr lvl="1">
              <a:buFont typeface="Calibri" pitchFamily="34" charset="0"/>
              <a:buAutoNum type="arabicPeriod"/>
            </a:pPr>
            <a:r>
              <a:rPr lang="en-US" sz="1200"/>
              <a:t>Responsibilities</a:t>
            </a:r>
          </a:p>
          <a:p>
            <a:pPr lvl="1">
              <a:buFont typeface="Calibri" pitchFamily="34" charset="0"/>
              <a:buAutoNum type="arabicPeriod"/>
            </a:pPr>
            <a:r>
              <a:rPr lang="en-US" sz="1200"/>
              <a:t>Collaborators</a:t>
            </a:r>
          </a:p>
          <a:p>
            <a:pPr>
              <a:buFont typeface="Arial" charset="0"/>
              <a:buNone/>
            </a:pPr>
            <a:endParaRPr lang="en-US" sz="1400"/>
          </a:p>
          <a:p>
            <a:pPr>
              <a:buFont typeface="Arial" charset="0"/>
              <a:buNone/>
            </a:pPr>
            <a:r>
              <a:rPr lang="en-US" sz="1400"/>
              <a:t>	A class represents the entity that’s part of the system, a responsibility is something that the class knows or does, as in its attributes and functionalities, and a collaborator is another class that a class interacts with to fulfill its responsibilities. Creating CRC cards is typically done with a cross-functional team with the intent to collaborate and identify the primary classes and associated responsibilities.</a:t>
            </a:r>
          </a:p>
          <a:p>
            <a:pPr>
              <a:buFont typeface="Arial" charset="0"/>
              <a:buNone/>
            </a:pPr>
            <a:endParaRPr lang="en-US" sz="1400"/>
          </a:p>
          <a:p>
            <a:pPr>
              <a:buFont typeface="Arial" charset="0"/>
              <a:buNone/>
            </a:pPr>
            <a:r>
              <a:rPr lang="en-US" sz="1400"/>
              <a:t>	For more information: </a:t>
            </a:r>
            <a:r>
              <a:rPr lang="en-US" sz="1400">
                <a:hlinkClick r:id="rId2"/>
              </a:rPr>
              <a:t>http://www.agilemodeling.com/artifacts/crcModel.htm</a:t>
            </a:r>
            <a:endParaRPr lang="en-US" sz="1400"/>
          </a:p>
        </p:txBody>
      </p:sp>
    </p:spTree>
    <p:extLst>
      <p:ext uri="{BB962C8B-B14F-4D97-AF65-F5344CB8AC3E}">
        <p14:creationId xmlns:p14="http://schemas.microsoft.com/office/powerpoint/2010/main" val="41188511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2800"/>
              <a:t>Non-functional Requirements</a:t>
            </a:r>
          </a:p>
        </p:txBody>
      </p:sp>
      <p:sp>
        <p:nvSpPr>
          <p:cNvPr id="23555" name="Content Placeholder 2"/>
          <p:cNvSpPr>
            <a:spLocks noGrp="1"/>
          </p:cNvSpPr>
          <p:nvPr>
            <p:ph idx="1"/>
          </p:nvPr>
        </p:nvSpPr>
        <p:spPr>
          <a:xfrm>
            <a:off x="457200" y="1600200"/>
            <a:ext cx="8229600" cy="2086544"/>
          </a:xfrm>
        </p:spPr>
        <p:txBody>
          <a:bodyPr/>
          <a:lstStyle/>
          <a:p>
            <a:r>
              <a:rPr lang="en-US" sz="1400"/>
              <a:t>Unlike functional requirements, which define specific behavior or functions, non-functional requirements describe qualities of a system (what it is), and are requirements that specify criteria that can be used to judge the operation of a system, rather than specific behaviors. For example, a non-functional requirement of a system may be to have “sufficient network bandwidth”. Technical tests are often written to verify non-functional requirements.</a:t>
            </a:r>
          </a:p>
          <a:p>
            <a:endParaRPr lang="en-US" sz="1400"/>
          </a:p>
          <a:p>
            <a:pPr>
              <a:buFont typeface="Arial" charset="0"/>
              <a:buNone/>
            </a:pPr>
            <a:r>
              <a:rPr lang="en-US" sz="1400"/>
              <a:t>	For more information: </a:t>
            </a:r>
            <a:r>
              <a:rPr lang="en-US" sz="1400">
                <a:hlinkClick r:id="rId2"/>
              </a:rPr>
              <a:t>http://www.infoq.com/news/2008/11/nonfunctional-requirements</a:t>
            </a:r>
            <a:endParaRPr lang="en-US" sz="1400"/>
          </a:p>
        </p:txBody>
      </p:sp>
    </p:spTree>
    <p:extLst>
      <p:ext uri="{BB962C8B-B14F-4D97-AF65-F5344CB8AC3E}">
        <p14:creationId xmlns:p14="http://schemas.microsoft.com/office/powerpoint/2010/main" val="22116602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z="2800"/>
              <a:t>System Context Diagrams</a:t>
            </a:r>
          </a:p>
        </p:txBody>
      </p:sp>
      <p:sp>
        <p:nvSpPr>
          <p:cNvPr id="24579" name="Content Placeholder 2"/>
          <p:cNvSpPr>
            <a:spLocks noGrp="1"/>
          </p:cNvSpPr>
          <p:nvPr>
            <p:ph idx="1"/>
          </p:nvPr>
        </p:nvSpPr>
        <p:spPr>
          <a:xfrm>
            <a:off x="457200" y="1600200"/>
            <a:ext cx="8229600" cy="2086544"/>
          </a:xfrm>
        </p:spPr>
        <p:txBody>
          <a:bodyPr/>
          <a:lstStyle/>
          <a:p>
            <a:r>
              <a:rPr lang="en-US" sz="1400"/>
              <a:t>System Context Diagrams are diagrams used to represent important external factors that interact with the system at hand in order to focus attention on external factors and events that should be considered in developing a complete set of system requirements and constraints. These diagrams usually pictures the system at the center, with no details of its interior structure, surrounded by all its interacting systems, environment and activities. </a:t>
            </a:r>
            <a:endParaRPr lang="en-US" sz="1400" baseline="30000"/>
          </a:p>
          <a:p>
            <a:endParaRPr lang="en-US" sz="1400"/>
          </a:p>
          <a:p>
            <a:pPr>
              <a:buFont typeface="Arial" charset="0"/>
              <a:buNone/>
            </a:pPr>
            <a:r>
              <a:rPr lang="en-US" sz="1400"/>
              <a:t>	For more information: </a:t>
            </a:r>
            <a:r>
              <a:rPr lang="en-US" sz="1400">
                <a:hlinkClick r:id="rId2"/>
              </a:rPr>
              <a:t>http://en.wikipedia.org/wiki/System_context_diagram</a:t>
            </a:r>
            <a:endParaRPr lang="en-US" sz="1400"/>
          </a:p>
        </p:txBody>
      </p:sp>
    </p:spTree>
    <p:extLst>
      <p:ext uri="{BB962C8B-B14F-4D97-AF65-F5344CB8AC3E}">
        <p14:creationId xmlns:p14="http://schemas.microsoft.com/office/powerpoint/2010/main" val="12640996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sz="2800"/>
              <a:t>Low Fidelity UI Mockup (Agile Modeling)</a:t>
            </a:r>
          </a:p>
        </p:txBody>
      </p:sp>
      <p:sp>
        <p:nvSpPr>
          <p:cNvPr id="28675" name="Content Placeholder 2"/>
          <p:cNvSpPr>
            <a:spLocks noGrp="1"/>
          </p:cNvSpPr>
          <p:nvPr>
            <p:ph idx="1"/>
          </p:nvPr>
        </p:nvSpPr>
        <p:spPr>
          <a:xfrm>
            <a:off x="457200" y="1600201"/>
            <a:ext cx="8229600" cy="1869290"/>
          </a:xfrm>
        </p:spPr>
        <p:txBody>
          <a:bodyPr/>
          <a:lstStyle/>
          <a:p>
            <a:r>
              <a:rPr lang="en-US" sz="1400"/>
              <a:t>Low fidelity UI Mockups are prototype or models of the UI that has the most essential features without the exact details. It should be technology independent and illustrates the interaction behaviors allowed by modeling user interface requirements. They are sketchy, low-fidelity wireframes that let you focus design conversations on functionality.</a:t>
            </a:r>
          </a:p>
          <a:p>
            <a:pPr>
              <a:buFont typeface="Arial" charset="0"/>
              <a:buNone/>
            </a:pPr>
            <a:endParaRPr lang="en-US" sz="1400"/>
          </a:p>
          <a:p>
            <a:pPr>
              <a:buFont typeface="Arial" charset="0"/>
              <a:buNone/>
            </a:pPr>
            <a:r>
              <a:rPr lang="en-US" sz="1400"/>
              <a:t>	For more information: </a:t>
            </a:r>
            <a:r>
              <a:rPr lang="en-US" sz="1400">
                <a:hlinkClick r:id="rId2"/>
              </a:rPr>
              <a:t>http://www.agilemodeling.com/artifacts/essentialUI.htm</a:t>
            </a:r>
            <a:endParaRPr lang="en-US" sz="1400"/>
          </a:p>
        </p:txBody>
      </p:sp>
    </p:spTree>
    <p:extLst>
      <p:ext uri="{BB962C8B-B14F-4D97-AF65-F5344CB8AC3E}">
        <p14:creationId xmlns:p14="http://schemas.microsoft.com/office/powerpoint/2010/main" val="39837053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sz="2800"/>
              <a:t>Features (Agile Modeling)</a:t>
            </a:r>
          </a:p>
        </p:txBody>
      </p:sp>
      <p:sp>
        <p:nvSpPr>
          <p:cNvPr id="29699" name="Content Placeholder 2"/>
          <p:cNvSpPr>
            <a:spLocks noGrp="1"/>
          </p:cNvSpPr>
          <p:nvPr>
            <p:ph idx="1"/>
          </p:nvPr>
        </p:nvSpPr>
        <p:spPr>
          <a:xfrm>
            <a:off x="457200" y="1600201"/>
            <a:ext cx="8229600" cy="4734327"/>
          </a:xfrm>
        </p:spPr>
        <p:txBody>
          <a:bodyPr/>
          <a:lstStyle/>
          <a:p>
            <a:r>
              <a:rPr lang="en-US" sz="1400"/>
              <a:t>A feature is a client-valued function that can be implemented in two weeks or less, named using this template:</a:t>
            </a:r>
          </a:p>
          <a:p>
            <a:pPr>
              <a:buFont typeface="Arial" charset="0"/>
              <a:buNone/>
            </a:pPr>
            <a:endParaRPr lang="en-US" sz="1400"/>
          </a:p>
          <a:p>
            <a:pPr lvl="1"/>
            <a:r>
              <a:rPr lang="en-US" sz="1200"/>
              <a:t>&lt;action&gt; the &lt;result&gt; &lt;by|for|of|to&gt; a(n) &lt;object&gt;</a:t>
            </a:r>
          </a:p>
          <a:p>
            <a:pPr>
              <a:buFont typeface="Arial" charset="0"/>
              <a:buNone/>
            </a:pPr>
            <a:endParaRPr lang="en-US" sz="1400"/>
          </a:p>
          <a:p>
            <a:pPr>
              <a:buFont typeface="Arial" charset="0"/>
              <a:buNone/>
            </a:pPr>
            <a:r>
              <a:rPr lang="en-US" sz="1400"/>
              <a:t>	An object is a person, place, or thing (including roles, moments in time or intervals of time, or catalog-entry-like descriptions)</a:t>
            </a:r>
          </a:p>
          <a:p>
            <a:pPr>
              <a:buFont typeface="Arial" charset="0"/>
              <a:buNone/>
            </a:pPr>
            <a:endParaRPr lang="en-US" sz="1400"/>
          </a:p>
          <a:p>
            <a:pPr>
              <a:buFont typeface="Arial" charset="0"/>
              <a:buNone/>
            </a:pPr>
            <a:r>
              <a:rPr lang="en-US" sz="1400"/>
              <a:t>	For example,</a:t>
            </a:r>
          </a:p>
          <a:p>
            <a:pPr lvl="1"/>
            <a:r>
              <a:rPr lang="en-US" sz="1200"/>
              <a:t>Calculate the total of a sale</a:t>
            </a:r>
          </a:p>
          <a:p>
            <a:pPr lvl="1"/>
            <a:r>
              <a:rPr lang="en-US" sz="1200"/>
              <a:t>Assess the fulﬁllment timeliness of a sale</a:t>
            </a:r>
          </a:p>
          <a:p>
            <a:pPr lvl="1"/>
            <a:r>
              <a:rPr lang="en-US" sz="1200"/>
              <a:t>Calculate the total purchases by a customer</a:t>
            </a:r>
          </a:p>
          <a:p>
            <a:pPr lvl="1">
              <a:buFont typeface="Arial" charset="0"/>
              <a:buNone/>
            </a:pPr>
            <a:endParaRPr lang="en-US" sz="1000"/>
          </a:p>
          <a:p>
            <a:pPr>
              <a:buFont typeface="Arial" charset="0"/>
              <a:buNone/>
            </a:pPr>
            <a:r>
              <a:rPr lang="en-US" sz="1400"/>
              <a:t>	For more information: </a:t>
            </a:r>
            <a:r>
              <a:rPr lang="en-US" sz="1400">
                <a:hlinkClick r:id="rId2"/>
              </a:rPr>
              <a:t>http://www.petercoad.com/download/bookpdfs/jmcuch06.pdf</a:t>
            </a:r>
            <a:endParaRPr lang="en-US" sz="1400"/>
          </a:p>
        </p:txBody>
      </p:sp>
    </p:spTree>
    <p:extLst>
      <p:ext uri="{BB962C8B-B14F-4D97-AF65-F5344CB8AC3E}">
        <p14:creationId xmlns:p14="http://schemas.microsoft.com/office/powerpoint/2010/main" val="6729310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14338" y="123175"/>
            <a:ext cx="8330184" cy="656288"/>
          </a:xfrm>
        </p:spPr>
        <p:txBody>
          <a:bodyPr/>
          <a:lstStyle/>
          <a:p>
            <a:r>
              <a:rPr lang="en-US" sz="2800"/>
              <a:t>Minimum Marketable Feature Set (Agile Modeling)</a:t>
            </a:r>
          </a:p>
        </p:txBody>
      </p:sp>
      <p:sp>
        <p:nvSpPr>
          <p:cNvPr id="30723" name="Content Placeholder 2"/>
          <p:cNvSpPr>
            <a:spLocks noGrp="1"/>
          </p:cNvSpPr>
          <p:nvPr>
            <p:ph idx="1"/>
          </p:nvPr>
        </p:nvSpPr>
        <p:spPr>
          <a:xfrm>
            <a:off x="457200" y="1600200"/>
            <a:ext cx="8229600" cy="4053146"/>
          </a:xfrm>
        </p:spPr>
        <p:txBody>
          <a:bodyPr/>
          <a:lstStyle/>
          <a:p>
            <a:r>
              <a:rPr lang="en-US" sz="1400"/>
              <a:t>A minimum marketable feature set is the set of the smallest increments of functionality that has value to the end users on its own. There isn’t much reason to release</a:t>
            </a:r>
            <a:r>
              <a:rPr lang="en-US" sz="1400" i="1"/>
              <a:t> </a:t>
            </a:r>
            <a:r>
              <a:rPr lang="en-US" sz="1400"/>
              <a:t>anything smaller than the MMF, when thinking about MMFs, keep in mind of the following:</a:t>
            </a:r>
          </a:p>
          <a:p>
            <a:pPr>
              <a:buFont typeface="Arial" charset="0"/>
              <a:buNone/>
            </a:pPr>
            <a:endParaRPr lang="en-US" sz="1400"/>
          </a:p>
          <a:p>
            <a:pPr lvl="1"/>
            <a:r>
              <a:rPr lang="en-US" sz="1200" b="1"/>
              <a:t>Minimum: </a:t>
            </a:r>
            <a:r>
              <a:rPr lang="en-US" sz="1200"/>
              <a:t>If a split would result in a story so small that it couldn’t be marketed to your customers, then the split shouldn’t be made</a:t>
            </a:r>
          </a:p>
          <a:p>
            <a:pPr lvl="1">
              <a:buFont typeface="Arial" charset="0"/>
              <a:buNone/>
            </a:pPr>
            <a:endParaRPr lang="en-US" sz="1200"/>
          </a:p>
          <a:p>
            <a:pPr lvl="1"/>
            <a:r>
              <a:rPr lang="en-US" sz="1200" b="1"/>
              <a:t>Marketable: </a:t>
            </a:r>
            <a:r>
              <a:rPr lang="en-US" sz="1200"/>
              <a:t>If the feature isn’t marketable, there is little reason to keep it</a:t>
            </a:r>
          </a:p>
          <a:p>
            <a:pPr lvl="1">
              <a:buFont typeface="Arial" charset="0"/>
              <a:buNone/>
            </a:pPr>
            <a:endParaRPr lang="en-US" sz="1200"/>
          </a:p>
          <a:p>
            <a:pPr lvl="1"/>
            <a:r>
              <a:rPr lang="en-US" sz="1200" b="1"/>
              <a:t>Feature: </a:t>
            </a:r>
            <a:r>
              <a:rPr lang="en-US" sz="1200"/>
              <a:t>A feature is demonstrable behavior of the product, avoid confusing them with items that are necessary to implement a feature</a:t>
            </a:r>
          </a:p>
          <a:p>
            <a:pPr lvl="1">
              <a:buFont typeface="Arial" charset="0"/>
              <a:buNone/>
            </a:pPr>
            <a:endParaRPr lang="en-US" sz="1200"/>
          </a:p>
          <a:p>
            <a:pPr>
              <a:buFont typeface="Arial" charset="0"/>
              <a:buNone/>
            </a:pPr>
            <a:r>
              <a:rPr lang="en-US" sz="1400"/>
              <a:t>	For more information: </a:t>
            </a:r>
            <a:r>
              <a:rPr lang="en-US" sz="1400">
                <a:hlinkClick r:id="rId2"/>
              </a:rPr>
              <a:t>http://www.upstarthq.com/2010/04/introduction-to-minimum-marketable-features-mmf/</a:t>
            </a:r>
            <a:endParaRPr lang="en-US" sz="1400"/>
          </a:p>
          <a:p>
            <a:pPr>
              <a:buFont typeface="Arial" charset="0"/>
              <a:buNone/>
            </a:pPr>
            <a:endParaRPr lang="en-US" sz="1400" b="1"/>
          </a:p>
        </p:txBody>
      </p:sp>
    </p:spTree>
    <p:extLst>
      <p:ext uri="{BB962C8B-B14F-4D97-AF65-F5344CB8AC3E}">
        <p14:creationId xmlns:p14="http://schemas.microsoft.com/office/powerpoint/2010/main" val="950014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z="2800"/>
              <a:t>Product Lifecycle (RUP)</a:t>
            </a:r>
          </a:p>
        </p:txBody>
      </p:sp>
      <p:sp>
        <p:nvSpPr>
          <p:cNvPr id="48131" name="Content Placeholder 2"/>
          <p:cNvSpPr>
            <a:spLocks noGrp="1"/>
          </p:cNvSpPr>
          <p:nvPr>
            <p:ph idx="1"/>
          </p:nvPr>
        </p:nvSpPr>
        <p:spPr>
          <a:xfrm>
            <a:off x="457200" y="1600201"/>
            <a:ext cx="8229600" cy="3761210"/>
          </a:xfrm>
        </p:spPr>
        <p:txBody>
          <a:bodyPr/>
          <a:lstStyle/>
          <a:p>
            <a:r>
              <a:rPr lang="en-US" sz="1400" dirty="0"/>
              <a:t>A Product Lifecycle from RUP’s perspective consists of the following phases in order:</a:t>
            </a:r>
          </a:p>
          <a:p>
            <a:pPr>
              <a:buFont typeface="Arial" charset="0"/>
              <a:buNone/>
            </a:pPr>
            <a:endParaRPr lang="en-US" sz="1400" dirty="0"/>
          </a:p>
          <a:p>
            <a:pPr lvl="1">
              <a:buFont typeface="Calibri" pitchFamily="34" charset="0"/>
              <a:buAutoNum type="arabicPeriod"/>
            </a:pPr>
            <a:r>
              <a:rPr lang="en-US" sz="1200" dirty="0"/>
              <a:t>Inception</a:t>
            </a:r>
          </a:p>
          <a:p>
            <a:pPr lvl="1">
              <a:buFont typeface="Calibri" pitchFamily="34" charset="0"/>
              <a:buAutoNum type="arabicPeriod"/>
            </a:pPr>
            <a:r>
              <a:rPr lang="en-US" sz="1200" dirty="0"/>
              <a:t>Elaboration</a:t>
            </a:r>
          </a:p>
          <a:p>
            <a:pPr lvl="1">
              <a:buFont typeface="Calibri" pitchFamily="34" charset="0"/>
              <a:buAutoNum type="arabicPeriod"/>
            </a:pPr>
            <a:r>
              <a:rPr lang="en-US" sz="1200" dirty="0"/>
              <a:t>Construction</a:t>
            </a:r>
          </a:p>
          <a:p>
            <a:pPr lvl="1">
              <a:buFont typeface="Calibri" pitchFamily="34" charset="0"/>
              <a:buAutoNum type="arabicPeriod"/>
            </a:pPr>
            <a:r>
              <a:rPr lang="en-US" sz="1200" dirty="0"/>
              <a:t>Transition </a:t>
            </a:r>
          </a:p>
          <a:p>
            <a:pPr lvl="1">
              <a:buFont typeface="Arial" charset="0"/>
              <a:buNone/>
            </a:pPr>
            <a:endParaRPr lang="en-US" sz="1200" dirty="0"/>
          </a:p>
          <a:p>
            <a:r>
              <a:rPr lang="en-US" sz="1400" dirty="0"/>
              <a:t>Different workflows falls under one or more of the above phases more often than others. For example, throughout a product’s lifecycle, Business Modeling happens mostly in the Inception phase, and dies off towards the transition stage.</a:t>
            </a:r>
          </a:p>
          <a:p>
            <a:pPr>
              <a:buFont typeface="Arial" charset="0"/>
              <a:buNone/>
            </a:pPr>
            <a:endParaRPr lang="en-US" sz="1400" dirty="0"/>
          </a:p>
          <a:p>
            <a:pPr>
              <a:buFont typeface="Arial" charset="0"/>
              <a:buNone/>
            </a:pPr>
            <a:r>
              <a:rPr lang="en-US" sz="1400" dirty="0"/>
              <a:t>For </a:t>
            </a:r>
            <a:r>
              <a:rPr lang="en-US" sz="1400" dirty="0"/>
              <a:t>more information: </a:t>
            </a:r>
            <a:r>
              <a:rPr lang="en-US" sz="1400" dirty="0">
                <a:hlinkClick r:id="rId2"/>
              </a:rPr>
              <a:t>http://www.ibm.com/developerworks/rational/library/sep05/rose/index.html</a:t>
            </a:r>
            <a:endParaRPr lang="en-US" sz="1400" dirty="0"/>
          </a:p>
        </p:txBody>
      </p:sp>
    </p:spTree>
    <p:extLst>
      <p:ext uri="{BB962C8B-B14F-4D97-AF65-F5344CB8AC3E}">
        <p14:creationId xmlns:p14="http://schemas.microsoft.com/office/powerpoint/2010/main" val="11588591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sz="2800"/>
              <a:t>Architectural Baseline</a:t>
            </a:r>
          </a:p>
        </p:txBody>
      </p:sp>
      <p:sp>
        <p:nvSpPr>
          <p:cNvPr id="71683" name="Content Placeholder 2"/>
          <p:cNvSpPr>
            <a:spLocks noGrp="1"/>
          </p:cNvSpPr>
          <p:nvPr>
            <p:ph idx="1"/>
          </p:nvPr>
        </p:nvSpPr>
        <p:spPr>
          <a:xfrm>
            <a:off x="457200" y="1600200"/>
            <a:ext cx="8229600" cy="3238444"/>
          </a:xfrm>
        </p:spPr>
        <p:txBody>
          <a:bodyPr/>
          <a:lstStyle/>
          <a:p>
            <a:r>
              <a:rPr lang="en-US" sz="1400"/>
              <a:t> The architecture baseline is a subset of the entire system. The baseline has versions of all the models that the full-fledged system has at the end of the project, including the same skeleton of subsystems, components, and nodes, but not all the musculature. However, they do have behavior, and they are executable code. The architecture baseline evolves to become the full-fledged system, perhaps with some minor changes to the structure and behavior but the changes are minor because, at the end of the elaboration or architectural iterations, we have by definition a stable architecture. The architectural baseline should be designed and built early to mitigate technical risk and prove the architecture.</a:t>
            </a:r>
          </a:p>
          <a:p>
            <a:endParaRPr lang="en-US" sz="1400"/>
          </a:p>
          <a:p>
            <a:pPr>
              <a:buFont typeface="Arial" charset="0"/>
              <a:buNone/>
            </a:pPr>
            <a:r>
              <a:rPr lang="en-US" sz="1400"/>
              <a:t>	For more information: </a:t>
            </a:r>
            <a:r>
              <a:rPr lang="en-US" sz="1400">
                <a:hlinkClick r:id="rId2"/>
              </a:rPr>
              <a:t>http://www.informit.com/articles/article.aspx?p=375542&amp;seqNum=3</a:t>
            </a:r>
            <a:endParaRPr lang="en-US" sz="1400"/>
          </a:p>
          <a:p>
            <a:endParaRPr lang="en-US" sz="1400"/>
          </a:p>
        </p:txBody>
      </p:sp>
    </p:spTree>
    <p:extLst>
      <p:ext uri="{BB962C8B-B14F-4D97-AF65-F5344CB8AC3E}">
        <p14:creationId xmlns:p14="http://schemas.microsoft.com/office/powerpoint/2010/main" val="35977241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p:txBody>
          <a:bodyPr/>
          <a:lstStyle/>
          <a:p>
            <a:r>
              <a:rPr lang="en-US" sz="2800"/>
              <a:t>Test-Driven Development (TDD)</a:t>
            </a:r>
          </a:p>
        </p:txBody>
      </p:sp>
      <p:sp>
        <p:nvSpPr>
          <p:cNvPr id="75779" name="Content Placeholder 2"/>
          <p:cNvSpPr>
            <a:spLocks noGrp="1"/>
          </p:cNvSpPr>
          <p:nvPr>
            <p:ph idx="1"/>
          </p:nvPr>
        </p:nvSpPr>
        <p:spPr>
          <a:xfrm>
            <a:off x="457200" y="1600200"/>
            <a:ext cx="8229600" cy="3021189"/>
          </a:xfrm>
        </p:spPr>
        <p:txBody>
          <a:bodyPr/>
          <a:lstStyle/>
          <a:p>
            <a:r>
              <a:rPr lang="en-US" sz="1400"/>
              <a:t>TDD is a development methodology that practices writing test cases before development, which would then drive the development of a class or piece of code. Tests are written first by the developer before any system code and the developers follows a red, green, refactor based development process. TDD is a different mind-set. It is the ‘tests’ that ‘drive’ the ‘development’, not the other way around. By writing a test case for a scenario, your test either dictates your implementation or gives you some good pointers. TDD uses small, fine-grained steps to gradually increase developer confidence, which results in larger steps downstream.</a:t>
            </a:r>
          </a:p>
          <a:p>
            <a:endParaRPr lang="en-US" sz="1400"/>
          </a:p>
          <a:p>
            <a:pPr>
              <a:buFont typeface="Arial" charset="0"/>
              <a:buNone/>
            </a:pPr>
            <a:r>
              <a:rPr lang="en-US" sz="1400"/>
              <a:t>	For more information: </a:t>
            </a:r>
            <a:r>
              <a:rPr lang="en-US" sz="1400">
                <a:hlinkClick r:id="rId2"/>
              </a:rPr>
              <a:t>http://www.methodsandtools.com/archive/archive.php?id=20</a:t>
            </a:r>
            <a:endParaRPr lang="en-US" sz="1400"/>
          </a:p>
          <a:p>
            <a:endParaRPr lang="en-US" sz="1400"/>
          </a:p>
        </p:txBody>
      </p:sp>
    </p:spTree>
    <p:extLst>
      <p:ext uri="{BB962C8B-B14F-4D97-AF65-F5344CB8AC3E}">
        <p14:creationId xmlns:p14="http://schemas.microsoft.com/office/powerpoint/2010/main" val="36527044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r>
              <a:rPr lang="en-US" sz="2800"/>
              <a:t>Acceptance Test Driven Plans</a:t>
            </a:r>
          </a:p>
        </p:txBody>
      </p:sp>
      <p:sp>
        <p:nvSpPr>
          <p:cNvPr id="89091" name="Content Placeholder 2"/>
          <p:cNvSpPr>
            <a:spLocks noGrp="1"/>
          </p:cNvSpPr>
          <p:nvPr>
            <p:ph idx="1"/>
          </p:nvPr>
        </p:nvSpPr>
        <p:spPr>
          <a:xfrm>
            <a:off x="457200" y="1600200"/>
            <a:ext cx="8229600" cy="4422025"/>
          </a:xfrm>
        </p:spPr>
        <p:txBody>
          <a:bodyPr/>
          <a:lstStyle/>
          <a:p>
            <a:r>
              <a:rPr lang="en-US" sz="1400" dirty="0"/>
              <a:t>Acceptance Test-Driven Planning is an extension of Extreme Programming Planning. During planning, the team defines acceptance tests for every work item in each iteration to drive the work that developers must develop. The planning process is supposed to take up about 10% of the time while the development effort takes 90%. It involves the following steps:</a:t>
            </a:r>
          </a:p>
          <a:p>
            <a:pPr>
              <a:buFont typeface="Arial" charset="0"/>
              <a:buNone/>
            </a:pPr>
            <a:endParaRPr lang="en-US" sz="1400" dirty="0"/>
          </a:p>
          <a:p>
            <a:pPr lvl="1">
              <a:buFont typeface="Calibri" pitchFamily="34" charset="0"/>
              <a:buAutoNum type="arabicPeriod"/>
            </a:pPr>
            <a:r>
              <a:rPr lang="en-US" sz="1200" dirty="0"/>
              <a:t>Getting the story straight</a:t>
            </a:r>
          </a:p>
          <a:p>
            <a:pPr lvl="1">
              <a:buFont typeface="Calibri" pitchFamily="34" charset="0"/>
              <a:buAutoNum type="arabicPeriod"/>
            </a:pPr>
            <a:r>
              <a:rPr lang="en-US" sz="1200" dirty="0"/>
              <a:t>Show and tell</a:t>
            </a:r>
          </a:p>
          <a:p>
            <a:pPr lvl="1">
              <a:buFont typeface="Calibri" pitchFamily="34" charset="0"/>
              <a:buAutoNum type="arabicPeriod"/>
            </a:pPr>
            <a:r>
              <a:rPr lang="en-US" sz="1200" dirty="0"/>
              <a:t>Retrospective</a:t>
            </a:r>
          </a:p>
          <a:p>
            <a:pPr lvl="1">
              <a:buFont typeface="Calibri" pitchFamily="34" charset="0"/>
              <a:buAutoNum type="arabicPeriod"/>
            </a:pPr>
            <a:r>
              <a:rPr lang="en-US" sz="1200" dirty="0"/>
              <a:t>(optional) Technical Retrospective</a:t>
            </a:r>
          </a:p>
          <a:p>
            <a:pPr lvl="1">
              <a:buFont typeface="Calibri" pitchFamily="34" charset="0"/>
              <a:buAutoNum type="arabicPeriod"/>
            </a:pPr>
            <a:r>
              <a:rPr lang="en-US" sz="1200" dirty="0"/>
              <a:t>Iteration Planning Workshop</a:t>
            </a:r>
          </a:p>
          <a:p>
            <a:pPr lvl="1">
              <a:buFont typeface="Calibri" pitchFamily="34" charset="0"/>
              <a:buAutoNum type="arabicPeriod"/>
            </a:pPr>
            <a:r>
              <a:rPr lang="en-US" sz="1200" dirty="0"/>
              <a:t>(optional) Big, up-front thinking</a:t>
            </a:r>
          </a:p>
          <a:p>
            <a:pPr lvl="1">
              <a:buFont typeface="Calibri" pitchFamily="34" charset="0"/>
              <a:buAutoNum type="arabicPeriod"/>
            </a:pPr>
            <a:r>
              <a:rPr lang="en-US" sz="1200" dirty="0"/>
              <a:t>Cutting the iteration</a:t>
            </a:r>
            <a:endParaRPr lang="en-US" sz="1400" dirty="0"/>
          </a:p>
          <a:p>
            <a:pPr>
              <a:buFont typeface="Arial" charset="0"/>
              <a:buNone/>
            </a:pPr>
            <a:endParaRPr lang="en-US" sz="1400" dirty="0"/>
          </a:p>
          <a:p>
            <a:pPr>
              <a:buFont typeface="Arial" charset="0"/>
              <a:buNone/>
            </a:pPr>
            <a:r>
              <a:rPr lang="en-US" sz="1400" dirty="0"/>
              <a:t>For </a:t>
            </a:r>
            <a:r>
              <a:rPr lang="en-US" sz="1400" dirty="0"/>
              <a:t>more information: </a:t>
            </a:r>
            <a:r>
              <a:rPr lang="en-US" sz="1400" dirty="0">
                <a:hlinkClick r:id="rId2"/>
              </a:rPr>
              <a:t>http://www.vietnamesetestingboard.org/zbxe/?document_srl=276643</a:t>
            </a:r>
            <a:endParaRPr lang="en-US" sz="1400" dirty="0"/>
          </a:p>
          <a:p>
            <a:endParaRPr lang="en-US" sz="1400" dirty="0"/>
          </a:p>
        </p:txBody>
      </p:sp>
    </p:spTree>
    <p:extLst>
      <p:ext uri="{BB962C8B-B14F-4D97-AF65-F5344CB8AC3E}">
        <p14:creationId xmlns:p14="http://schemas.microsoft.com/office/powerpoint/2010/main" val="10252717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r>
              <a:rPr lang="en-US" sz="2800"/>
              <a:t>Acceptance Test Driven Development</a:t>
            </a:r>
          </a:p>
        </p:txBody>
      </p:sp>
      <p:sp>
        <p:nvSpPr>
          <p:cNvPr id="90115" name="Content Placeholder 2"/>
          <p:cNvSpPr>
            <a:spLocks noGrp="1"/>
          </p:cNvSpPr>
          <p:nvPr>
            <p:ph idx="1"/>
          </p:nvPr>
        </p:nvSpPr>
        <p:spPr>
          <a:xfrm>
            <a:off x="457200" y="1600200"/>
            <a:ext cx="8229600" cy="2869564"/>
          </a:xfrm>
        </p:spPr>
        <p:txBody>
          <a:bodyPr/>
          <a:lstStyle/>
          <a:p>
            <a:r>
              <a:rPr lang="en-US" sz="1400"/>
              <a:t>Acceptance Test Driven Development (ATDD) is a practice in which the entire team collaboratively discusses acceptance criteria and uses real world examples to formulate a set of concrete acceptance tests before development begins. By doing ATDD, the team is able to gain a shared understanding of what is being developed and when it would be considered as done.</a:t>
            </a:r>
          </a:p>
          <a:p>
            <a:endParaRPr lang="en-US" sz="1400"/>
          </a:p>
          <a:p>
            <a:pPr>
              <a:buFont typeface="Arial" charset="0"/>
              <a:buNone/>
            </a:pPr>
            <a:r>
              <a:rPr lang="en-US" sz="1400"/>
              <a:t>	For more information: </a:t>
            </a:r>
            <a:r>
              <a:rPr lang="en-US" sz="1400">
                <a:hlinkClick r:id="rId2"/>
              </a:rPr>
              <a:t>http://en.wikipedia.org/wiki/Test-driven_development</a:t>
            </a:r>
            <a:endParaRPr lang="en-US" sz="1400"/>
          </a:p>
          <a:p>
            <a:pPr>
              <a:buFont typeface="Arial" charset="0"/>
              <a:buNone/>
            </a:pPr>
            <a:endParaRPr lang="en-US" sz="1400"/>
          </a:p>
          <a:p>
            <a:endParaRPr lang="en-US" sz="1400"/>
          </a:p>
        </p:txBody>
      </p:sp>
    </p:spTree>
    <p:extLst>
      <p:ext uri="{BB962C8B-B14F-4D97-AF65-F5344CB8AC3E}">
        <p14:creationId xmlns:p14="http://schemas.microsoft.com/office/powerpoint/2010/main" val="36441508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r>
              <a:rPr lang="en-US" sz="2800"/>
              <a:t>Stubbing Dependencies</a:t>
            </a:r>
          </a:p>
        </p:txBody>
      </p:sp>
      <p:sp>
        <p:nvSpPr>
          <p:cNvPr id="93187" name="Content Placeholder 2"/>
          <p:cNvSpPr>
            <a:spLocks noGrp="1"/>
          </p:cNvSpPr>
          <p:nvPr>
            <p:ph idx="1"/>
          </p:nvPr>
        </p:nvSpPr>
        <p:spPr>
          <a:xfrm>
            <a:off x="457200" y="1600201"/>
            <a:ext cx="8229600" cy="2369427"/>
          </a:xfrm>
        </p:spPr>
        <p:txBody>
          <a:bodyPr/>
          <a:lstStyle/>
          <a:p>
            <a:r>
              <a:rPr lang="en-US" sz="1400" dirty="0"/>
              <a:t>Stubbing dependencies is a practice of developing stubs of external systems to support continued development and enable automated builds independent of external systems. Stubs are fast to develop, ensuring that what’s needed can be completed with having to get the exact details correct before completion of a task, such as a successful build for example.</a:t>
            </a:r>
          </a:p>
          <a:p>
            <a:endParaRPr lang="en-US" sz="1400" dirty="0"/>
          </a:p>
          <a:p>
            <a:pPr>
              <a:buFont typeface="Arial" charset="0"/>
              <a:buNone/>
            </a:pPr>
            <a:r>
              <a:rPr lang="en-US" sz="1400" dirty="0"/>
              <a:t>For </a:t>
            </a:r>
            <a:r>
              <a:rPr lang="en-US" sz="1400" dirty="0"/>
              <a:t>more information: </a:t>
            </a:r>
            <a:r>
              <a:rPr lang="en-US" sz="1400" dirty="0">
                <a:hlinkClick r:id="rId2"/>
              </a:rPr>
              <a:t>http://blog.springsource.com/2007/01/15/unit-testing-with-stubs-and-mocks/</a:t>
            </a:r>
            <a:endParaRPr lang="en-US" sz="1400" dirty="0"/>
          </a:p>
          <a:p>
            <a:endParaRPr lang="en-US" sz="1400" dirty="0"/>
          </a:p>
        </p:txBody>
      </p:sp>
    </p:spTree>
    <p:extLst>
      <p:ext uri="{BB962C8B-B14F-4D97-AF65-F5344CB8AC3E}">
        <p14:creationId xmlns:p14="http://schemas.microsoft.com/office/powerpoint/2010/main" val="16210671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p:txBody>
          <a:bodyPr/>
          <a:lstStyle/>
          <a:p>
            <a:r>
              <a:rPr lang="en-US" sz="2800"/>
              <a:t>Architectural POC</a:t>
            </a:r>
          </a:p>
        </p:txBody>
      </p:sp>
      <p:sp>
        <p:nvSpPr>
          <p:cNvPr id="97283" name="Content Placeholder 2"/>
          <p:cNvSpPr>
            <a:spLocks noGrp="1"/>
          </p:cNvSpPr>
          <p:nvPr>
            <p:ph idx="1"/>
          </p:nvPr>
        </p:nvSpPr>
        <p:spPr>
          <a:xfrm>
            <a:off x="457200" y="1600200"/>
            <a:ext cx="8229600" cy="1934919"/>
          </a:xfrm>
        </p:spPr>
        <p:txBody>
          <a:bodyPr/>
          <a:lstStyle/>
          <a:p>
            <a:r>
              <a:rPr lang="en-US" sz="1400"/>
              <a:t>Architectural proof-of-concepts are development efforts based on design that is created to learn by doing and test the feasibility of uncertain architectural options.</a:t>
            </a:r>
          </a:p>
          <a:p>
            <a:endParaRPr lang="en-US" sz="1400"/>
          </a:p>
          <a:p>
            <a:pPr>
              <a:buFont typeface="Arial" charset="0"/>
              <a:buNone/>
            </a:pPr>
            <a:r>
              <a:rPr lang="en-US" sz="1400"/>
              <a:t>	For more information: </a:t>
            </a:r>
            <a:r>
              <a:rPr lang="en-US" sz="1400">
                <a:hlinkClick r:id="rId2"/>
              </a:rPr>
              <a:t>http://msdn.microsoft.com/en-us/library/cc168618.aspx</a:t>
            </a:r>
            <a:endParaRPr lang="en-US" sz="1400"/>
          </a:p>
          <a:p>
            <a:endParaRPr lang="en-US" sz="1400"/>
          </a:p>
        </p:txBody>
      </p:sp>
    </p:spTree>
    <p:extLst>
      <p:ext uri="{BB962C8B-B14F-4D97-AF65-F5344CB8AC3E}">
        <p14:creationId xmlns:p14="http://schemas.microsoft.com/office/powerpoint/2010/main" val="325938836"/>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1385</Words>
  <Application>Microsoft Office PowerPoint</Application>
  <PresentationFormat>On-screen Show (4:3)</PresentationFormat>
  <Paragraphs>180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Thème Office</vt:lpstr>
      <vt:lpstr>PowerPoint Presentation</vt:lpstr>
      <vt:lpstr>Software Architecture (RUP)</vt:lpstr>
      <vt:lpstr>Architecture Key Mechanism (RUP) </vt:lpstr>
      <vt:lpstr>4 + 1 Views (RUP)</vt:lpstr>
      <vt:lpstr>Emerging Design (Code Craftsmanship)</vt:lpstr>
      <vt:lpstr>Model Storming</vt:lpstr>
      <vt:lpstr>Agile Class and Sequence Diagrams</vt:lpstr>
      <vt:lpstr>System Metaphor</vt:lpstr>
      <vt:lpstr>Spike</vt:lpstr>
      <vt:lpstr>Class Responsibility Collaboration (CRC)</vt:lpstr>
      <vt:lpstr>Non-functional Requirements</vt:lpstr>
      <vt:lpstr>System Context Diagrams</vt:lpstr>
      <vt:lpstr>Low Fidelity UI Mockup (Agile Modeling)</vt:lpstr>
      <vt:lpstr>Features (Agile Modeling)</vt:lpstr>
      <vt:lpstr>Minimum Marketable Feature Set (Agile Modeling)</vt:lpstr>
      <vt:lpstr>Product Lifecycle (RUP)</vt:lpstr>
      <vt:lpstr>Architectural Baseline</vt:lpstr>
      <vt:lpstr>Test-Driven Development (TDD)</vt:lpstr>
      <vt:lpstr>Acceptance Test Driven Plans</vt:lpstr>
      <vt:lpstr>Acceptance Test Driven Development</vt:lpstr>
      <vt:lpstr>Stubbing Dependencies</vt:lpstr>
      <vt:lpstr>Architectural POC</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Anderson, Jeff T (CA - Toronto)</dc:creator>
  <cp:lastModifiedBy>Jeff Anderson</cp:lastModifiedBy>
  <cp:revision>1</cp:revision>
  <dcterms:created xsi:type="dcterms:W3CDTF">2014-05-25T15:39:38Z</dcterms:created>
  <dcterms:modified xsi:type="dcterms:W3CDTF">2014-05-25T15:44:51Z</dcterms:modified>
</cp:coreProperties>
</file>