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34.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3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2.xml" ContentType="application/vnd.openxmlformats-officedocument.presentationml.slide+xml"/>
  <Override PartName="/ppt/slides/slide111.xml" ContentType="application/vnd.openxmlformats-officedocument.presentationml.slide+xml"/>
  <Override PartName="/ppt/slides/slide110.xml" ContentType="application/vnd.openxmlformats-officedocument.presentationml.slide+xml"/>
  <Override PartName="/ppt/slides/slide109.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13.xml" ContentType="application/vnd.openxmlformats-officedocument.presentationml.slide+xml"/>
  <Override PartName="/ppt/slides/slide20.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90" r:id="rId2"/>
  </p:sldMasterIdLst>
  <p:notesMasterIdLst>
    <p:notesMasterId r:id="rId116"/>
  </p:notesMasterIdLst>
  <p:sldIdLst>
    <p:sldId id="271" r:id="rId3"/>
    <p:sldId id="304" r:id="rId4"/>
    <p:sldId id="298" r:id="rId5"/>
    <p:sldId id="289" r:id="rId6"/>
    <p:sldId id="290" r:id="rId7"/>
    <p:sldId id="291" r:id="rId8"/>
    <p:sldId id="292" r:id="rId9"/>
    <p:sldId id="305" r:id="rId10"/>
    <p:sldId id="299" r:id="rId11"/>
    <p:sldId id="281" r:id="rId12"/>
    <p:sldId id="283" r:id="rId13"/>
    <p:sldId id="284" r:id="rId14"/>
    <p:sldId id="285" r:id="rId15"/>
    <p:sldId id="287" r:id="rId16"/>
    <p:sldId id="306" r:id="rId17"/>
    <p:sldId id="296" r:id="rId18"/>
    <p:sldId id="297" r:id="rId19"/>
    <p:sldId id="301" r:id="rId20"/>
    <p:sldId id="300" r:id="rId21"/>
    <p:sldId id="307" r:id="rId22"/>
    <p:sldId id="308" r:id="rId23"/>
    <p:sldId id="309" r:id="rId24"/>
    <p:sldId id="310" r:id="rId25"/>
    <p:sldId id="311" r:id="rId26"/>
    <p:sldId id="312"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2" r:id="rId47"/>
    <p:sldId id="333" r:id="rId48"/>
    <p:sldId id="334" r:id="rId49"/>
    <p:sldId id="335" r:id="rId50"/>
    <p:sldId id="336" r:id="rId51"/>
    <p:sldId id="337" r:id="rId52"/>
    <p:sldId id="338" r:id="rId53"/>
    <p:sldId id="339" r:id="rId54"/>
    <p:sldId id="340" r:id="rId55"/>
    <p:sldId id="341" r:id="rId56"/>
    <p:sldId id="342" r:id="rId57"/>
    <p:sldId id="343" r:id="rId58"/>
    <p:sldId id="344" r:id="rId59"/>
    <p:sldId id="345" r:id="rId60"/>
    <p:sldId id="346" r:id="rId61"/>
    <p:sldId id="347" r:id="rId62"/>
    <p:sldId id="348" r:id="rId63"/>
    <p:sldId id="349" r:id="rId64"/>
    <p:sldId id="350" r:id="rId65"/>
    <p:sldId id="351" r:id="rId66"/>
    <p:sldId id="352" r:id="rId67"/>
    <p:sldId id="353" r:id="rId68"/>
    <p:sldId id="354" r:id="rId69"/>
    <p:sldId id="355" r:id="rId70"/>
    <p:sldId id="356" r:id="rId71"/>
    <p:sldId id="357" r:id="rId72"/>
    <p:sldId id="358" r:id="rId73"/>
    <p:sldId id="359" r:id="rId74"/>
    <p:sldId id="360" r:id="rId75"/>
    <p:sldId id="361" r:id="rId76"/>
    <p:sldId id="362" r:id="rId77"/>
    <p:sldId id="363" r:id="rId78"/>
    <p:sldId id="364" r:id="rId79"/>
    <p:sldId id="365" r:id="rId80"/>
    <p:sldId id="366" r:id="rId81"/>
    <p:sldId id="367" r:id="rId82"/>
    <p:sldId id="368" r:id="rId83"/>
    <p:sldId id="369" r:id="rId84"/>
    <p:sldId id="370" r:id="rId85"/>
    <p:sldId id="371" r:id="rId86"/>
    <p:sldId id="372" r:id="rId87"/>
    <p:sldId id="373" r:id="rId88"/>
    <p:sldId id="374" r:id="rId89"/>
    <p:sldId id="375" r:id="rId90"/>
    <p:sldId id="376" r:id="rId91"/>
    <p:sldId id="377" r:id="rId92"/>
    <p:sldId id="378" r:id="rId93"/>
    <p:sldId id="379" r:id="rId94"/>
    <p:sldId id="380" r:id="rId95"/>
    <p:sldId id="381" r:id="rId96"/>
    <p:sldId id="382" r:id="rId97"/>
    <p:sldId id="383" r:id="rId98"/>
    <p:sldId id="384" r:id="rId99"/>
    <p:sldId id="385" r:id="rId100"/>
    <p:sldId id="386" r:id="rId101"/>
    <p:sldId id="387" r:id="rId102"/>
    <p:sldId id="388" r:id="rId103"/>
    <p:sldId id="389" r:id="rId104"/>
    <p:sldId id="390" r:id="rId105"/>
    <p:sldId id="391" r:id="rId106"/>
    <p:sldId id="392" r:id="rId107"/>
    <p:sldId id="393" r:id="rId108"/>
    <p:sldId id="394" r:id="rId109"/>
    <p:sldId id="395" r:id="rId110"/>
    <p:sldId id="396" r:id="rId111"/>
    <p:sldId id="397" r:id="rId112"/>
    <p:sldId id="398" r:id="rId113"/>
    <p:sldId id="399" r:id="rId114"/>
    <p:sldId id="400" r:id="rId115"/>
  </p:sldIdLst>
  <p:sldSz cx="10058400" cy="7772400"/>
  <p:notesSz cx="6858000" cy="9144000"/>
  <p:defaultTextStyle>
    <a:defPPr>
      <a:defRPr lang="en-US"/>
    </a:defPPr>
    <a:lvl1pPr marL="0" algn="l" defTabSz="1018228" rtl="0" eaLnBrk="1" latinLnBrk="0" hangingPunct="1">
      <a:defRPr sz="2000" kern="1200">
        <a:solidFill>
          <a:schemeClr val="tx1"/>
        </a:solidFill>
        <a:latin typeface="+mn-lt"/>
        <a:ea typeface="+mn-ea"/>
        <a:cs typeface="+mn-cs"/>
      </a:defRPr>
    </a:lvl1pPr>
    <a:lvl2pPr marL="509115" algn="l" defTabSz="1018228" rtl="0" eaLnBrk="1" latinLnBrk="0" hangingPunct="1">
      <a:defRPr sz="2000" kern="1200">
        <a:solidFill>
          <a:schemeClr val="tx1"/>
        </a:solidFill>
        <a:latin typeface="+mn-lt"/>
        <a:ea typeface="+mn-ea"/>
        <a:cs typeface="+mn-cs"/>
      </a:defRPr>
    </a:lvl2pPr>
    <a:lvl3pPr marL="1018228" algn="l" defTabSz="1018228" rtl="0" eaLnBrk="1" latinLnBrk="0" hangingPunct="1">
      <a:defRPr sz="2000" kern="1200">
        <a:solidFill>
          <a:schemeClr val="tx1"/>
        </a:solidFill>
        <a:latin typeface="+mn-lt"/>
        <a:ea typeface="+mn-ea"/>
        <a:cs typeface="+mn-cs"/>
      </a:defRPr>
    </a:lvl3pPr>
    <a:lvl4pPr marL="1527344" algn="l" defTabSz="1018228" rtl="0" eaLnBrk="1" latinLnBrk="0" hangingPunct="1">
      <a:defRPr sz="2000" kern="1200">
        <a:solidFill>
          <a:schemeClr val="tx1"/>
        </a:solidFill>
        <a:latin typeface="+mn-lt"/>
        <a:ea typeface="+mn-ea"/>
        <a:cs typeface="+mn-cs"/>
      </a:defRPr>
    </a:lvl4pPr>
    <a:lvl5pPr marL="2036458" algn="l" defTabSz="1018228" rtl="0" eaLnBrk="1" latinLnBrk="0" hangingPunct="1">
      <a:defRPr sz="2000" kern="1200">
        <a:solidFill>
          <a:schemeClr val="tx1"/>
        </a:solidFill>
        <a:latin typeface="+mn-lt"/>
        <a:ea typeface="+mn-ea"/>
        <a:cs typeface="+mn-cs"/>
      </a:defRPr>
    </a:lvl5pPr>
    <a:lvl6pPr marL="2545574" algn="l" defTabSz="1018228" rtl="0" eaLnBrk="1" latinLnBrk="0" hangingPunct="1">
      <a:defRPr sz="2000" kern="1200">
        <a:solidFill>
          <a:schemeClr val="tx1"/>
        </a:solidFill>
        <a:latin typeface="+mn-lt"/>
        <a:ea typeface="+mn-ea"/>
        <a:cs typeface="+mn-cs"/>
      </a:defRPr>
    </a:lvl6pPr>
    <a:lvl7pPr marL="3054686" algn="l" defTabSz="1018228" rtl="0" eaLnBrk="1" latinLnBrk="0" hangingPunct="1">
      <a:defRPr sz="2000" kern="1200">
        <a:solidFill>
          <a:schemeClr val="tx1"/>
        </a:solidFill>
        <a:latin typeface="+mn-lt"/>
        <a:ea typeface="+mn-ea"/>
        <a:cs typeface="+mn-cs"/>
      </a:defRPr>
    </a:lvl7pPr>
    <a:lvl8pPr marL="3563802" algn="l" defTabSz="1018228" rtl="0" eaLnBrk="1" latinLnBrk="0" hangingPunct="1">
      <a:defRPr sz="2000" kern="1200">
        <a:solidFill>
          <a:schemeClr val="tx1"/>
        </a:solidFill>
        <a:latin typeface="+mn-lt"/>
        <a:ea typeface="+mn-ea"/>
        <a:cs typeface="+mn-cs"/>
      </a:defRPr>
    </a:lvl8pPr>
    <a:lvl9pPr marL="4072914" algn="l" defTabSz="1018228" rtl="0" eaLnBrk="1" latinLnBrk="0" hangingPunct="1">
      <a:defRPr sz="20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6691C6"/>
    <a:srgbClr val="009999"/>
    <a:srgbClr val="80CCCC"/>
    <a:srgbClr val="003399"/>
    <a:srgbClr val="99CC33"/>
    <a:srgbClr val="FF9900"/>
    <a:srgbClr val="C18835"/>
    <a:srgbClr val="CC7432"/>
    <a:srgbClr val="8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24" autoAdjust="0"/>
    <p:restoredTop sz="94671" autoAdjust="0"/>
  </p:normalViewPr>
  <p:slideViewPr>
    <p:cSldViewPr>
      <p:cViewPr>
        <p:scale>
          <a:sx n="66" d="100"/>
          <a:sy n="66" d="100"/>
        </p:scale>
        <p:origin x="-1452" y="18"/>
      </p:cViewPr>
      <p:guideLst>
        <p:guide orient="horz" pos="2448"/>
        <p:guide pos="3168"/>
      </p:guideLst>
    </p:cSldViewPr>
  </p:slideViewPr>
  <p:notesTextViewPr>
    <p:cViewPr>
      <p:scale>
        <a:sx n="66" d="100"/>
        <a:sy n="66"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presProps" Target="pres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customXml" Target="../customXml/item3.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heme" Target="theme/theme1.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customXml" Target="../customXml/item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1BFAF0-7A87-4082-BC9D-2FA963C40737}" type="datetimeFigureOut">
              <a:rPr lang="en-US" smtClean="0"/>
              <a:t>2/6/2012</a:t>
            </a:fld>
            <a:endParaRPr lang="en-US" dirty="0"/>
          </a:p>
        </p:txBody>
      </p:sp>
      <p:sp>
        <p:nvSpPr>
          <p:cNvPr id="4" name="Slide Image Placeholder 3"/>
          <p:cNvSpPr>
            <a:spLocks noGrp="1" noRot="1" noChangeAspect="1"/>
          </p:cNvSpPr>
          <p:nvPr>
            <p:ph type="sldImg" idx="2"/>
          </p:nvPr>
        </p:nvSpPr>
        <p:spPr>
          <a:xfrm>
            <a:off x="1209675" y="685800"/>
            <a:ext cx="443865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0C746D-C835-4AFF-B586-E22D1F615E54}" type="slidenum">
              <a:rPr lang="en-US" smtClean="0"/>
              <a:t>‹#›</a:t>
            </a:fld>
            <a:endParaRPr lang="en-US" dirty="0"/>
          </a:p>
        </p:txBody>
      </p:sp>
    </p:spTree>
    <p:extLst>
      <p:ext uri="{BB962C8B-B14F-4D97-AF65-F5344CB8AC3E}">
        <p14:creationId xmlns:p14="http://schemas.microsoft.com/office/powerpoint/2010/main" val="2581404372"/>
      </p:ext>
    </p:extLst>
  </p:cSld>
  <p:clrMap bg1="lt1" tx1="dk1" bg2="lt2" tx2="dk2" accent1="accent1" accent2="accent2" accent3="accent3" accent4="accent4" accent5="accent5" accent6="accent6" hlink="hlink" folHlink="folHlink"/>
  <p:notesStyle>
    <a:lvl1pPr marL="0" algn="l" defTabSz="913866" rtl="0" eaLnBrk="1" latinLnBrk="0" hangingPunct="1">
      <a:defRPr sz="1200" kern="1200">
        <a:solidFill>
          <a:schemeClr val="tx1"/>
        </a:solidFill>
        <a:latin typeface="+mn-lt"/>
        <a:ea typeface="+mn-ea"/>
        <a:cs typeface="+mn-cs"/>
      </a:defRPr>
    </a:lvl1pPr>
    <a:lvl2pPr marL="456932" algn="l" defTabSz="913866" rtl="0" eaLnBrk="1" latinLnBrk="0" hangingPunct="1">
      <a:defRPr sz="1200" kern="1200">
        <a:solidFill>
          <a:schemeClr val="tx1"/>
        </a:solidFill>
        <a:latin typeface="+mn-lt"/>
        <a:ea typeface="+mn-ea"/>
        <a:cs typeface="+mn-cs"/>
      </a:defRPr>
    </a:lvl2pPr>
    <a:lvl3pPr marL="913866" algn="l" defTabSz="913866" rtl="0" eaLnBrk="1" latinLnBrk="0" hangingPunct="1">
      <a:defRPr sz="1200" kern="1200">
        <a:solidFill>
          <a:schemeClr val="tx1"/>
        </a:solidFill>
        <a:latin typeface="+mn-lt"/>
        <a:ea typeface="+mn-ea"/>
        <a:cs typeface="+mn-cs"/>
      </a:defRPr>
    </a:lvl3pPr>
    <a:lvl4pPr marL="1370798" algn="l" defTabSz="913866" rtl="0" eaLnBrk="1" latinLnBrk="0" hangingPunct="1">
      <a:defRPr sz="1200" kern="1200">
        <a:solidFill>
          <a:schemeClr val="tx1"/>
        </a:solidFill>
        <a:latin typeface="+mn-lt"/>
        <a:ea typeface="+mn-ea"/>
        <a:cs typeface="+mn-cs"/>
      </a:defRPr>
    </a:lvl4pPr>
    <a:lvl5pPr marL="1827730" algn="l" defTabSz="913866" rtl="0" eaLnBrk="1" latinLnBrk="0" hangingPunct="1">
      <a:defRPr sz="1200" kern="1200">
        <a:solidFill>
          <a:schemeClr val="tx1"/>
        </a:solidFill>
        <a:latin typeface="+mn-lt"/>
        <a:ea typeface="+mn-ea"/>
        <a:cs typeface="+mn-cs"/>
      </a:defRPr>
    </a:lvl5pPr>
    <a:lvl6pPr marL="2284663" algn="l" defTabSz="913866" rtl="0" eaLnBrk="1" latinLnBrk="0" hangingPunct="1">
      <a:defRPr sz="1200" kern="1200">
        <a:solidFill>
          <a:schemeClr val="tx1"/>
        </a:solidFill>
        <a:latin typeface="+mn-lt"/>
        <a:ea typeface="+mn-ea"/>
        <a:cs typeface="+mn-cs"/>
      </a:defRPr>
    </a:lvl6pPr>
    <a:lvl7pPr marL="2741597" algn="l" defTabSz="913866" rtl="0" eaLnBrk="1" latinLnBrk="0" hangingPunct="1">
      <a:defRPr sz="1200" kern="1200">
        <a:solidFill>
          <a:schemeClr val="tx1"/>
        </a:solidFill>
        <a:latin typeface="+mn-lt"/>
        <a:ea typeface="+mn-ea"/>
        <a:cs typeface="+mn-cs"/>
      </a:defRPr>
    </a:lvl7pPr>
    <a:lvl8pPr marL="3198529" algn="l" defTabSz="913866" rtl="0" eaLnBrk="1" latinLnBrk="0" hangingPunct="1">
      <a:defRPr sz="1200" kern="1200">
        <a:solidFill>
          <a:schemeClr val="tx1"/>
        </a:solidFill>
        <a:latin typeface="+mn-lt"/>
        <a:ea typeface="+mn-ea"/>
        <a:cs typeface="+mn-cs"/>
      </a:defRPr>
    </a:lvl8pPr>
    <a:lvl9pPr marL="3655462" algn="l" defTabSz="91386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8A95ECC-C95E-4002-86C8-CBE24D413E64}" type="slidenum">
              <a:rPr lang="en-CA" smtClean="0">
                <a:solidFill>
                  <a:prstClr val="black"/>
                </a:solidFill>
              </a:rPr>
              <a:pPr>
                <a:defRPr/>
              </a:pPr>
              <a:t>3</a:t>
            </a:fld>
            <a:endParaRPr lang="en-CA" dirty="0">
              <a:solidFill>
                <a:prstClr val="black"/>
              </a:solidFill>
            </a:endParaRPr>
          </a:p>
        </p:txBody>
      </p:sp>
    </p:spTree>
    <p:extLst>
      <p:ext uri="{BB962C8B-B14F-4D97-AF65-F5344CB8AC3E}">
        <p14:creationId xmlns:p14="http://schemas.microsoft.com/office/powerpoint/2010/main" val="3418301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8A95ECC-C95E-4002-86C8-CBE24D413E64}" type="slidenum">
              <a:rPr lang="en-CA" smtClean="0">
                <a:solidFill>
                  <a:prstClr val="black"/>
                </a:solidFill>
              </a:rPr>
              <a:pPr>
                <a:defRPr/>
              </a:pPr>
              <a:t>4</a:t>
            </a:fld>
            <a:endParaRPr lang="en-CA" dirty="0">
              <a:solidFill>
                <a:prstClr val="black"/>
              </a:solidFill>
            </a:endParaRPr>
          </a:p>
        </p:txBody>
      </p:sp>
    </p:spTree>
    <p:extLst>
      <p:ext uri="{BB962C8B-B14F-4D97-AF65-F5344CB8AC3E}">
        <p14:creationId xmlns:p14="http://schemas.microsoft.com/office/powerpoint/2010/main" val="3418301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8A95ECC-C95E-4002-86C8-CBE24D413E64}" type="slidenum">
              <a:rPr lang="en-CA" smtClean="0">
                <a:solidFill>
                  <a:prstClr val="black"/>
                </a:solidFill>
              </a:rPr>
              <a:pPr>
                <a:defRPr/>
              </a:pPr>
              <a:t>6</a:t>
            </a:fld>
            <a:endParaRPr lang="en-CA" dirty="0">
              <a:solidFill>
                <a:prstClr val="black"/>
              </a:solidFill>
            </a:endParaRPr>
          </a:p>
        </p:txBody>
      </p:sp>
    </p:spTree>
    <p:extLst>
      <p:ext uri="{BB962C8B-B14F-4D97-AF65-F5344CB8AC3E}">
        <p14:creationId xmlns:p14="http://schemas.microsoft.com/office/powerpoint/2010/main" val="3418301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8A95ECC-C95E-4002-86C8-CBE24D413E64}" type="slidenum">
              <a:rPr lang="en-CA" smtClean="0">
                <a:solidFill>
                  <a:prstClr val="black"/>
                </a:solidFill>
              </a:rPr>
              <a:pPr>
                <a:defRPr/>
              </a:pPr>
              <a:t>7</a:t>
            </a:fld>
            <a:endParaRPr lang="en-CA" dirty="0">
              <a:solidFill>
                <a:prstClr val="black"/>
              </a:solidFill>
            </a:endParaRPr>
          </a:p>
        </p:txBody>
      </p:sp>
    </p:spTree>
    <p:extLst>
      <p:ext uri="{BB962C8B-B14F-4D97-AF65-F5344CB8AC3E}">
        <p14:creationId xmlns:p14="http://schemas.microsoft.com/office/powerpoint/2010/main" val="40595632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DEL_C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981392" y="6824243"/>
            <a:ext cx="1608297" cy="30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gray">
          <a:xfrm>
            <a:off x="644367" y="879798"/>
            <a:ext cx="8769668" cy="5435282"/>
          </a:xfrm>
          <a:prstGeom prst="rect">
            <a:avLst/>
          </a:prstGeom>
          <a:solidFill>
            <a:schemeClr val="bg1"/>
          </a:solidFill>
          <a:ln w="1905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00219" tIns="100219" rIns="100219" bIns="100219" anchor="ctr"/>
          <a:lstStyle/>
          <a:p>
            <a:pPr marL="132582" indent="-132582" defTabSz="913866" eaLnBrk="0" fontAlgn="base" hangingPunct="0">
              <a:spcBef>
                <a:spcPct val="50000"/>
              </a:spcBef>
              <a:spcAft>
                <a:spcPct val="0"/>
              </a:spcAft>
            </a:pPr>
            <a:endParaRPr lang="en-US" sz="1200" b="1" dirty="0" smtClean="0">
              <a:solidFill>
                <a:srgbClr val="000000"/>
              </a:solidFill>
            </a:endParaRPr>
          </a:p>
        </p:txBody>
      </p:sp>
      <p:sp>
        <p:nvSpPr>
          <p:cNvPr id="7172" name="Rectangle 4"/>
          <p:cNvSpPr>
            <a:spLocks noGrp="1" noChangeArrowheads="1"/>
          </p:cNvSpPr>
          <p:nvPr>
            <p:ph type="ctrTitle" sz="quarter"/>
          </p:nvPr>
        </p:nvSpPr>
        <p:spPr>
          <a:xfrm>
            <a:off x="981398" y="3054985"/>
            <a:ext cx="7239953" cy="622512"/>
          </a:xfrm>
          <a:extLst>
            <a:ext uri="{91240B29-F687-4F45-9708-019B960494DF}">
              <a14:hiddenLine xmlns:a14="http://schemas.microsoft.com/office/drawing/2010/main" w="9525" algn="ctr">
                <a:solidFill>
                  <a:schemeClr val="tx1"/>
                </a:solidFill>
                <a:miter lim="800000"/>
                <a:headEnd/>
                <a:tailEnd/>
              </a14:hiddenLine>
            </a:ext>
          </a:extLst>
        </p:spPr>
        <p:txBody>
          <a:bodyPr/>
          <a:lstStyle>
            <a:lvl1pPr>
              <a:lnSpc>
                <a:spcPts val="3562"/>
              </a:lnSpc>
              <a:spcBef>
                <a:spcPct val="100000"/>
              </a:spcBef>
              <a:buClr>
                <a:schemeClr val="tx2"/>
              </a:buClr>
              <a:buSzPct val="85000"/>
              <a:buFont typeface="Wingdings" pitchFamily="2" charset="2"/>
              <a:buNone/>
              <a:defRPr sz="3100"/>
            </a:lvl1pPr>
          </a:lstStyle>
          <a:p>
            <a:pPr lvl="0"/>
            <a:r>
              <a:rPr lang="en-US" noProof="0" smtClean="0"/>
              <a:t>Click to edit Mast</a:t>
            </a:r>
            <a:br>
              <a:rPr lang="en-US" noProof="0" smtClean="0"/>
            </a:br>
            <a:r>
              <a:rPr lang="en-US" noProof="0" smtClean="0"/>
              <a:t>er title style</a:t>
            </a:r>
          </a:p>
        </p:txBody>
      </p:sp>
      <p:sp>
        <p:nvSpPr>
          <p:cNvPr id="7173" name="Rectangle 5"/>
          <p:cNvSpPr>
            <a:spLocks noGrp="1" noChangeArrowheads="1"/>
          </p:cNvSpPr>
          <p:nvPr>
            <p:ph type="subTitle" sz="quarter" idx="1"/>
          </p:nvPr>
        </p:nvSpPr>
        <p:spPr>
          <a:xfrm>
            <a:off x="981399" y="3985161"/>
            <a:ext cx="7241699" cy="498369"/>
          </a:xfrm>
          <a:extLst>
            <a:ext uri="{91240B29-F687-4F45-9708-019B960494DF}">
              <a14:hiddenLine xmlns:a14="http://schemas.microsoft.com/office/drawing/2010/main" w="9525">
                <a:solidFill>
                  <a:schemeClr val="tx1"/>
                </a:solidFill>
                <a:miter lim="800000"/>
                <a:headEnd/>
                <a:tailEnd/>
              </a14:hiddenLine>
            </a:ext>
          </a:extLst>
        </p:spPr>
        <p:txBody>
          <a:bodyPr/>
          <a:lstStyle>
            <a:lvl1pPr>
              <a:lnSpc>
                <a:spcPts val="2674"/>
              </a:lnSpc>
              <a:spcBef>
                <a:spcPct val="15000"/>
              </a:spcBef>
              <a:buClrTx/>
              <a:defRPr sz="2200" b="1"/>
            </a:lvl1pPr>
          </a:lstStyle>
          <a:p>
            <a:pPr lvl="0"/>
            <a:r>
              <a:rPr lang="en-US" noProof="0" smtClean="0"/>
              <a:t>Click to edit Master subtitle style</a:t>
            </a:r>
          </a:p>
        </p:txBody>
      </p:sp>
    </p:spTree>
    <p:extLst>
      <p:ext uri="{BB962C8B-B14F-4D97-AF65-F5344CB8AC3E}">
        <p14:creationId xmlns:p14="http://schemas.microsoft.com/office/powerpoint/2010/main" val="139308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08485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3"/>
            <a:ext cx="8549640" cy="1543685"/>
          </a:xfrm>
        </p:spPr>
        <p:txBody>
          <a:bodyPr anchor="t"/>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75"/>
            <a:ext cx="8549640" cy="1700212"/>
          </a:xfrm>
        </p:spPr>
        <p:txBody>
          <a:bodyPr anchor="b"/>
          <a:lstStyle>
            <a:lvl1pPr marL="0" indent="0">
              <a:buNone/>
              <a:defRPr sz="2200"/>
            </a:lvl1pPr>
            <a:lvl2pPr marL="509115" indent="0">
              <a:buNone/>
              <a:defRPr sz="2000"/>
            </a:lvl2pPr>
            <a:lvl3pPr marL="1018228" indent="0">
              <a:buNone/>
              <a:defRPr sz="1800"/>
            </a:lvl3pPr>
            <a:lvl4pPr marL="1527344" indent="0">
              <a:buNone/>
              <a:defRPr sz="1600"/>
            </a:lvl4pPr>
            <a:lvl5pPr marL="2036458" indent="0">
              <a:buNone/>
              <a:defRPr sz="1600"/>
            </a:lvl5pPr>
            <a:lvl6pPr marL="2545574" indent="0">
              <a:buNone/>
              <a:defRPr sz="1600"/>
            </a:lvl6pPr>
            <a:lvl7pPr marL="3054686" indent="0">
              <a:buNone/>
              <a:defRPr sz="1600"/>
            </a:lvl7pPr>
            <a:lvl8pPr marL="3563802" indent="0">
              <a:buNone/>
              <a:defRPr sz="1600"/>
            </a:lvl8pPr>
            <a:lvl9pPr marL="4072914" indent="0">
              <a:buNone/>
              <a:defRPr sz="1600"/>
            </a:lvl9pPr>
          </a:lstStyle>
          <a:p>
            <a:pPr lvl="0"/>
            <a:r>
              <a:rPr lang="en-US" smtClean="0"/>
              <a:t>Click to edit Master text styles</a:t>
            </a:r>
          </a:p>
        </p:txBody>
      </p:sp>
    </p:spTree>
    <p:extLst>
      <p:ext uri="{BB962C8B-B14F-4D97-AF65-F5344CB8AC3E}">
        <p14:creationId xmlns:p14="http://schemas.microsoft.com/office/powerpoint/2010/main" val="1705495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19104" y="1295406"/>
            <a:ext cx="4501833" cy="582030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88578" y="1295406"/>
            <a:ext cx="4501833" cy="582030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1773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311256"/>
            <a:ext cx="9052560" cy="12954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2921" y="1739795"/>
            <a:ext cx="4444207" cy="725064"/>
          </a:xfrm>
        </p:spPr>
        <p:txBody>
          <a:bodyPr anchor="b"/>
          <a:lstStyle>
            <a:lvl1pPr marL="0" indent="0">
              <a:buNone/>
              <a:defRPr sz="2700" b="1"/>
            </a:lvl1pPr>
            <a:lvl2pPr marL="509115" indent="0">
              <a:buNone/>
              <a:defRPr sz="2200" b="1"/>
            </a:lvl2pPr>
            <a:lvl3pPr marL="1018228" indent="0">
              <a:buNone/>
              <a:defRPr sz="2000" b="1"/>
            </a:lvl3pPr>
            <a:lvl4pPr marL="1527344" indent="0">
              <a:buNone/>
              <a:defRPr sz="1800" b="1"/>
            </a:lvl4pPr>
            <a:lvl5pPr marL="2036458" indent="0">
              <a:buNone/>
              <a:defRPr sz="1800" b="1"/>
            </a:lvl5pPr>
            <a:lvl6pPr marL="2545574" indent="0">
              <a:buNone/>
              <a:defRPr sz="1800" b="1"/>
            </a:lvl6pPr>
            <a:lvl7pPr marL="3054686" indent="0">
              <a:buNone/>
              <a:defRPr sz="1800" b="1"/>
            </a:lvl7pPr>
            <a:lvl8pPr marL="3563802" indent="0">
              <a:buNone/>
              <a:defRPr sz="1800" b="1"/>
            </a:lvl8pPr>
            <a:lvl9pPr marL="4072914"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2921" y="2464859"/>
            <a:ext cx="4444207"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09533" y="1739795"/>
            <a:ext cx="4445953" cy="725064"/>
          </a:xfrm>
        </p:spPr>
        <p:txBody>
          <a:bodyPr anchor="b"/>
          <a:lstStyle>
            <a:lvl1pPr marL="0" indent="0">
              <a:buNone/>
              <a:defRPr sz="2700" b="1"/>
            </a:lvl1pPr>
            <a:lvl2pPr marL="509115" indent="0">
              <a:buNone/>
              <a:defRPr sz="2200" b="1"/>
            </a:lvl2pPr>
            <a:lvl3pPr marL="1018228" indent="0">
              <a:buNone/>
              <a:defRPr sz="2000" b="1"/>
            </a:lvl3pPr>
            <a:lvl4pPr marL="1527344" indent="0">
              <a:buNone/>
              <a:defRPr sz="1800" b="1"/>
            </a:lvl4pPr>
            <a:lvl5pPr marL="2036458" indent="0">
              <a:buNone/>
              <a:defRPr sz="1800" b="1"/>
            </a:lvl5pPr>
            <a:lvl6pPr marL="2545574" indent="0">
              <a:buNone/>
              <a:defRPr sz="1800" b="1"/>
            </a:lvl6pPr>
            <a:lvl7pPr marL="3054686" indent="0">
              <a:buNone/>
              <a:defRPr sz="1800" b="1"/>
            </a:lvl7pPr>
            <a:lvl8pPr marL="3563802" indent="0">
              <a:buNone/>
              <a:defRPr sz="1800" b="1"/>
            </a:lvl8pPr>
            <a:lvl9pPr marL="4072914"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09533" y="2464859"/>
            <a:ext cx="4445953"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73134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50590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263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2925" y="309457"/>
            <a:ext cx="3309144" cy="1316990"/>
          </a:xfrm>
        </p:spPr>
        <p:txBody>
          <a:bodyPr/>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32555" y="309457"/>
            <a:ext cx="5622925" cy="663352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2925" y="1626447"/>
            <a:ext cx="3309144" cy="5316538"/>
          </a:xfrm>
        </p:spPr>
        <p:txBody>
          <a:bodyPr/>
          <a:lstStyle>
            <a:lvl1pPr marL="0" indent="0">
              <a:buNone/>
              <a:defRPr sz="1600"/>
            </a:lvl1pPr>
            <a:lvl2pPr marL="509115" indent="0">
              <a:buNone/>
              <a:defRPr sz="1300"/>
            </a:lvl2pPr>
            <a:lvl3pPr marL="1018228" indent="0">
              <a:buNone/>
              <a:defRPr sz="1100"/>
            </a:lvl3pPr>
            <a:lvl4pPr marL="1527344" indent="0">
              <a:buNone/>
              <a:defRPr sz="1000"/>
            </a:lvl4pPr>
            <a:lvl5pPr marL="2036458" indent="0">
              <a:buNone/>
              <a:defRPr sz="1000"/>
            </a:lvl5pPr>
            <a:lvl6pPr marL="2545574" indent="0">
              <a:buNone/>
              <a:defRPr sz="1000"/>
            </a:lvl6pPr>
            <a:lvl7pPr marL="3054686" indent="0">
              <a:buNone/>
              <a:defRPr sz="1000"/>
            </a:lvl7pPr>
            <a:lvl8pPr marL="3563802" indent="0">
              <a:buNone/>
              <a:defRPr sz="1000"/>
            </a:lvl8pPr>
            <a:lvl9pPr marL="4072914" indent="0">
              <a:buNone/>
              <a:defRPr sz="1000"/>
            </a:lvl9pPr>
          </a:lstStyle>
          <a:p>
            <a:pPr lvl="0"/>
            <a:r>
              <a:rPr lang="en-US" smtClean="0"/>
              <a:t>Click to edit Master text styles</a:t>
            </a:r>
          </a:p>
        </p:txBody>
      </p:sp>
    </p:spTree>
    <p:extLst>
      <p:ext uri="{BB962C8B-B14F-4D97-AF65-F5344CB8AC3E}">
        <p14:creationId xmlns:p14="http://schemas.microsoft.com/office/powerpoint/2010/main" val="4317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517" y="5440680"/>
            <a:ext cx="6035040" cy="642303"/>
          </a:xfrm>
        </p:spPr>
        <p:txBody>
          <a:bodyPr/>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71517" y="694478"/>
            <a:ext cx="6035040" cy="4663440"/>
          </a:xfrm>
        </p:spPr>
        <p:txBody>
          <a:bodyPr/>
          <a:lstStyle>
            <a:lvl1pPr marL="0" indent="0">
              <a:buNone/>
              <a:defRPr sz="3600"/>
            </a:lvl1pPr>
            <a:lvl2pPr marL="509115" indent="0">
              <a:buNone/>
              <a:defRPr sz="3100"/>
            </a:lvl2pPr>
            <a:lvl3pPr marL="1018228" indent="0">
              <a:buNone/>
              <a:defRPr sz="2700"/>
            </a:lvl3pPr>
            <a:lvl4pPr marL="1527344" indent="0">
              <a:buNone/>
              <a:defRPr sz="2200"/>
            </a:lvl4pPr>
            <a:lvl5pPr marL="2036458" indent="0">
              <a:buNone/>
              <a:defRPr sz="2200"/>
            </a:lvl5pPr>
            <a:lvl6pPr marL="2545574" indent="0">
              <a:buNone/>
              <a:defRPr sz="2200"/>
            </a:lvl6pPr>
            <a:lvl7pPr marL="3054686" indent="0">
              <a:buNone/>
              <a:defRPr sz="2200"/>
            </a:lvl7pPr>
            <a:lvl8pPr marL="3563802" indent="0">
              <a:buNone/>
              <a:defRPr sz="2200"/>
            </a:lvl8pPr>
            <a:lvl9pPr marL="4072914" indent="0">
              <a:buNone/>
              <a:defRPr sz="2200"/>
            </a:lvl9pPr>
          </a:lstStyle>
          <a:p>
            <a:pPr lvl="0"/>
            <a:endParaRPr lang="en-US" noProof="0" dirty="0" smtClean="0"/>
          </a:p>
        </p:txBody>
      </p:sp>
      <p:sp>
        <p:nvSpPr>
          <p:cNvPr id="4" name="Text Placeholder 3"/>
          <p:cNvSpPr>
            <a:spLocks noGrp="1"/>
          </p:cNvSpPr>
          <p:nvPr>
            <p:ph type="body" sz="half" idx="2"/>
          </p:nvPr>
        </p:nvSpPr>
        <p:spPr>
          <a:xfrm>
            <a:off x="1971517" y="6082983"/>
            <a:ext cx="6035040" cy="912177"/>
          </a:xfrm>
        </p:spPr>
        <p:txBody>
          <a:bodyPr/>
          <a:lstStyle>
            <a:lvl1pPr marL="0" indent="0">
              <a:buNone/>
              <a:defRPr sz="1600"/>
            </a:lvl1pPr>
            <a:lvl2pPr marL="509115" indent="0">
              <a:buNone/>
              <a:defRPr sz="1300"/>
            </a:lvl2pPr>
            <a:lvl3pPr marL="1018228" indent="0">
              <a:buNone/>
              <a:defRPr sz="1100"/>
            </a:lvl3pPr>
            <a:lvl4pPr marL="1527344" indent="0">
              <a:buNone/>
              <a:defRPr sz="1000"/>
            </a:lvl4pPr>
            <a:lvl5pPr marL="2036458" indent="0">
              <a:buNone/>
              <a:defRPr sz="1000"/>
            </a:lvl5pPr>
            <a:lvl6pPr marL="2545574" indent="0">
              <a:buNone/>
              <a:defRPr sz="1000"/>
            </a:lvl6pPr>
            <a:lvl7pPr marL="3054686" indent="0">
              <a:buNone/>
              <a:defRPr sz="1000"/>
            </a:lvl7pPr>
            <a:lvl8pPr marL="3563802" indent="0">
              <a:buNone/>
              <a:defRPr sz="1000"/>
            </a:lvl8pPr>
            <a:lvl9pPr marL="4072914" indent="0">
              <a:buNone/>
              <a:defRPr sz="1000"/>
            </a:lvl9pPr>
          </a:lstStyle>
          <a:p>
            <a:pPr lvl="0"/>
            <a:r>
              <a:rPr lang="en-US" smtClean="0"/>
              <a:t>Click to edit Master text styles</a:t>
            </a:r>
          </a:p>
        </p:txBody>
      </p:sp>
    </p:spTree>
    <p:extLst>
      <p:ext uri="{BB962C8B-B14F-4D97-AF65-F5344CB8AC3E}">
        <p14:creationId xmlns:p14="http://schemas.microsoft.com/office/powerpoint/2010/main" val="9776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9603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3295" y="462387"/>
            <a:ext cx="2298065" cy="665331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19100" y="462387"/>
            <a:ext cx="6726555" cy="665331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56562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055" y="462387"/>
            <a:ext cx="9171305" cy="413808"/>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19100" y="1295406"/>
            <a:ext cx="9171305" cy="5820305"/>
          </a:xfrm>
        </p:spPr>
        <p:txBody>
          <a:bodyPr/>
          <a:lstStyle/>
          <a:p>
            <a:pPr lvl="0"/>
            <a:endParaRPr lang="en-US" noProof="0" dirty="0" smtClean="0"/>
          </a:p>
        </p:txBody>
      </p:sp>
    </p:spTree>
    <p:extLst>
      <p:ext uri="{BB962C8B-B14F-4D97-AF65-F5344CB8AC3E}">
        <p14:creationId xmlns:p14="http://schemas.microsoft.com/office/powerpoint/2010/main" val="323692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40055" y="462387"/>
            <a:ext cx="9171305" cy="413808"/>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419100" y="1295406"/>
            <a:ext cx="9171305" cy="5820305"/>
          </a:xfrm>
        </p:spPr>
        <p:txBody>
          <a:bodyPr/>
          <a:lstStyle/>
          <a:p>
            <a:pPr lvl="0"/>
            <a:endParaRPr lang="en-US" noProof="0" dirty="0" smtClean="0"/>
          </a:p>
        </p:txBody>
      </p:sp>
    </p:spTree>
    <p:extLst>
      <p:ext uri="{BB962C8B-B14F-4D97-AF65-F5344CB8AC3E}">
        <p14:creationId xmlns:p14="http://schemas.microsoft.com/office/powerpoint/2010/main" val="1740789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257301" y="2993845"/>
            <a:ext cx="4524534" cy="842965"/>
          </a:xfrm>
          <a:prstGeom prst="rect">
            <a:avLst/>
          </a:prstGeom>
        </p:spPr>
        <p:txBody>
          <a:bodyPr anchor="b" anchorCtr="0">
            <a:spAutoFit/>
          </a:bodyPr>
          <a:lstStyle>
            <a:lvl1pPr>
              <a:lnSpc>
                <a:spcPct val="85000"/>
              </a:lnSpc>
              <a:defRPr sz="3100" b="0" smtClean="0">
                <a:latin typeface="Times New Roman" pitchFamily="18" charset="0"/>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gray">
          <a:xfrm>
            <a:off x="1257301" y="4181264"/>
            <a:ext cx="4524534" cy="313932"/>
          </a:xfrm>
          <a:prstGeom prst="rect">
            <a:avLst/>
          </a:prstGeom>
        </p:spPr>
        <p:txBody>
          <a:bodyPr>
            <a:spAutoFit/>
          </a:bodyPr>
          <a:lstStyle>
            <a:lvl1pPr>
              <a:lnSpc>
                <a:spcPct val="100000"/>
              </a:lnSpc>
              <a:defRPr sz="2000" b="1" smtClean="0">
                <a:latin typeface="Arial" pitchFamily="34" charset="0"/>
              </a:defRPr>
            </a:lvl1pPr>
          </a:lstStyle>
          <a:p>
            <a:r>
              <a:rPr lang="en-US" smtClean="0"/>
              <a:t>Click to edit Master subtitle style</a:t>
            </a:r>
            <a:endParaRPr smtClean="0"/>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45294" y="343642"/>
            <a:ext cx="1800383" cy="349038"/>
          </a:xfrm>
          <a:prstGeom prst="rect">
            <a:avLst/>
          </a:prstGeom>
          <a:noFill/>
        </p:spPr>
      </p:pic>
    </p:spTree>
    <p:extLst>
      <p:ext uri="{BB962C8B-B14F-4D97-AF65-F5344CB8AC3E}">
        <p14:creationId xmlns:p14="http://schemas.microsoft.com/office/powerpoint/2010/main" val="3275160175"/>
      </p:ext>
    </p:extLst>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52628" y="3143145"/>
            <a:ext cx="4757623" cy="829056"/>
          </a:xfrm>
          <a:prstGeom prst="rect">
            <a:avLst/>
          </a:prstGeom>
        </p:spPr>
        <p:txBody>
          <a:bodyPr>
            <a:spAutoFit/>
          </a:bodyPr>
          <a:lstStyle>
            <a:lvl1pPr>
              <a:lnSpc>
                <a:spcPct val="85000"/>
              </a:lnSpc>
              <a:defRPr sz="3100" b="1" smtClean="0">
                <a:latin typeface="+mj-lt"/>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gray">
          <a:xfrm>
            <a:off x="452628" y="4186733"/>
            <a:ext cx="4757623" cy="348814"/>
          </a:xfrm>
          <a:prstGeom prst="rect">
            <a:avLst/>
          </a:prstGeom>
        </p:spPr>
        <p:txBody>
          <a:bodyPr>
            <a:spAutoFit/>
          </a:bodyPr>
          <a:lstStyle>
            <a:lvl1pPr>
              <a:lnSpc>
                <a:spcPct val="100000"/>
              </a:lnSpc>
              <a:defRPr sz="2200" b="0" smtClean="0">
                <a:latin typeface="Arial" pitchFamily="34" charset="0"/>
              </a:defRPr>
            </a:lvl1pPr>
          </a:lstStyle>
          <a:p>
            <a:r>
              <a:rPr lang="en-US" smtClean="0"/>
              <a:t>Click to edit Master subtitle style</a:t>
            </a:r>
            <a:endParaRPr smtClean="0"/>
          </a:p>
        </p:txBody>
      </p:sp>
    </p:spTree>
    <p:extLst>
      <p:ext uri="{BB962C8B-B14F-4D97-AF65-F5344CB8AC3E}">
        <p14:creationId xmlns:p14="http://schemas.microsoft.com/office/powerpoint/2010/main" val="2365945723"/>
      </p:ext>
    </p:extLst>
  </p:cSld>
  <p:clrMapOvr>
    <a:masterClrMapping/>
  </p:clrMapOvr>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52628" y="3201322"/>
            <a:ext cx="8964899" cy="770877"/>
          </a:xfrm>
          <a:prstGeom prst="rect">
            <a:avLst/>
          </a:prstGeom>
        </p:spPr>
        <p:txBody>
          <a:bodyPr anchor="b" anchorCtr="0">
            <a:spAutoFit/>
          </a:bodyPr>
          <a:lstStyle>
            <a:lvl1pPr>
              <a:lnSpc>
                <a:spcPct val="85000"/>
              </a:lnSpc>
              <a:defRPr sz="5800" b="0" smtClean="0">
                <a:solidFill>
                  <a:schemeClr val="bg1"/>
                </a:solidFill>
                <a:latin typeface="Times New Roman" pitchFamily="18" charset="0"/>
                <a:cs typeface="Times New Roman" pitchFamily="18" charset="0"/>
              </a:defRPr>
            </a:lvl1pPr>
          </a:lstStyle>
          <a:p>
            <a:r>
              <a:rPr lang="en-US" smtClean="0"/>
              <a:t>Click to edit Master title style</a:t>
            </a:r>
            <a:endParaRPr lang="en-US" dirty="0" smtClean="0"/>
          </a:p>
        </p:txBody>
      </p:sp>
      <p:sp>
        <p:nvSpPr>
          <p:cNvPr id="120836" name="Text Placeholder 2"/>
          <p:cNvSpPr>
            <a:spLocks noGrp="1"/>
          </p:cNvSpPr>
          <p:nvPr>
            <p:ph type="subTitle" idx="1"/>
          </p:nvPr>
        </p:nvSpPr>
        <p:spPr bwMode="auto">
          <a:xfrm>
            <a:off x="452628" y="4186733"/>
            <a:ext cx="4757623" cy="313932"/>
          </a:xfrm>
          <a:prstGeom prst="rect">
            <a:avLst/>
          </a:prstGeom>
        </p:spPr>
        <p:txBody>
          <a:bodyPr>
            <a:spAutoFit/>
          </a:bodyPr>
          <a:lstStyle>
            <a:lvl1pPr>
              <a:lnSpc>
                <a:spcPct val="100000"/>
              </a:lnSpc>
              <a:defRPr sz="2000" b="1" smtClean="0">
                <a:solidFill>
                  <a:schemeClr val="bg1"/>
                </a:solidFill>
                <a:latin typeface="Arial" pitchFamily="34" charset="0"/>
              </a:defRPr>
            </a:lvl1pPr>
          </a:lstStyle>
          <a:p>
            <a:r>
              <a:rPr lang="en-US" smtClean="0"/>
              <a:t>Click to edit Master subtitle style</a:t>
            </a:r>
            <a:endParaRPr smtClean="0"/>
          </a:p>
        </p:txBody>
      </p:sp>
    </p:spTree>
    <p:extLst>
      <p:ext uri="{BB962C8B-B14F-4D97-AF65-F5344CB8AC3E}">
        <p14:creationId xmlns:p14="http://schemas.microsoft.com/office/powerpoint/2010/main" val="3384955296"/>
      </p:ext>
    </p:extLst>
  </p:cSld>
  <p:clrMapOvr>
    <a:masterClrMapping/>
  </p:clrMapOvr>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52627"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tab pos="4333542"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tab pos="4333542" algn="r"/>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tab pos="4326466"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tab pos="4333542"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tab pos="4333542" algn="r"/>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extLst>
      <p:ext uri="{BB962C8B-B14F-4D97-AF65-F5344CB8AC3E}">
        <p14:creationId xmlns:p14="http://schemas.microsoft.com/office/powerpoint/2010/main" val="2719622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52627" y="1585570"/>
            <a:ext cx="9163202" cy="5539130"/>
          </a:xfrm>
          <a:prstGeom prst="rect">
            <a:avLst/>
          </a:prstGeom>
        </p:spPr>
        <p:txBody>
          <a:bodyPr vert="horz" lIns="0" tIns="0" rIns="0" bIns="0" rtlCol="0">
            <a:noAutofit/>
          </a:bodyPr>
          <a:lstStyle>
            <a:lvl1pPr marL="0" marR="0" indent="0" algn="l" defTabSz="1018824" rtl="0" eaLnBrk="1" fontAlgn="base" latinLnBrk="0" hangingPunct="1">
              <a:lnSpc>
                <a:spcPct val="100000"/>
              </a:lnSpc>
              <a:spcBef>
                <a:spcPts val="2451"/>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94567" marR="0" indent="-192799"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smtClean="0"/>
              <a:t>Click to edit Master text styles</a:t>
            </a:r>
          </a:p>
        </p:txBody>
      </p:sp>
      <p:sp>
        <p:nvSpPr>
          <p:cNvPr id="5"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extLst>
      <p:ext uri="{BB962C8B-B14F-4D97-AF65-F5344CB8AC3E}">
        <p14:creationId xmlns:p14="http://schemas.microsoft.com/office/powerpoint/2010/main" val="201293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52627"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smtClean="0"/>
              <a:t>Click to edit Master text styles</a:t>
            </a:r>
          </a:p>
        </p:txBody>
      </p:sp>
      <p:sp>
        <p:nvSpPr>
          <p:cNvPr id="6"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7" name="Content Placeholder 20"/>
          <p:cNvSpPr>
            <a:spLocks noGrp="1"/>
          </p:cNvSpPr>
          <p:nvPr>
            <p:ph sz="quarter" idx="14"/>
          </p:nvPr>
        </p:nvSpPr>
        <p:spPr bwMode="gray">
          <a:xfrm>
            <a:off x="5196840" y="1585567"/>
            <a:ext cx="4399071"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57554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2" name="Text Placeholder 18"/>
          <p:cNvSpPr>
            <a:spLocks noGrp="1"/>
          </p:cNvSpPr>
          <p:nvPr>
            <p:ph type="body" sz="quarter" idx="13"/>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smtClean="0"/>
              <a:t>Click to edit Master text styles</a:t>
            </a:r>
          </a:p>
        </p:txBody>
      </p:sp>
      <p:sp>
        <p:nvSpPr>
          <p:cNvPr id="7"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8" name="Content Placeholder 20"/>
          <p:cNvSpPr>
            <a:spLocks noGrp="1"/>
          </p:cNvSpPr>
          <p:nvPr>
            <p:ph sz="quarter" idx="11"/>
          </p:nvPr>
        </p:nvSpPr>
        <p:spPr bwMode="gray">
          <a:xfrm>
            <a:off x="452628"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0"/>
          <p:cNvSpPr>
            <a:spLocks noGrp="1"/>
          </p:cNvSpPr>
          <p:nvPr>
            <p:ph sz="quarter" idx="14"/>
          </p:nvPr>
        </p:nvSpPr>
        <p:spPr bwMode="gray">
          <a:xfrm>
            <a:off x="3570186"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0"/>
          <p:cNvSpPr>
            <a:spLocks noGrp="1"/>
          </p:cNvSpPr>
          <p:nvPr>
            <p:ph sz="quarter" idx="15"/>
          </p:nvPr>
        </p:nvSpPr>
        <p:spPr bwMode="gray">
          <a:xfrm>
            <a:off x="6676130" y="1585567"/>
            <a:ext cx="2916936" cy="553913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R="0" algn="l" defTabSz="1018824"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3pPr>
            <a:lvl4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1018824" rtl="0" eaLnBrk="1" fontAlgn="base" latinLnBrk="0" hangingPunct="1">
              <a:lnSpc>
                <a:spcPct val="100000"/>
              </a:lnSpc>
              <a:spcAft>
                <a:spcPct val="0"/>
              </a:spcAft>
              <a:buFont typeface="Arial" pitchFamily="34" charset="0"/>
              <a:tabLst/>
              <a:defRPr kumimoji="0" lang="en-US" sz="1800" b="0" i="0" u="none" strike="noStrike" kern="1200" cap="none" normalizeH="0" baseline="0" dirty="0">
                <a:ln>
                  <a:noFill/>
                </a:ln>
                <a:solidFill>
                  <a:schemeClr val="tx2"/>
                </a:solidFill>
                <a:effectLst/>
                <a:latin typeface="+mn-lt"/>
                <a:ea typeface="+mn-ea"/>
                <a:cs typeface="Arial" pitchFamily="34" charset="0"/>
              </a:defRPr>
            </a:lvl5pPr>
            <a:lvl6pPr>
              <a:tabLst>
                <a:tab pos="4333542" algn="r"/>
              </a:tabLst>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930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52626" y="2123016"/>
            <a:ext cx="9163202"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11"/>
          <p:cNvSpPr>
            <a:spLocks noGrp="1"/>
          </p:cNvSpPr>
          <p:nvPr>
            <p:ph type="body" sz="quarter" idx="13"/>
          </p:nvPr>
        </p:nvSpPr>
        <p:spPr bwMode="gray">
          <a:xfrm>
            <a:off x="455772" y="1583267"/>
            <a:ext cx="9163202" cy="313932"/>
          </a:xfrm>
          <a:prstGeom prst="rect">
            <a:avLst/>
          </a:prstGeom>
        </p:spPr>
        <p:txBody>
          <a:bodyPr>
            <a:spAutoFit/>
          </a:bodyPr>
          <a:lstStyle>
            <a:lvl1pPr>
              <a:defRPr sz="2000" b="1">
                <a:latin typeface="+mj-lt"/>
              </a:defRPr>
            </a:lvl1pPr>
          </a:lstStyle>
          <a:p>
            <a:pPr lvl="0"/>
            <a:r>
              <a:rPr lang="en-US" smtClean="0"/>
              <a:t>Click to edit Master text styles</a:t>
            </a:r>
          </a:p>
        </p:txBody>
      </p:sp>
      <p:sp>
        <p:nvSpPr>
          <p:cNvPr id="7" name="Text Placeholder 13"/>
          <p:cNvSpPr>
            <a:spLocks noGrp="1"/>
          </p:cNvSpPr>
          <p:nvPr>
            <p:ph type="body" sz="quarter" idx="15"/>
          </p:nvPr>
        </p:nvSpPr>
        <p:spPr bwMode="gray">
          <a:xfrm>
            <a:off x="452627"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
        <p:nvSpPr>
          <p:cNvPr id="13" name="Text Placeholder 18"/>
          <p:cNvSpPr>
            <a:spLocks noGrp="1"/>
          </p:cNvSpPr>
          <p:nvPr>
            <p:ph type="body" sz="quarter" idx="16"/>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smtClean="0"/>
              <a:t>Click to edit Master text styles</a:t>
            </a:r>
          </a:p>
        </p:txBody>
      </p:sp>
      <p:sp>
        <p:nvSpPr>
          <p:cNvPr id="8"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extLst>
      <p:ext uri="{BB962C8B-B14F-4D97-AF65-F5344CB8AC3E}">
        <p14:creationId xmlns:p14="http://schemas.microsoft.com/office/powerpoint/2010/main" val="9288828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52627" y="2123015"/>
            <a:ext cx="4399071"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11"/>
          <p:cNvSpPr>
            <a:spLocks noGrp="1"/>
          </p:cNvSpPr>
          <p:nvPr>
            <p:ph type="body" sz="quarter" idx="13"/>
          </p:nvPr>
        </p:nvSpPr>
        <p:spPr bwMode="gray">
          <a:xfrm>
            <a:off x="455772" y="1583267"/>
            <a:ext cx="4395521" cy="313932"/>
          </a:xfrm>
          <a:prstGeom prst="rect">
            <a:avLst/>
          </a:prstGeom>
        </p:spPr>
        <p:txBody>
          <a:bodyPr>
            <a:spAutoFit/>
          </a:bodyPr>
          <a:lstStyle>
            <a:lvl1pPr>
              <a:defRPr sz="2000" b="1">
                <a:latin typeface="+mj-lt"/>
              </a:defRPr>
            </a:lvl1pPr>
          </a:lstStyle>
          <a:p>
            <a:pPr lvl="0"/>
            <a:r>
              <a:rPr lang="en-US" smtClean="0"/>
              <a:t>Click to edit Master text styles</a:t>
            </a:r>
          </a:p>
        </p:txBody>
      </p:sp>
      <p:sp>
        <p:nvSpPr>
          <p:cNvPr id="14" name="Text Placeholder 13"/>
          <p:cNvSpPr>
            <a:spLocks noGrp="1"/>
          </p:cNvSpPr>
          <p:nvPr>
            <p:ph type="body" sz="quarter" idx="15"/>
          </p:nvPr>
        </p:nvSpPr>
        <p:spPr bwMode="gray">
          <a:xfrm>
            <a:off x="452627"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
        <p:nvSpPr>
          <p:cNvPr id="15" name="Text Placeholder 13"/>
          <p:cNvSpPr>
            <a:spLocks noGrp="1"/>
          </p:cNvSpPr>
          <p:nvPr>
            <p:ph type="body" sz="quarter" idx="16"/>
          </p:nvPr>
        </p:nvSpPr>
        <p:spPr bwMode="gray">
          <a:xfrm>
            <a:off x="5211631" y="6981020"/>
            <a:ext cx="4395521" cy="138499"/>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9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9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900" b="0" kern="1200" dirty="0">
                <a:solidFill>
                  <a:schemeClr val="tx1"/>
                </a:solidFill>
                <a:latin typeface="Arial" pitchFamily="34" charset="0"/>
                <a:ea typeface="+mn-ea"/>
                <a:cs typeface="Arial" pitchFamily="34" charset="0"/>
              </a:defRPr>
            </a:lvl5pPr>
          </a:lstStyle>
          <a:p>
            <a:pPr lvl="0"/>
            <a:r>
              <a:rPr lang="en-US" smtClean="0"/>
              <a:t>Click to edit Master text styles</a:t>
            </a:r>
          </a:p>
        </p:txBody>
      </p:sp>
      <p:sp>
        <p:nvSpPr>
          <p:cNvPr id="17" name="Text Placeholder 18"/>
          <p:cNvSpPr>
            <a:spLocks noGrp="1"/>
          </p:cNvSpPr>
          <p:nvPr>
            <p:ph type="body" sz="quarter" idx="17"/>
          </p:nvPr>
        </p:nvSpPr>
        <p:spPr bwMode="gray">
          <a:xfrm>
            <a:off x="455772" y="883392"/>
            <a:ext cx="9163202" cy="348814"/>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2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1018824" rtl="0" eaLnBrk="1" fontAlgn="base" latinLnBrk="0" hangingPunct="1">
              <a:lnSpc>
                <a:spcPct val="100000"/>
              </a:lnSpc>
              <a:spcBef>
                <a:spcPct val="0"/>
              </a:spcBef>
              <a:spcAft>
                <a:spcPct val="0"/>
              </a:spcAft>
              <a:buClrTx/>
              <a:buSzTx/>
              <a:buFontTx/>
              <a:buNone/>
              <a:tabLst/>
              <a:defRPr/>
            </a:pPr>
            <a:r>
              <a:rPr lang="en-US" smtClean="0"/>
              <a:t>Click to edit Master text styles</a:t>
            </a:r>
          </a:p>
        </p:txBody>
      </p:sp>
      <p:sp>
        <p:nvSpPr>
          <p:cNvPr id="10"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lvl1pPr>
              <a:defRPr>
                <a:latin typeface="+mj-lt"/>
              </a:defRPr>
            </a:lvl1p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
        <p:nvSpPr>
          <p:cNvPr id="11" name="Content Placeholder 20"/>
          <p:cNvSpPr>
            <a:spLocks noGrp="1"/>
          </p:cNvSpPr>
          <p:nvPr>
            <p:ph sz="quarter" idx="18"/>
          </p:nvPr>
        </p:nvSpPr>
        <p:spPr bwMode="gray">
          <a:xfrm>
            <a:off x="5196840" y="2123015"/>
            <a:ext cx="4399071" cy="1651734"/>
          </a:xfrm>
          <a:prstGeom prst="rect">
            <a:avLst/>
          </a:prstGeom>
        </p:spPr>
        <p:txBody>
          <a:bodyPr/>
          <a:lstStyle>
            <a:lvl1pPr>
              <a:defRPr>
                <a:latin typeface="+mn-lt"/>
              </a:defRPr>
            </a:lvl1pPr>
            <a:lvl2pPr>
              <a:defRPr lang="en-US" sz="2000" kern="1200" dirty="0" smtClean="0">
                <a:solidFill>
                  <a:schemeClr val="tx2"/>
                </a:solidFill>
                <a:latin typeface="+mn-lt"/>
                <a:ea typeface="+mn-ea"/>
                <a:cs typeface="+mn-cs"/>
              </a:defRPr>
            </a:lvl2pPr>
            <a:lvl3pPr>
              <a:defRPr lang="en-US" sz="1800" kern="1200" dirty="0" smtClean="0">
                <a:solidFill>
                  <a:schemeClr val="tx2"/>
                </a:solidFill>
                <a:latin typeface="+mn-lt"/>
                <a:ea typeface="+mn-ea"/>
                <a:cs typeface="+mn-cs"/>
              </a:defRPr>
            </a:lvl3pPr>
            <a:lvl4pPr>
              <a:defRPr lang="en-US" sz="1800" kern="1200" dirty="0" smtClean="0">
                <a:solidFill>
                  <a:schemeClr val="tx2"/>
                </a:solidFill>
                <a:latin typeface="+mn-lt"/>
                <a:ea typeface="+mn-ea"/>
                <a:cs typeface="+mn-cs"/>
              </a:defRPr>
            </a:lvl4pPr>
            <a:lvl5pPr>
              <a:defRPr lang="en-US" sz="1800" kern="1200" dirty="0">
                <a:solidFill>
                  <a:schemeClr val="tx2"/>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ext Placeholder 11"/>
          <p:cNvSpPr>
            <a:spLocks noGrp="1"/>
          </p:cNvSpPr>
          <p:nvPr>
            <p:ph type="body" sz="quarter" idx="19"/>
          </p:nvPr>
        </p:nvSpPr>
        <p:spPr bwMode="gray">
          <a:xfrm>
            <a:off x="5199985" y="1583267"/>
            <a:ext cx="4395521" cy="313932"/>
          </a:xfrm>
          <a:prstGeom prst="rect">
            <a:avLst/>
          </a:prstGeom>
        </p:spPr>
        <p:txBody>
          <a:bodyPr>
            <a:spAutoFit/>
          </a:bodyPr>
          <a:lstStyle>
            <a:lvl1pPr>
              <a:defRPr sz="2000" b="1">
                <a:latin typeface="+mj-lt"/>
              </a:defRPr>
            </a:lvl1pPr>
          </a:lstStyle>
          <a:p>
            <a:pPr lvl="0"/>
            <a:r>
              <a:rPr lang="en-US" smtClean="0"/>
              <a:t>Click to edit Master text styles</a:t>
            </a:r>
          </a:p>
        </p:txBody>
      </p:sp>
    </p:spTree>
    <p:extLst>
      <p:ext uri="{BB962C8B-B14F-4D97-AF65-F5344CB8AC3E}">
        <p14:creationId xmlns:p14="http://schemas.microsoft.com/office/powerpoint/2010/main" val="1431529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55772" y="510316"/>
            <a:ext cx="9163202" cy="373075"/>
          </a:xfrm>
          <a:prstGeom prst="rect">
            <a:avLst/>
          </a:prstGeom>
        </p:spPr>
        <p:txBody>
          <a:bodyPr lIns="0" tIns="0" rIns="0" bIns="0" anchor="b" anchorCtr="0">
            <a:spAutoFit/>
          </a:bodyPr>
          <a:lstStyle/>
          <a:p>
            <a:pPr marL="0" marR="0" lvl="0" indent="0" algn="l" defTabSz="1018824" rtl="0" eaLnBrk="0" fontAlgn="base" latinLnBrk="0" hangingPunct="0">
              <a:lnSpc>
                <a:spcPct val="90000"/>
              </a:lnSpc>
              <a:spcBef>
                <a:spcPct val="0"/>
              </a:spcBef>
              <a:spcAft>
                <a:spcPct val="0"/>
              </a:spcAft>
              <a:buClrTx/>
              <a:buSzTx/>
              <a:buFontTx/>
              <a:buNone/>
              <a:tabLst/>
              <a:defRPr/>
            </a:pPr>
            <a:r>
              <a:rPr lang="en-US" smtClean="0"/>
              <a:t>Click to edit Master title style</a:t>
            </a:r>
            <a:endParaRPr lang="en-US" dirty="0"/>
          </a:p>
        </p:txBody>
      </p:sp>
    </p:spTree>
    <p:extLst>
      <p:ext uri="{BB962C8B-B14F-4D97-AF65-F5344CB8AC3E}">
        <p14:creationId xmlns:p14="http://schemas.microsoft.com/office/powerpoint/2010/main" val="33563931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3129280" y="3436409"/>
            <a:ext cx="3796348" cy="895985"/>
          </a:xfrm>
          <a:prstGeom prst="rect">
            <a:avLst/>
          </a:prstGeom>
          <a:noFill/>
          <a:ln w="9525">
            <a:noFill/>
            <a:miter lim="800000"/>
            <a:headEnd/>
            <a:tailEnd/>
          </a:ln>
        </p:spPr>
      </p:pic>
      <p:sp>
        <p:nvSpPr>
          <p:cNvPr id="3" name="Text Placeholder 5"/>
          <p:cNvSpPr>
            <a:spLocks noGrp="1"/>
          </p:cNvSpPr>
          <p:nvPr>
            <p:ph type="body" sz="quarter" idx="10"/>
          </p:nvPr>
        </p:nvSpPr>
        <p:spPr bwMode="gray">
          <a:xfrm>
            <a:off x="442570" y="6186831"/>
            <a:ext cx="5431536" cy="1305763"/>
          </a:xfrm>
        </p:spPr>
        <p:txBody>
          <a:bodyPr anchor="b" anchorCtr="0">
            <a:noAutofit/>
          </a:bodyPr>
          <a:lstStyle>
            <a:lvl1pPr>
              <a:lnSpc>
                <a:spcPts val="891"/>
              </a:lnSpc>
              <a:spcBef>
                <a:spcPts val="446"/>
              </a:spcBef>
              <a:spcAft>
                <a:spcPts val="446"/>
              </a:spcAft>
              <a:defRPr sz="800"/>
            </a:lvl1pPr>
          </a:lstStyle>
          <a:p>
            <a:pPr lvl="0"/>
            <a:r>
              <a:rPr lang="en-US" smtClean="0"/>
              <a:t>Click to edit Master text styles</a:t>
            </a:r>
          </a:p>
        </p:txBody>
      </p:sp>
    </p:spTree>
    <p:extLst>
      <p:ext uri="{BB962C8B-B14F-4D97-AF65-F5344CB8AC3E}">
        <p14:creationId xmlns:p14="http://schemas.microsoft.com/office/powerpoint/2010/main" val="3100948340"/>
      </p:ext>
    </p:extLst>
  </p:cSld>
  <p:clrMapOvr>
    <a:masterClrMapping/>
  </p:clrMapOvr>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55772" y="510316"/>
            <a:ext cx="9163202" cy="373075"/>
          </a:xfrm>
          <a:prstGeom prst="rect">
            <a:avLst/>
          </a:prstGeom>
        </p:spPr>
        <p:txBody>
          <a:bodyPr>
            <a:spAutoFit/>
          </a:bodyPr>
          <a:lstStyle/>
          <a:p>
            <a:r>
              <a:rPr lang="en-US" smtClean="0"/>
              <a:t>Click to edit Master title style</a:t>
            </a:r>
            <a:endParaRPr lang="en-US" dirty="0"/>
          </a:p>
        </p:txBody>
      </p:sp>
      <p:sp>
        <p:nvSpPr>
          <p:cNvPr id="3" name="Text Placeholder 7"/>
          <p:cNvSpPr>
            <a:spLocks noGrp="1"/>
          </p:cNvSpPr>
          <p:nvPr>
            <p:ph type="body" sz="quarter" idx="11"/>
          </p:nvPr>
        </p:nvSpPr>
        <p:spPr bwMode="gray">
          <a:xfrm>
            <a:off x="455772" y="883392"/>
            <a:ext cx="9163202" cy="251146"/>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800" b="0" kern="1200" dirty="0">
                <a:solidFill>
                  <a:schemeClr val="tx1"/>
                </a:solidFill>
                <a:latin typeface="Arial" pitchFamily="34" charset="0"/>
                <a:ea typeface="+mn-ea"/>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2416658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5772" y="510316"/>
            <a:ext cx="9163202" cy="373075"/>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8959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pic>
        <p:nvPicPr>
          <p:cNvPr id="1026" name="Picture 2" descr="DEL_CO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gray">
          <a:xfrm>
            <a:off x="436563" y="7502525"/>
            <a:ext cx="976154" cy="18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gray">
          <a:xfrm>
            <a:off x="440055" y="462387"/>
            <a:ext cx="9171305" cy="41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1028" name="Rectangle 4"/>
          <p:cNvSpPr>
            <a:spLocks noGrp="1" noChangeArrowheads="1"/>
          </p:cNvSpPr>
          <p:nvPr>
            <p:ph type="body" idx="1"/>
          </p:nvPr>
        </p:nvSpPr>
        <p:spPr bwMode="gray">
          <a:xfrm>
            <a:off x="419100" y="1295406"/>
            <a:ext cx="9171305" cy="5820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Text Box 5"/>
          <p:cNvSpPr txBox="1">
            <a:spLocks noChangeArrowheads="1"/>
          </p:cNvSpPr>
          <p:nvPr/>
        </p:nvSpPr>
        <p:spPr bwMode="gray">
          <a:xfrm>
            <a:off x="4824893" y="7504582"/>
            <a:ext cx="410369" cy="212046"/>
          </a:xfrm>
          <a:prstGeom prst="rect">
            <a:avLst/>
          </a:prstGeom>
          <a:noFill/>
          <a:ln>
            <a:noFill/>
          </a:ln>
          <a:effectLst>
            <a:prstShdw prst="shdw17" dist="17961" dir="2700000">
              <a:srgbClr val="858585"/>
            </a:prstShdw>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b" anchorCtr="1">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algn="ctr" eaLnBrk="0" fontAlgn="base" hangingPunct="0">
              <a:lnSpc>
                <a:spcPct val="106000"/>
              </a:lnSpc>
              <a:spcBef>
                <a:spcPct val="50000"/>
              </a:spcBef>
              <a:spcAft>
                <a:spcPct val="0"/>
              </a:spcAft>
              <a:defRPr b="1">
                <a:solidFill>
                  <a:schemeClr val="tx1"/>
                </a:solidFill>
                <a:latin typeface="Arial" charset="0"/>
              </a:defRPr>
            </a:lvl6pPr>
            <a:lvl7pPr marL="2971800" indent="-228600" algn="ctr" eaLnBrk="0" fontAlgn="base" hangingPunct="0">
              <a:lnSpc>
                <a:spcPct val="106000"/>
              </a:lnSpc>
              <a:spcBef>
                <a:spcPct val="50000"/>
              </a:spcBef>
              <a:spcAft>
                <a:spcPct val="0"/>
              </a:spcAft>
              <a:defRPr b="1">
                <a:solidFill>
                  <a:schemeClr val="tx1"/>
                </a:solidFill>
                <a:latin typeface="Arial" charset="0"/>
              </a:defRPr>
            </a:lvl7pPr>
            <a:lvl8pPr marL="3429000" indent="-228600" algn="ctr" eaLnBrk="0" fontAlgn="base" hangingPunct="0">
              <a:lnSpc>
                <a:spcPct val="106000"/>
              </a:lnSpc>
              <a:spcBef>
                <a:spcPct val="50000"/>
              </a:spcBef>
              <a:spcAft>
                <a:spcPct val="0"/>
              </a:spcAft>
              <a:defRPr b="1">
                <a:solidFill>
                  <a:schemeClr val="tx1"/>
                </a:solidFill>
                <a:latin typeface="Arial" charset="0"/>
              </a:defRPr>
            </a:lvl8pPr>
            <a:lvl9pPr marL="3886200" indent="-228600" algn="ctr" eaLnBrk="0" fontAlgn="base" hangingPunct="0">
              <a:lnSpc>
                <a:spcPct val="106000"/>
              </a:lnSpc>
              <a:spcBef>
                <a:spcPct val="50000"/>
              </a:spcBef>
              <a:spcAft>
                <a:spcPct val="0"/>
              </a:spcAft>
              <a:defRPr b="1">
                <a:solidFill>
                  <a:schemeClr val="tx1"/>
                </a:solidFill>
                <a:latin typeface="Arial" charset="0"/>
              </a:defRPr>
            </a:lvl9pPr>
          </a:lstStyle>
          <a:p>
            <a:pPr algn="ctr" defTabSz="913866" eaLnBrk="0" fontAlgn="base" hangingPunct="0">
              <a:lnSpc>
                <a:spcPct val="106000"/>
              </a:lnSpc>
              <a:spcBef>
                <a:spcPct val="0"/>
              </a:spcBef>
              <a:spcAft>
                <a:spcPct val="0"/>
              </a:spcAft>
              <a:buClr>
                <a:srgbClr val="000000"/>
              </a:buClr>
              <a:buSzPct val="65000"/>
              <a:buFont typeface="Wingdings" pitchFamily="2" charset="2"/>
              <a:buNone/>
            </a:pPr>
            <a:r>
              <a:rPr lang="en-US" sz="1300" b="0" dirty="0" smtClean="0">
                <a:solidFill>
                  <a:srgbClr val="000000"/>
                </a:solidFill>
              </a:rPr>
              <a:t>- </a:t>
            </a:r>
            <a:fld id="{AFC8C86E-9210-4089-B58E-33388388BE58}" type="slidenum">
              <a:rPr lang="en-US" sz="1300" b="0" smtClean="0">
                <a:solidFill>
                  <a:srgbClr val="000000"/>
                </a:solidFill>
              </a:rPr>
              <a:pPr algn="ctr" defTabSz="913866" eaLnBrk="0" fontAlgn="base" hangingPunct="0">
                <a:lnSpc>
                  <a:spcPct val="106000"/>
                </a:lnSpc>
                <a:spcBef>
                  <a:spcPct val="0"/>
                </a:spcBef>
                <a:spcAft>
                  <a:spcPct val="0"/>
                </a:spcAft>
                <a:buClr>
                  <a:srgbClr val="000000"/>
                </a:buClr>
                <a:buSzPct val="65000"/>
                <a:buFont typeface="Wingdings" pitchFamily="2" charset="2"/>
                <a:buNone/>
              </a:pPr>
              <a:t>‹#›</a:t>
            </a:fld>
            <a:r>
              <a:rPr lang="en-US" sz="1300" b="0" dirty="0" smtClean="0">
                <a:solidFill>
                  <a:srgbClr val="000000"/>
                </a:solidFill>
              </a:rPr>
              <a:t> -</a:t>
            </a:r>
          </a:p>
        </p:txBody>
      </p:sp>
    </p:spTree>
    <p:extLst>
      <p:ext uri="{BB962C8B-B14F-4D97-AF65-F5344CB8AC3E}">
        <p14:creationId xmlns:p14="http://schemas.microsoft.com/office/powerpoint/2010/main" val="114051992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rtl="0" eaLnBrk="0" fontAlgn="base" hangingPunct="0">
        <a:spcBef>
          <a:spcPct val="0"/>
        </a:spcBef>
        <a:spcAft>
          <a:spcPct val="0"/>
        </a:spcAft>
        <a:defRPr sz="2700" b="1">
          <a:solidFill>
            <a:schemeClr val="tx1"/>
          </a:solidFill>
          <a:latin typeface="+mj-lt"/>
          <a:ea typeface="+mj-ea"/>
          <a:cs typeface="+mj-cs"/>
        </a:defRPr>
      </a:lvl1pPr>
      <a:lvl2pPr algn="l" rtl="0" eaLnBrk="0" fontAlgn="base" hangingPunct="0">
        <a:spcBef>
          <a:spcPct val="0"/>
        </a:spcBef>
        <a:spcAft>
          <a:spcPct val="0"/>
        </a:spcAft>
        <a:defRPr sz="2700" b="1">
          <a:solidFill>
            <a:schemeClr val="tx1"/>
          </a:solidFill>
          <a:latin typeface="Arial" charset="0"/>
        </a:defRPr>
      </a:lvl2pPr>
      <a:lvl3pPr algn="l" rtl="0" eaLnBrk="0" fontAlgn="base" hangingPunct="0">
        <a:spcBef>
          <a:spcPct val="0"/>
        </a:spcBef>
        <a:spcAft>
          <a:spcPct val="0"/>
        </a:spcAft>
        <a:defRPr sz="2700" b="1">
          <a:solidFill>
            <a:schemeClr val="tx1"/>
          </a:solidFill>
          <a:latin typeface="Arial" charset="0"/>
        </a:defRPr>
      </a:lvl3pPr>
      <a:lvl4pPr algn="l" rtl="0" eaLnBrk="0" fontAlgn="base" hangingPunct="0">
        <a:spcBef>
          <a:spcPct val="0"/>
        </a:spcBef>
        <a:spcAft>
          <a:spcPct val="0"/>
        </a:spcAft>
        <a:defRPr sz="2700" b="1">
          <a:solidFill>
            <a:schemeClr val="tx1"/>
          </a:solidFill>
          <a:latin typeface="Arial" charset="0"/>
        </a:defRPr>
      </a:lvl4pPr>
      <a:lvl5pPr algn="l" rtl="0" eaLnBrk="0" fontAlgn="base" hangingPunct="0">
        <a:spcBef>
          <a:spcPct val="0"/>
        </a:spcBef>
        <a:spcAft>
          <a:spcPct val="0"/>
        </a:spcAft>
        <a:defRPr sz="2700" b="1">
          <a:solidFill>
            <a:schemeClr val="tx1"/>
          </a:solidFill>
          <a:latin typeface="Arial" charset="0"/>
        </a:defRPr>
      </a:lvl5pPr>
      <a:lvl6pPr marL="509115" algn="l" rtl="0" fontAlgn="base">
        <a:spcBef>
          <a:spcPct val="0"/>
        </a:spcBef>
        <a:spcAft>
          <a:spcPct val="0"/>
        </a:spcAft>
        <a:defRPr sz="2700" b="1">
          <a:solidFill>
            <a:schemeClr val="tx1"/>
          </a:solidFill>
          <a:latin typeface="Arial" charset="0"/>
        </a:defRPr>
      </a:lvl6pPr>
      <a:lvl7pPr marL="1018228" algn="l" rtl="0" fontAlgn="base">
        <a:spcBef>
          <a:spcPct val="0"/>
        </a:spcBef>
        <a:spcAft>
          <a:spcPct val="0"/>
        </a:spcAft>
        <a:defRPr sz="2700" b="1">
          <a:solidFill>
            <a:schemeClr val="tx1"/>
          </a:solidFill>
          <a:latin typeface="Arial" charset="0"/>
        </a:defRPr>
      </a:lvl7pPr>
      <a:lvl8pPr marL="1527344" algn="l" rtl="0" fontAlgn="base">
        <a:spcBef>
          <a:spcPct val="0"/>
        </a:spcBef>
        <a:spcAft>
          <a:spcPct val="0"/>
        </a:spcAft>
        <a:defRPr sz="2700" b="1">
          <a:solidFill>
            <a:schemeClr val="tx1"/>
          </a:solidFill>
          <a:latin typeface="Arial" charset="0"/>
        </a:defRPr>
      </a:lvl8pPr>
      <a:lvl9pPr marL="2036458" algn="l" rtl="0" fontAlgn="base">
        <a:spcBef>
          <a:spcPct val="0"/>
        </a:spcBef>
        <a:spcAft>
          <a:spcPct val="0"/>
        </a:spcAft>
        <a:defRPr sz="2700" b="1">
          <a:solidFill>
            <a:schemeClr val="tx1"/>
          </a:solidFill>
          <a:latin typeface="Arial" charset="0"/>
        </a:defRPr>
      </a:lvl9pPr>
    </p:titleStyle>
    <p:bodyStyle>
      <a:lvl1pPr marL="381835" indent="-381835"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792" indent="-251024"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115" indent="-25455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369" indent="-247486"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8016" indent="-263397" algn="l" rtl="0" eaLnBrk="0" fontAlgn="base" hangingPunct="0">
        <a:spcBef>
          <a:spcPct val="20000"/>
        </a:spcBef>
        <a:spcAft>
          <a:spcPct val="0"/>
        </a:spcAft>
        <a:buClr>
          <a:schemeClr val="tx1"/>
        </a:buClr>
        <a:buChar char="–"/>
        <a:defRPr sz="1300">
          <a:solidFill>
            <a:schemeClr val="tx1"/>
          </a:solidFill>
          <a:latin typeface="+mn-lt"/>
        </a:defRPr>
      </a:lvl5pPr>
      <a:lvl6pPr marL="2427137" indent="-263397" algn="l" rtl="0" fontAlgn="base">
        <a:spcBef>
          <a:spcPct val="20000"/>
        </a:spcBef>
        <a:spcAft>
          <a:spcPct val="0"/>
        </a:spcAft>
        <a:buClr>
          <a:schemeClr val="tx1"/>
        </a:buClr>
        <a:buChar char="–"/>
        <a:defRPr sz="1300">
          <a:solidFill>
            <a:schemeClr val="tx1"/>
          </a:solidFill>
          <a:latin typeface="+mn-lt"/>
        </a:defRPr>
      </a:lvl6pPr>
      <a:lvl7pPr marL="2936248" indent="-263397" algn="l" rtl="0" fontAlgn="base">
        <a:spcBef>
          <a:spcPct val="20000"/>
        </a:spcBef>
        <a:spcAft>
          <a:spcPct val="0"/>
        </a:spcAft>
        <a:buClr>
          <a:schemeClr val="tx1"/>
        </a:buClr>
        <a:buChar char="–"/>
        <a:defRPr sz="1300">
          <a:solidFill>
            <a:schemeClr val="tx1"/>
          </a:solidFill>
          <a:latin typeface="+mn-lt"/>
        </a:defRPr>
      </a:lvl7pPr>
      <a:lvl8pPr marL="3445362" indent="-263397" algn="l" rtl="0" fontAlgn="base">
        <a:spcBef>
          <a:spcPct val="20000"/>
        </a:spcBef>
        <a:spcAft>
          <a:spcPct val="0"/>
        </a:spcAft>
        <a:buClr>
          <a:schemeClr val="tx1"/>
        </a:buClr>
        <a:buChar char="–"/>
        <a:defRPr sz="1300">
          <a:solidFill>
            <a:schemeClr val="tx1"/>
          </a:solidFill>
          <a:latin typeface="+mn-lt"/>
        </a:defRPr>
      </a:lvl8pPr>
      <a:lvl9pPr marL="3954475" indent="-263397" algn="l" rtl="0" fontAlgn="base">
        <a:spcBef>
          <a:spcPct val="20000"/>
        </a:spcBef>
        <a:spcAft>
          <a:spcPct val="0"/>
        </a:spcAft>
        <a:buClr>
          <a:schemeClr val="tx1"/>
        </a:buClr>
        <a:buChar char="–"/>
        <a:defRPr sz="1300">
          <a:solidFill>
            <a:schemeClr val="tx1"/>
          </a:solidFill>
          <a:latin typeface="+mn-lt"/>
        </a:defRPr>
      </a:lvl9pPr>
    </p:bodyStyle>
    <p:otherStyle>
      <a:defPPr>
        <a:defRPr lang="en-US"/>
      </a:defPPr>
      <a:lvl1pPr marL="0" algn="l" defTabSz="1018228" rtl="0" eaLnBrk="1" latinLnBrk="0" hangingPunct="1">
        <a:defRPr sz="2000" kern="1200">
          <a:solidFill>
            <a:schemeClr val="tx1"/>
          </a:solidFill>
          <a:latin typeface="+mn-lt"/>
          <a:ea typeface="+mn-ea"/>
          <a:cs typeface="+mn-cs"/>
        </a:defRPr>
      </a:lvl1pPr>
      <a:lvl2pPr marL="509115" algn="l" defTabSz="1018228" rtl="0" eaLnBrk="1" latinLnBrk="0" hangingPunct="1">
        <a:defRPr sz="2000" kern="1200">
          <a:solidFill>
            <a:schemeClr val="tx1"/>
          </a:solidFill>
          <a:latin typeface="+mn-lt"/>
          <a:ea typeface="+mn-ea"/>
          <a:cs typeface="+mn-cs"/>
        </a:defRPr>
      </a:lvl2pPr>
      <a:lvl3pPr marL="1018228" algn="l" defTabSz="1018228" rtl="0" eaLnBrk="1" latinLnBrk="0" hangingPunct="1">
        <a:defRPr sz="2000" kern="1200">
          <a:solidFill>
            <a:schemeClr val="tx1"/>
          </a:solidFill>
          <a:latin typeface="+mn-lt"/>
          <a:ea typeface="+mn-ea"/>
          <a:cs typeface="+mn-cs"/>
        </a:defRPr>
      </a:lvl3pPr>
      <a:lvl4pPr marL="1527344" algn="l" defTabSz="1018228" rtl="0" eaLnBrk="1" latinLnBrk="0" hangingPunct="1">
        <a:defRPr sz="2000" kern="1200">
          <a:solidFill>
            <a:schemeClr val="tx1"/>
          </a:solidFill>
          <a:latin typeface="+mn-lt"/>
          <a:ea typeface="+mn-ea"/>
          <a:cs typeface="+mn-cs"/>
        </a:defRPr>
      </a:lvl4pPr>
      <a:lvl5pPr marL="2036458" algn="l" defTabSz="1018228" rtl="0" eaLnBrk="1" latinLnBrk="0" hangingPunct="1">
        <a:defRPr sz="2000" kern="1200">
          <a:solidFill>
            <a:schemeClr val="tx1"/>
          </a:solidFill>
          <a:latin typeface="+mn-lt"/>
          <a:ea typeface="+mn-ea"/>
          <a:cs typeface="+mn-cs"/>
        </a:defRPr>
      </a:lvl5pPr>
      <a:lvl6pPr marL="2545574" algn="l" defTabSz="1018228" rtl="0" eaLnBrk="1" latinLnBrk="0" hangingPunct="1">
        <a:defRPr sz="2000" kern="1200">
          <a:solidFill>
            <a:schemeClr val="tx1"/>
          </a:solidFill>
          <a:latin typeface="+mn-lt"/>
          <a:ea typeface="+mn-ea"/>
          <a:cs typeface="+mn-cs"/>
        </a:defRPr>
      </a:lvl6pPr>
      <a:lvl7pPr marL="3054686" algn="l" defTabSz="1018228" rtl="0" eaLnBrk="1" latinLnBrk="0" hangingPunct="1">
        <a:defRPr sz="2000" kern="1200">
          <a:solidFill>
            <a:schemeClr val="tx1"/>
          </a:solidFill>
          <a:latin typeface="+mn-lt"/>
          <a:ea typeface="+mn-ea"/>
          <a:cs typeface="+mn-cs"/>
        </a:defRPr>
      </a:lvl7pPr>
      <a:lvl8pPr marL="3563802" algn="l" defTabSz="1018228" rtl="0" eaLnBrk="1" latinLnBrk="0" hangingPunct="1">
        <a:defRPr sz="2000" kern="1200">
          <a:solidFill>
            <a:schemeClr val="tx1"/>
          </a:solidFill>
          <a:latin typeface="+mn-lt"/>
          <a:ea typeface="+mn-ea"/>
          <a:cs typeface="+mn-cs"/>
        </a:defRPr>
      </a:lvl8pPr>
      <a:lvl9pPr marL="4072914" algn="l" defTabSz="1018228"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Text Placeholder 15"/>
          <p:cNvSpPr>
            <a:spLocks noGrp="1"/>
          </p:cNvSpPr>
          <p:nvPr>
            <p:ph type="body" idx="1"/>
          </p:nvPr>
        </p:nvSpPr>
        <p:spPr bwMode="gray">
          <a:xfrm>
            <a:off x="452628" y="1586865"/>
            <a:ext cx="9163202" cy="169755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2" descr="DEL_COL"/>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gray">
          <a:xfrm>
            <a:off x="436563" y="7502525"/>
            <a:ext cx="976154" cy="18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a:spLocks noGrp="1" noChangeArrowheads="1"/>
          </p:cNvSpPr>
          <p:nvPr>
            <p:ph type="title"/>
          </p:nvPr>
        </p:nvSpPr>
        <p:spPr bwMode="gray">
          <a:xfrm>
            <a:off x="440055" y="462387"/>
            <a:ext cx="9171305" cy="41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9" name="Text Box 5"/>
          <p:cNvSpPr txBox="1">
            <a:spLocks noChangeArrowheads="1"/>
          </p:cNvSpPr>
          <p:nvPr userDrawn="1"/>
        </p:nvSpPr>
        <p:spPr bwMode="gray">
          <a:xfrm>
            <a:off x="4824893" y="7504582"/>
            <a:ext cx="410369" cy="212046"/>
          </a:xfrm>
          <a:prstGeom prst="rect">
            <a:avLst/>
          </a:prstGeom>
          <a:noFill/>
          <a:ln>
            <a:noFill/>
          </a:ln>
          <a:effectLst>
            <a:prstShdw prst="shdw17" dist="17961" dir="2700000">
              <a:srgbClr val="858585"/>
            </a:prstShdw>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b" anchorCtr="1">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algn="ctr" eaLnBrk="0" fontAlgn="base" hangingPunct="0">
              <a:lnSpc>
                <a:spcPct val="106000"/>
              </a:lnSpc>
              <a:spcBef>
                <a:spcPct val="50000"/>
              </a:spcBef>
              <a:spcAft>
                <a:spcPct val="0"/>
              </a:spcAft>
              <a:defRPr b="1">
                <a:solidFill>
                  <a:schemeClr val="tx1"/>
                </a:solidFill>
                <a:latin typeface="Arial" charset="0"/>
              </a:defRPr>
            </a:lvl6pPr>
            <a:lvl7pPr marL="2971800" indent="-228600" algn="ctr" eaLnBrk="0" fontAlgn="base" hangingPunct="0">
              <a:lnSpc>
                <a:spcPct val="106000"/>
              </a:lnSpc>
              <a:spcBef>
                <a:spcPct val="50000"/>
              </a:spcBef>
              <a:spcAft>
                <a:spcPct val="0"/>
              </a:spcAft>
              <a:defRPr b="1">
                <a:solidFill>
                  <a:schemeClr val="tx1"/>
                </a:solidFill>
                <a:latin typeface="Arial" charset="0"/>
              </a:defRPr>
            </a:lvl7pPr>
            <a:lvl8pPr marL="3429000" indent="-228600" algn="ctr" eaLnBrk="0" fontAlgn="base" hangingPunct="0">
              <a:lnSpc>
                <a:spcPct val="106000"/>
              </a:lnSpc>
              <a:spcBef>
                <a:spcPct val="50000"/>
              </a:spcBef>
              <a:spcAft>
                <a:spcPct val="0"/>
              </a:spcAft>
              <a:defRPr b="1">
                <a:solidFill>
                  <a:schemeClr val="tx1"/>
                </a:solidFill>
                <a:latin typeface="Arial" charset="0"/>
              </a:defRPr>
            </a:lvl8pPr>
            <a:lvl9pPr marL="3886200" indent="-228600" algn="ctr" eaLnBrk="0" fontAlgn="base" hangingPunct="0">
              <a:lnSpc>
                <a:spcPct val="106000"/>
              </a:lnSpc>
              <a:spcBef>
                <a:spcPct val="50000"/>
              </a:spcBef>
              <a:spcAft>
                <a:spcPct val="0"/>
              </a:spcAft>
              <a:defRPr b="1">
                <a:solidFill>
                  <a:schemeClr val="tx1"/>
                </a:solidFill>
                <a:latin typeface="Arial" charset="0"/>
              </a:defRPr>
            </a:lvl9pPr>
          </a:lstStyle>
          <a:p>
            <a:pPr algn="ctr" defTabSz="913866" eaLnBrk="0" fontAlgn="base" hangingPunct="0">
              <a:lnSpc>
                <a:spcPct val="106000"/>
              </a:lnSpc>
              <a:spcBef>
                <a:spcPct val="0"/>
              </a:spcBef>
              <a:spcAft>
                <a:spcPct val="0"/>
              </a:spcAft>
              <a:buClr>
                <a:srgbClr val="000000"/>
              </a:buClr>
              <a:buSzPct val="65000"/>
              <a:buFont typeface="Wingdings" pitchFamily="2" charset="2"/>
              <a:buNone/>
            </a:pPr>
            <a:r>
              <a:rPr lang="en-US" sz="1300" b="0" dirty="0" smtClean="0">
                <a:solidFill>
                  <a:srgbClr val="000000"/>
                </a:solidFill>
              </a:rPr>
              <a:t>- </a:t>
            </a:r>
            <a:fld id="{AFC8C86E-9210-4089-B58E-33388388BE58}" type="slidenum">
              <a:rPr lang="en-US" sz="1300" b="0" smtClean="0">
                <a:solidFill>
                  <a:srgbClr val="000000"/>
                </a:solidFill>
              </a:rPr>
              <a:pPr algn="ctr" defTabSz="913866" eaLnBrk="0" fontAlgn="base" hangingPunct="0">
                <a:lnSpc>
                  <a:spcPct val="106000"/>
                </a:lnSpc>
                <a:spcBef>
                  <a:spcPct val="0"/>
                </a:spcBef>
                <a:spcAft>
                  <a:spcPct val="0"/>
                </a:spcAft>
                <a:buClr>
                  <a:srgbClr val="000000"/>
                </a:buClr>
                <a:buSzPct val="65000"/>
                <a:buFont typeface="Wingdings" pitchFamily="2" charset="2"/>
                <a:buNone/>
              </a:pPr>
              <a:t>‹#›</a:t>
            </a:fld>
            <a:r>
              <a:rPr lang="en-US" sz="1300" b="0" dirty="0" smtClean="0">
                <a:solidFill>
                  <a:srgbClr val="000000"/>
                </a:solidFill>
              </a:rPr>
              <a:t> -</a:t>
            </a:r>
          </a:p>
        </p:txBody>
      </p:sp>
    </p:spTree>
    <p:extLst>
      <p:ext uri="{BB962C8B-B14F-4D97-AF65-F5344CB8AC3E}">
        <p14:creationId xmlns:p14="http://schemas.microsoft.com/office/powerpoint/2010/main" val="22424814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dt="0"/>
  <p:txStyles>
    <p:titleStyle>
      <a:lvl1pPr algn="l" rtl="0" eaLnBrk="1" fontAlgn="base" hangingPunct="1">
        <a:lnSpc>
          <a:spcPts val="2897"/>
        </a:lnSpc>
        <a:spcBef>
          <a:spcPct val="0"/>
        </a:spcBef>
        <a:spcAft>
          <a:spcPct val="0"/>
        </a:spcAft>
        <a:defRPr kumimoji="0" lang="en-US" sz="2700" b="1" i="0" u="none" strike="noStrike" kern="1200" cap="none" spc="0" normalizeH="0" baseline="0" noProof="0" dirty="0" smtClean="0">
          <a:ln>
            <a:noFill/>
          </a:ln>
          <a:solidFill>
            <a:srgbClr val="000000"/>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509412" algn="l" rtl="0" eaLnBrk="1" fontAlgn="base" hangingPunct="1">
        <a:spcBef>
          <a:spcPct val="0"/>
        </a:spcBef>
        <a:spcAft>
          <a:spcPct val="0"/>
        </a:spcAft>
        <a:defRPr sz="2700" b="1">
          <a:solidFill>
            <a:schemeClr val="accent1"/>
          </a:solidFill>
          <a:latin typeface="Arial" charset="0"/>
        </a:defRPr>
      </a:lvl6pPr>
      <a:lvl7pPr marL="1018824" algn="l" rtl="0" eaLnBrk="1" fontAlgn="base" hangingPunct="1">
        <a:spcBef>
          <a:spcPct val="0"/>
        </a:spcBef>
        <a:spcAft>
          <a:spcPct val="0"/>
        </a:spcAft>
        <a:defRPr sz="2700" b="1">
          <a:solidFill>
            <a:schemeClr val="accent1"/>
          </a:solidFill>
          <a:latin typeface="Arial" charset="0"/>
        </a:defRPr>
      </a:lvl7pPr>
      <a:lvl8pPr marL="1528237" algn="l" rtl="0" eaLnBrk="1" fontAlgn="base" hangingPunct="1">
        <a:spcBef>
          <a:spcPct val="0"/>
        </a:spcBef>
        <a:spcAft>
          <a:spcPct val="0"/>
        </a:spcAft>
        <a:defRPr sz="2700" b="1">
          <a:solidFill>
            <a:schemeClr val="accent1"/>
          </a:solidFill>
          <a:latin typeface="Arial" charset="0"/>
        </a:defRPr>
      </a:lvl8pPr>
      <a:lvl9pPr marL="2037649" algn="l" rtl="0" eaLnBrk="1" fontAlgn="base" hangingPunct="1">
        <a:spcBef>
          <a:spcPct val="0"/>
        </a:spcBef>
        <a:spcAft>
          <a:spcPct val="0"/>
        </a:spcAft>
        <a:defRPr sz="2700" b="1">
          <a:solidFill>
            <a:schemeClr val="accent1"/>
          </a:solidFill>
          <a:latin typeface="Arial" charset="0"/>
        </a:defRPr>
      </a:lvl9pPr>
    </p:titleStyle>
    <p:bodyStyle>
      <a:lvl1pPr marR="0" indent="0" algn="l" defTabSz="1018824" rtl="0" eaLnBrk="1" fontAlgn="base" latinLnBrk="0" hangingPunct="1">
        <a:lnSpc>
          <a:spcPct val="100000"/>
        </a:lnSpc>
        <a:spcBef>
          <a:spcPts val="2451"/>
        </a:spcBef>
        <a:spcAft>
          <a:spcPct val="0"/>
        </a:spcAft>
        <a:buFont typeface="Arial" pitchFamily="34" charset="0"/>
        <a:tabLst/>
        <a:defRPr kumimoji="0" lang="en-US" sz="2000" b="0" i="0" u="none" strike="noStrike" kern="1200" cap="none" normalizeH="0" baseline="0" dirty="0" smtClean="0">
          <a:ln>
            <a:noFill/>
          </a:ln>
          <a:solidFill>
            <a:srgbClr val="000000"/>
          </a:solidFill>
          <a:effectLst/>
          <a:latin typeface="+mn-lt"/>
          <a:ea typeface="+mn-ea"/>
          <a:cs typeface="Arial" pitchFamily="34" charset="0"/>
        </a:defRPr>
      </a:lvl1pPr>
      <a:lvl2pPr marL="194567" marR="0" indent="-194567" algn="l" defTabSz="1018824" rtl="0" eaLnBrk="1" fontAlgn="base" latinLnBrk="0" hangingPunct="1">
        <a:lnSpc>
          <a:spcPct val="100000"/>
        </a:lnSpc>
        <a:spcBef>
          <a:spcPts val="446"/>
        </a:spcBef>
        <a:spcAft>
          <a:spcPct val="0"/>
        </a:spcAft>
        <a:buFont typeface="Arial" pitchFamily="34" charset="0"/>
        <a:buChar char="•"/>
        <a:tabLst/>
        <a:defRPr kumimoji="0" lang="en-US" sz="2000" b="0" i="0" u="none" strike="noStrike" kern="1200" cap="none" normalizeH="0" baseline="0" dirty="0" smtClean="0">
          <a:ln>
            <a:noFill/>
          </a:ln>
          <a:solidFill>
            <a:srgbClr val="000000"/>
          </a:solidFill>
          <a:effectLst/>
          <a:latin typeface="+mn-lt"/>
          <a:ea typeface="+mn-ea"/>
          <a:cs typeface="Arial" pitchFamily="34" charset="0"/>
        </a:defRPr>
      </a:lvl2pPr>
      <a:lvl3pPr marL="380291" indent="-191030" algn="l" rtl="0" eaLnBrk="1" fontAlgn="base" hangingPunct="1">
        <a:lnSpc>
          <a:spcPct val="100000"/>
        </a:lnSpc>
        <a:spcBef>
          <a:spcPts val="446"/>
        </a:spcBef>
        <a:spcAft>
          <a:spcPct val="0"/>
        </a:spcAft>
        <a:buFont typeface="Arial" pitchFamily="34" charset="0"/>
        <a:buChar char="–"/>
        <a:defRPr lang="en-US" sz="1800" kern="1200" dirty="0" smtClean="0">
          <a:solidFill>
            <a:srgbClr val="000000"/>
          </a:solidFill>
          <a:latin typeface="+mn-lt"/>
          <a:ea typeface="+mn-ea"/>
          <a:cs typeface="+mn-cs"/>
        </a:defRPr>
      </a:lvl3pPr>
      <a:lvl4pPr marL="574858" marR="0" indent="-194567" algn="l" defTabSz="1018824" rtl="0" eaLnBrk="1" fontAlgn="base" latinLnBrk="0" hangingPunct="1">
        <a:lnSpc>
          <a:spcPct val="100000"/>
        </a:lnSpc>
        <a:spcBef>
          <a:spcPts val="446"/>
        </a:spcBef>
        <a:spcAft>
          <a:spcPct val="0"/>
        </a:spcAft>
        <a:buFont typeface="Arial" pitchFamily="34" charset="0"/>
        <a:buChar char="•"/>
        <a:tabLst/>
        <a:defRPr kumimoji="0" lang="en-US" sz="1800" b="0" i="0" u="none" strike="noStrike" kern="1200" cap="none" normalizeH="0" baseline="0" dirty="0" smtClean="0">
          <a:ln>
            <a:noFill/>
          </a:ln>
          <a:solidFill>
            <a:srgbClr val="000000"/>
          </a:solidFill>
          <a:effectLst/>
          <a:latin typeface="Arial" pitchFamily="34" charset="0"/>
          <a:ea typeface="+mn-ea"/>
          <a:cs typeface="Arial" pitchFamily="34" charset="0"/>
        </a:defRPr>
      </a:lvl4pPr>
      <a:lvl5pPr marL="767656" marR="0" indent="-192799" algn="l" defTabSz="1018824" rtl="0" eaLnBrk="1" fontAlgn="base" latinLnBrk="0" hangingPunct="1">
        <a:lnSpc>
          <a:spcPct val="100000"/>
        </a:lnSpc>
        <a:spcBef>
          <a:spcPts val="446"/>
        </a:spcBef>
        <a:spcAft>
          <a:spcPct val="0"/>
        </a:spcAft>
        <a:buFont typeface="Arial" pitchFamily="34" charset="0"/>
        <a:buChar char="–"/>
        <a:tabLst/>
        <a:defRPr kumimoji="0" lang="en-US" sz="1800" b="0" i="0" u="none" strike="noStrike" kern="1200" cap="none" normalizeH="0" baseline="0" dirty="0" smtClean="0">
          <a:ln>
            <a:noFill/>
          </a:ln>
          <a:solidFill>
            <a:srgbClr val="000000"/>
          </a:solidFill>
          <a:effectLst/>
          <a:latin typeface="Arial" pitchFamily="34" charset="0"/>
          <a:ea typeface="+mn-ea"/>
          <a:cs typeface="Arial" pitchFamily="34" charset="0"/>
        </a:defRPr>
      </a:lvl5pPr>
      <a:lvl6pPr marL="742893" marR="0" indent="-185724" algn="l" defTabSz="1018824" rtl="0" eaLnBrk="1" fontAlgn="base" latinLnBrk="0" hangingPunct="1">
        <a:lnSpc>
          <a:spcPct val="100000"/>
        </a:lnSpc>
        <a:spcBef>
          <a:spcPts val="446"/>
        </a:spcBef>
        <a:spcAft>
          <a:spcPct val="0"/>
        </a:spcAft>
        <a:buFont typeface="Arial" pitchFamily="34" charset="0"/>
        <a:buChar char="–"/>
        <a:tabLst/>
        <a:defRPr kumimoji="0" lang="en-US" sz="11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hyperlink" Target="http://4.bp.blogspot.com/-1Z-fEO52G6U/Ttbxfws3wlI/AAAAAAAAAZo/7_ZJR7kBElM/s1600/IMAGE_D43E30FD-12F6-49BE-9ABD-25B6F4F3D76D.JPG" TargetMode="External"/><Relationship Id="rId7"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gif"/><Relationship Id="rId4" Type="http://schemas.openxmlformats.org/officeDocument/2006/relationships/hyperlink" Target="http://www.deloittewiki.ca/mediawiki/index.php/Image:SIP-MainImage.gi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1.bp.blogspot.com/-NQRHFPJv_Qs/TtbxeVqoN_I/AAAAAAAAAZY/i_ly2SFusnU/s1600/IMAGE_8F36704A-BCB5-4C06-B9C7-0FAE8A446C91.JP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hyperlink" Target="http://1.bp.blogspot.com/-YvrfO0Et6Hw/TtbxfN5AyLI/AAAAAAAAAZg/8N0ECNdTfu8/s1600/IMAGE_7489D6CA-BCD1-4450-AD19-6D596BEF9647.JPG" TargetMode="Externa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hyperlink" Target="http://en.wikipedia.org/wiki/Acceptance_testing" TargetMode="Externa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hyperlink" Target="http://citconf.com/wiki/index.php?title=User_Acceptance_Test_Driven_Development_in_a_Scrum_Team_using_Fitnesse_%26_How_people_use_Fitnesse" TargetMode="External"/><Relationship Id="rId2" Type="http://schemas.openxmlformats.org/officeDocument/2006/relationships/hyperlink" Target="http://www.extremeprogramming.org/rules/functionaltests.html" TargetMode="External"/><Relationship Id="rId1" Type="http://schemas.openxmlformats.org/officeDocument/2006/relationships/slideLayout" Target="../slideLayouts/slideLayout26.xml"/><Relationship Id="rId4" Type="http://schemas.openxmlformats.org/officeDocument/2006/relationships/hyperlink" Target="http://www.summa-tech.com/about/methodology/meth_rup.php4" TargetMode="External"/></Relationships>
</file>

<file path=ppt/slides/_rels/slide23.xml.rels><?xml version="1.0" encoding="UTF-8" standalone="yes"?>
<Relationships xmlns="http://schemas.openxmlformats.org/package/2006/relationships"><Relationship Id="rId2" Type="http://schemas.openxmlformats.org/officeDocument/2006/relationships/hyperlink" Target="http://en.wikipedia.org/wiki/Exploratory_testing" TargetMode="Externa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hyperlink" Target="http://en.wikipedia.org/wiki/Software_testing" TargetMode="Externa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hyperlink" Target="http://en.wikipedia.org/wiki/Software_bug" TargetMode="Externa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hyperlink" Target="http://www.thoughtworks-studios.com/company/07-06-2011-thoughtworks-studios-defines-agile-alm-in-new-white-paper" TargetMode="Externa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hyperlink" Target="http://www.klariti.com/technical-writing/operating-manuals-tutorial.shtml" TargetMode="Externa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hyperlink" Target="http://codekata.pragprog.com/" TargetMode="External"/><Relationship Id="rId2" Type="http://schemas.openxmlformats.org/officeDocument/2006/relationships/hyperlink" Target="http://katas.softwarecraftsmanship.org/?page_id=2" TargetMode="Externa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hyperlink" Target="http://butunclebob.com/ArticleS.UncleBob.PrinciplesOfOod" TargetMode="Externa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hyperlink" Target="http://www.ibm.com/developerworks/rational/library/feb06/eeles/" TargetMode="Externa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hyperlink" Target="http://www.ibm.com/developerworks/rational/library/4706.html" TargetMode="Externa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hyperlink" Target="http://www.pld.ttu.ee/~kruus/db_is02.pdf" TargetMode="Externa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hyperlink" Target="http://www.softwarereality.com/design/early_prototyping.jsp" TargetMode="Externa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hyperlink" Target="http://www.agilemodeling.com/essays/modelStorming.htm" TargetMode="Externa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hyperlink" Target="http://www.agilemodeling.com/artifacts/classDiagram.htm" TargetMode="External"/><Relationship Id="rId2" Type="http://schemas.openxmlformats.org/officeDocument/2006/relationships/hyperlink" Target="http://www.agilemodeling.com/artifacts/sequenceDiagram.htm" TargetMode="Externa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hyperlink" Target="http://www.extremeprogramming.org/rules/metaphor.html" TargetMode="Externa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hyperlink" Target="http://www.extremeprogramming.org/rules/spike.html" TargetMode="Externa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hyperlink" Target="http://www.agilemodeling.com/artifacts/crcModel.htm" TargetMode="Externa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3" Type="http://schemas.openxmlformats.org/officeDocument/2006/relationships/hyperlink" Target="http://alistair.cockburn.us/Agile+software+development+book" TargetMode="External"/><Relationship Id="rId2" Type="http://schemas.openxmlformats.org/officeDocument/2006/relationships/hyperlink" Target="http://www.agilemodeling.com/artifacts/useCaseDiagram.htm" TargetMode="Externa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hyperlink" Target="http://www.infoq.com/news/2008/11/nonfunctional-requirements" TargetMode="Externa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hyperlink" Target="http://en.wikipedia.org/wiki/System_context_diagram" TargetMode="Externa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hyperlink" Target="http://domaindrivendesign.org/resources/what_is_ddd" TargetMode="Externa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hyperlink" Target="http://martinfowler.com/bliki/UbiquitousLanguage.html" TargetMode="Externa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3" Type="http://schemas.openxmlformats.org/officeDocument/2006/relationships/hyperlink" Target="http://domaindrivendesign.org/books/evans_2003" TargetMode="External"/><Relationship Id="rId2" Type="http://schemas.openxmlformats.org/officeDocument/2006/relationships/hyperlink" Target="http://domaindrivendesign.org/node/98" TargetMode="Externa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hyperlink" Target="http://www.agilemodeling.com/artifacts/essentialUI.htm" TargetMode="Externa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hyperlink" Target="http://www.petercoad.com/download/bookpdfs/jmcuch06.pdf" TargetMode="Externa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hyperlink" Target="http://www.upstarthq.com/2010/04/introduction-to-minimum-marketable-features-mmf/" TargetMode="Externa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3" Type="http://schemas.openxmlformats.org/officeDocument/2006/relationships/hyperlink" Target="http://xprogramming.com/articles/expcardconversationconfirmation/" TargetMode="External"/><Relationship Id="rId2" Type="http://schemas.openxmlformats.org/officeDocument/2006/relationships/hyperlink" Target="http://www.extremeprogramming.org/rules/userstories.html" TargetMode="Externa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hyperlink" Target="http://scrumcoaching.wordpress.com/2010/10/26/story-mapping/" TargetMode="Externa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2" Type="http://schemas.openxmlformats.org/officeDocument/2006/relationships/hyperlink" Target="http://www.agilemodeling.com/artifacts/usageScenario.htm" TargetMode="Externa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hyperlink" Target="http://agilesoftwaredevelopment.com/blog/artem/epics-and-themes" TargetMode="Externa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2" Type="http://schemas.openxmlformats.org/officeDocument/2006/relationships/hyperlink" Target="http://www.reliableplant.com/Read/22984/a3-problem-solving-lean" TargetMode="Externa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2" Type="http://schemas.openxmlformats.org/officeDocument/2006/relationships/hyperlink" Target="http://www.mountaingoatsoftware.com/scrum/product-backlog" TargetMode="Externa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2" Type="http://schemas.openxmlformats.org/officeDocument/2006/relationships/hyperlink" Target="http://en.wikipedia.org/wiki/5_Whys" TargetMode="Externa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hyperlink" Target="http://en.wikipedia.org/wiki/Value_stream_mapping" TargetMode="Externa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hyperlink" Target="http://en.wikipedia.org/wiki/Kaizen" TargetMode="Externa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hyperlink" Target="http://leanagilemachine.blogspot.com/p/kanban.html" TargetMode="Externa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hyperlink" Target="http://agilemanagement.net/index.php/Blog/kanban_and_the_doi/" TargetMode="Externa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hyperlink" Target="http://leankitblog.com/2011/06/make-process-policies-explicit/" TargetMode="Externa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hyperlink" Target="http://leankitblog.com/2011/06/make-process-policies-explicit/" TargetMode="Externa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hyperlink" Target="http://agileconsulting.blogspot.com/2010/07/using-class-of-service-concept.html" TargetMode="Externa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2" Type="http://schemas.openxmlformats.org/officeDocument/2006/relationships/hyperlink" Target="http://www.agileadvice.com/archives/2005/05/information_rad.html" TargetMode="Externa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hyperlink" Target="http://www.infoq.com/articles/agile-team-room-wishlist" TargetMode="Externa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hyperlink" Target="http://www.ibm.com/developerworks/rational/library/sep05/rose/index.html" TargetMode="Externa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2" Type="http://schemas.openxmlformats.org/officeDocument/2006/relationships/hyperlink" Target="http://agileconsulting.blogspot.com/2010/12/using-standardized-work-types-to-enable.html" TargetMode="Externa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hyperlink" Target="http://en.wikipedia.org/wiki/Statistical_process_control" TargetMode="Externa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2" Type="http://schemas.openxmlformats.org/officeDocument/2006/relationships/hyperlink" Target="http://leadinganswers.typepad.com/leading_answers/files/creating_and_interpreting_cumulative_flow_diagrams.pdf" TargetMode="External"/><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hyperlink" Target="http://toolsforagile.com/blog/archives/647" TargetMode="Externa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hyperlink" Target="http://leadinganswers.typepad.com/leading_answers/files/creating_and_interpreting_cumulative_flow_diagrams.pdf" TargetMode="Externa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2" Type="http://schemas.openxmlformats.org/officeDocument/2006/relationships/hyperlink" Target="http://www.agilean.com/resources/faqs/agile_lean_glossary/agile_lean_glossary.htm" TargetMode="External"/><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2" Type="http://schemas.openxmlformats.org/officeDocument/2006/relationships/hyperlink" Target="http://agiletools.wordpress.com/2007/11/24/task-boards-telling-a-compelling-agile-story/" TargetMode="External"/><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hyperlink" Target="http://www.agilean.com/resources/faqs/agile_lean_glossary/agile_lean_glossary.htm" TargetMode="Externa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hyperlink" Target="http://www.extremeprogramming.org/rules/iterationplanning.html" TargetMode="Externa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hyperlink" Target="http://www.extremeprogramming.org/rules/commit.html" TargetMode="External"/><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hyperlink" Target="http://www.agilecollab.com/self-organizing-team" TargetMode="Externa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2" Type="http://schemas.openxmlformats.org/officeDocument/2006/relationships/hyperlink" Target="http://www.mountaingoatsoftware.com/books/1" TargetMode="Externa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2" Type="http://schemas.openxmlformats.org/officeDocument/2006/relationships/hyperlink" Target="http://www.scrumalliance.org/articles/105-what-is-definition-of-done-dod" TargetMode="Externa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2" Type="http://schemas.openxmlformats.org/officeDocument/2006/relationships/hyperlink" Target="http://www.infoq.com/articles/agile-kanban-boards" TargetMode="External"/><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2" Type="http://schemas.openxmlformats.org/officeDocument/2006/relationships/hyperlink" Target="http://www.extremeprogramming.org/rules/standupmeeting.html" TargetMode="External"/><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2" Type="http://schemas.openxmlformats.org/officeDocument/2006/relationships/hyperlink" Target="http://leanandkanban.wordpress.com/2009/04/04/tracking-blockers/" TargetMode="Externa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hyperlink" Target="http://www.infoq.com/news/2010/12/agile-scrum-retrospectives" TargetMode="External"/><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2" Type="http://schemas.openxmlformats.org/officeDocument/2006/relationships/hyperlink" Target="http://www.mountaingoatsoftware.com/scrum/release-burndown" TargetMode="External"/><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hyperlink" Target="http://martinfowler.com/articles/continuousIntegration.html" TargetMode="External"/><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3" Type="http://schemas.openxmlformats.org/officeDocument/2006/relationships/hyperlink" Target="http://www.avc.com/a_vc/2011/02/continuous-deployment.html" TargetMode="External"/><Relationship Id="rId2" Type="http://schemas.openxmlformats.org/officeDocument/2006/relationships/hyperlink" Target="http://radar.oreilly.com/2009/03/continuous-deployment-5-eas.html" TargetMode="External"/><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hyperlink" Target="http://en.wikipedia.org/wiki/Neutral_build" TargetMode="External"/><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2" Type="http://schemas.openxmlformats.org/officeDocument/2006/relationships/hyperlink" Target="http://domaindrivendesign.org/" TargetMode="External"/><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hyperlink" Target="http://www.informit.com/articles/article.aspx?p=375542&amp;seqNum=3" TargetMode="External"/><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hyperlink" Target="http://en.wikipedia.org/wiki/Code_review" TargetMode="Externa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hyperlink" Target="http://www.slideshare.net/wakaleo/how-can-you-improve-harmonize-and-automate-your-development-process-using-tools-like-maven-hudson-and-nexus-this-presentation-is-a-highlevel-overview-of-java-software-development-process-improvement-3321091" TargetMode="Externa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3" Type="http://schemas.openxmlformats.org/officeDocument/2006/relationships/hyperlink" Target="http://www.extremeprogramming.org/rules/unittests.html" TargetMode="External"/><Relationship Id="rId2" Type="http://schemas.openxmlformats.org/officeDocument/2006/relationships/hyperlink" Target="http://en.wikipedia.org/wiki/Unit_testing" TargetMode="Externa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2" Type="http://schemas.openxmlformats.org/officeDocument/2006/relationships/hyperlink" Target="http://www.methodsandtools.com/archive/archive.php?id=20" TargetMode="Externa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hyperlink" Target="http://en.wikipedia.org/wiki/Build_automation" TargetMode="Externa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2" Type="http://schemas.openxmlformats.org/officeDocument/2006/relationships/hyperlink" Target="http://www.agilesherpa.org/agile_coach/review/iteration_review/" TargetMode="External"/><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2" Type="http://schemas.openxmlformats.org/officeDocument/2006/relationships/hyperlink" Target="http://en.wikipedia.org/wiki/Self-documenting" TargetMode="External"/><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2" Type="http://schemas.openxmlformats.org/officeDocument/2006/relationships/hyperlink" Target="http://www.scrumalliance.org/articles/106-definition-of-done-a-reference" TargetMode="External"/><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2" Type="http://schemas.openxmlformats.org/officeDocument/2006/relationships/hyperlink" Target="http://www.extremeprogramming.org/rules/pair.html" TargetMode="External"/><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2" Type="http://schemas.openxmlformats.org/officeDocument/2006/relationships/hyperlink" Target="http://www.extremeprogramming.org/rules/collective.html" TargetMode="External"/><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2" Type="http://schemas.openxmlformats.org/officeDocument/2006/relationships/hyperlink" Target="http://en.wikipedia.org/wiki/Code_refactoring" TargetMode="External"/><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2" Type="http://schemas.openxmlformats.org/officeDocument/2006/relationships/hyperlink" Target="http://www.infoq.com/news/collaborative-team-space-study" TargetMode="External"/><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2" Type="http://schemas.openxmlformats.org/officeDocument/2006/relationships/hyperlink" Target="http://inventuregroup.com/Leading/Alignment.aspx" TargetMode="External"/><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2" Type="http://schemas.openxmlformats.org/officeDocument/2006/relationships/hyperlink" Target="http://acetechnologiesnet.com/services/independent_qa_testing.php" TargetMode="External"/><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2" Type="http://schemas.openxmlformats.org/officeDocument/2006/relationships/hyperlink" Target="http://www.extremeprogramming.org/rules/functionaltests.html" TargetMode="External"/><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2" Type="http://schemas.openxmlformats.org/officeDocument/2006/relationships/hyperlink" Target="http://www.vietnamesetestingboard.org/zbxe/?document_srl=276643" TargetMode="External"/><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2" Type="http://schemas.openxmlformats.org/officeDocument/2006/relationships/hyperlink" Target="http://en.wikipedia.org/wiki/Test-driven_development" TargetMode="External"/><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2" Type="http://schemas.openxmlformats.org/officeDocument/2006/relationships/hyperlink" Target="http://www.developerfusion.com/article/6766/secrets-of-successful-software-requirements/5/" TargetMode="External"/><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2" Type="http://schemas.openxmlformats.org/officeDocument/2006/relationships/hyperlink" Target="http://dannorth.net/introducing-bdd/" TargetMode="External"/><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2" Type="http://schemas.openxmlformats.org/officeDocument/2006/relationships/hyperlink" Target="http://blog.springsource.com/2007/01/15/unit-testing-with-stubs-and-mocks/" TargetMode="External"/><Relationship Id="rId1" Type="http://schemas.openxmlformats.org/officeDocument/2006/relationships/slideLayout" Target="../slideLayouts/slideLayout2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1.xml.rels><?xml version="1.0" encoding="UTF-8" standalone="yes"?>
<Relationships xmlns="http://schemas.openxmlformats.org/package/2006/relationships"><Relationship Id="rId2" Type="http://schemas.openxmlformats.org/officeDocument/2006/relationships/hyperlink" Target="http://en.wikipedia.org/wiki/Code_refactoring" TargetMode="External"/><Relationship Id="rId1" Type="http://schemas.openxmlformats.org/officeDocument/2006/relationships/slideLayout" Target="../slideLayouts/slideLayout26.xml"/></Relationships>
</file>

<file path=ppt/slides/_rels/slide112.xml.rels><?xml version="1.0" encoding="UTF-8" standalone="yes"?>
<Relationships xmlns="http://schemas.openxmlformats.org/package/2006/relationships"><Relationship Id="rId3" Type="http://schemas.openxmlformats.org/officeDocument/2006/relationships/hyperlink" Target="http://agileconsulting.blogspot.com/2009/01/agile-over-rup-my-preferred-development.html" TargetMode="External"/><Relationship Id="rId2" Type="http://schemas.openxmlformats.org/officeDocument/2006/relationships/hyperlink" Target="http://www.extremeprogramming.org/rules/standards.html" TargetMode="External"/><Relationship Id="rId1" Type="http://schemas.openxmlformats.org/officeDocument/2006/relationships/slideLayout" Target="../slideLayouts/slideLayout26.xml"/></Relationships>
</file>

<file path=ppt/slides/_rels/slide113.xml.rels><?xml version="1.0" encoding="UTF-8" standalone="yes"?>
<Relationships xmlns="http://schemas.openxmlformats.org/package/2006/relationships"><Relationship Id="rId2" Type="http://schemas.openxmlformats.org/officeDocument/2006/relationships/hyperlink" Target="http://msdn.microsoft.com/en-us/library/cc168618.aspx" TargetMode="Externa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gray">
          <a:xfrm>
            <a:off x="838200" y="1589088"/>
            <a:ext cx="65817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700" b="1">
                <a:solidFill>
                  <a:schemeClr val="tx1"/>
                </a:solidFill>
                <a:latin typeface="+mj-lt"/>
                <a:ea typeface="+mj-ea"/>
                <a:cs typeface="+mj-cs"/>
              </a:defRPr>
            </a:lvl1pPr>
            <a:lvl2pPr algn="l" rtl="0" eaLnBrk="0" fontAlgn="base" hangingPunct="0">
              <a:spcBef>
                <a:spcPct val="0"/>
              </a:spcBef>
              <a:spcAft>
                <a:spcPct val="0"/>
              </a:spcAft>
              <a:defRPr sz="2700" b="1">
                <a:solidFill>
                  <a:schemeClr val="tx1"/>
                </a:solidFill>
                <a:latin typeface="Arial" charset="0"/>
              </a:defRPr>
            </a:lvl2pPr>
            <a:lvl3pPr algn="l" rtl="0" eaLnBrk="0" fontAlgn="base" hangingPunct="0">
              <a:spcBef>
                <a:spcPct val="0"/>
              </a:spcBef>
              <a:spcAft>
                <a:spcPct val="0"/>
              </a:spcAft>
              <a:defRPr sz="2700" b="1">
                <a:solidFill>
                  <a:schemeClr val="tx1"/>
                </a:solidFill>
                <a:latin typeface="Arial" charset="0"/>
              </a:defRPr>
            </a:lvl3pPr>
            <a:lvl4pPr algn="l" rtl="0" eaLnBrk="0" fontAlgn="base" hangingPunct="0">
              <a:spcBef>
                <a:spcPct val="0"/>
              </a:spcBef>
              <a:spcAft>
                <a:spcPct val="0"/>
              </a:spcAft>
              <a:defRPr sz="2700" b="1">
                <a:solidFill>
                  <a:schemeClr val="tx1"/>
                </a:solidFill>
                <a:latin typeface="Arial" charset="0"/>
              </a:defRPr>
            </a:lvl4pPr>
            <a:lvl5pPr algn="l" rtl="0" eaLnBrk="0" fontAlgn="base" hangingPunct="0">
              <a:spcBef>
                <a:spcPct val="0"/>
              </a:spcBef>
              <a:spcAft>
                <a:spcPct val="0"/>
              </a:spcAft>
              <a:defRPr sz="2700" b="1">
                <a:solidFill>
                  <a:schemeClr val="tx1"/>
                </a:solidFill>
                <a:latin typeface="Arial" charset="0"/>
              </a:defRPr>
            </a:lvl5pPr>
            <a:lvl6pPr marL="509412" algn="l" rtl="0" fontAlgn="base">
              <a:spcBef>
                <a:spcPct val="0"/>
              </a:spcBef>
              <a:spcAft>
                <a:spcPct val="0"/>
              </a:spcAft>
              <a:defRPr sz="2700" b="1">
                <a:solidFill>
                  <a:schemeClr val="tx1"/>
                </a:solidFill>
                <a:latin typeface="Arial" charset="0"/>
              </a:defRPr>
            </a:lvl6pPr>
            <a:lvl7pPr marL="1018824" algn="l" rtl="0" fontAlgn="base">
              <a:spcBef>
                <a:spcPct val="0"/>
              </a:spcBef>
              <a:spcAft>
                <a:spcPct val="0"/>
              </a:spcAft>
              <a:defRPr sz="2700" b="1">
                <a:solidFill>
                  <a:schemeClr val="tx1"/>
                </a:solidFill>
                <a:latin typeface="Arial" charset="0"/>
              </a:defRPr>
            </a:lvl7pPr>
            <a:lvl8pPr marL="1528237" algn="l" rtl="0" fontAlgn="base">
              <a:spcBef>
                <a:spcPct val="0"/>
              </a:spcBef>
              <a:spcAft>
                <a:spcPct val="0"/>
              </a:spcAft>
              <a:defRPr sz="2700" b="1">
                <a:solidFill>
                  <a:schemeClr val="tx1"/>
                </a:solidFill>
                <a:latin typeface="Arial" charset="0"/>
              </a:defRPr>
            </a:lvl8pPr>
            <a:lvl9pPr marL="2037649" algn="l" rtl="0" fontAlgn="base">
              <a:spcBef>
                <a:spcPct val="0"/>
              </a:spcBef>
              <a:spcAft>
                <a:spcPct val="0"/>
              </a:spcAft>
              <a:defRPr sz="2700" b="1">
                <a:solidFill>
                  <a:schemeClr val="tx1"/>
                </a:solidFill>
                <a:latin typeface="Arial" charset="0"/>
              </a:defRPr>
            </a:lvl9pPr>
          </a:lstStyle>
          <a:p>
            <a:pPr eaLnBrk="1" hangingPunct="1">
              <a:lnSpc>
                <a:spcPts val="3200"/>
              </a:lnSpc>
              <a:spcBef>
                <a:spcPct val="100000"/>
              </a:spcBef>
              <a:buClr>
                <a:schemeClr val="tx2"/>
              </a:buClr>
              <a:buSzPct val="85000"/>
            </a:pPr>
            <a:r>
              <a:rPr lang="en-US" altLang="zh-CN" sz="3200" dirty="0">
                <a:solidFill>
                  <a:srgbClr val="002060"/>
                </a:solidFill>
                <a:ea typeface="SimSun" pitchFamily="2" charset="-122"/>
              </a:rPr>
              <a:t>Deloitte LEAN</a:t>
            </a:r>
          </a:p>
        </p:txBody>
      </p:sp>
      <p:sp>
        <p:nvSpPr>
          <p:cNvPr id="7" name="Rectangle 3"/>
          <p:cNvSpPr txBox="1">
            <a:spLocks noChangeArrowheads="1"/>
          </p:cNvSpPr>
          <p:nvPr/>
        </p:nvSpPr>
        <p:spPr bwMode="gray">
          <a:xfrm>
            <a:off x="838205" y="2138367"/>
            <a:ext cx="6583363"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eaLnBrk="1" hangingPunct="1">
              <a:lnSpc>
                <a:spcPts val="2400"/>
              </a:lnSpc>
              <a:spcBef>
                <a:spcPct val="15000"/>
              </a:spcBef>
              <a:buClrTx/>
            </a:pPr>
            <a:r>
              <a:rPr lang="en-US" altLang="zh-CN" b="1" dirty="0">
                <a:solidFill>
                  <a:srgbClr val="92D050"/>
                </a:solidFill>
                <a:ea typeface="SimSun" pitchFamily="2" charset="-122"/>
              </a:rPr>
              <a:t>L</a:t>
            </a:r>
            <a:r>
              <a:rPr lang="en-US" altLang="zh-CN" dirty="0">
                <a:solidFill>
                  <a:srgbClr val="92D050"/>
                </a:solidFill>
                <a:ea typeface="SimSun" pitchFamily="2" charset="-122"/>
              </a:rPr>
              <a:t>EAN </a:t>
            </a:r>
            <a:r>
              <a:rPr lang="en-US" altLang="zh-CN" b="1" dirty="0">
                <a:solidFill>
                  <a:srgbClr val="92D050"/>
                </a:solidFill>
                <a:ea typeface="SimSun" pitchFamily="2" charset="-122"/>
              </a:rPr>
              <a:t>E</a:t>
            </a:r>
            <a:r>
              <a:rPr lang="en-US" altLang="zh-CN" dirty="0">
                <a:solidFill>
                  <a:srgbClr val="92D050"/>
                </a:solidFill>
                <a:ea typeface="SimSun" pitchFamily="2" charset="-122"/>
              </a:rPr>
              <a:t>nhanced </a:t>
            </a:r>
            <a:r>
              <a:rPr lang="en-US" altLang="zh-CN" b="1" dirty="0">
                <a:solidFill>
                  <a:srgbClr val="92D050"/>
                </a:solidFill>
                <a:ea typeface="SimSun" pitchFamily="2" charset="-122"/>
              </a:rPr>
              <a:t>A</a:t>
            </a:r>
            <a:r>
              <a:rPr lang="en-US" altLang="zh-CN" dirty="0">
                <a:solidFill>
                  <a:srgbClr val="92D050"/>
                </a:solidFill>
                <a:ea typeface="SimSun" pitchFamily="2" charset="-122"/>
              </a:rPr>
              <a:t>gile for e</a:t>
            </a:r>
            <a:r>
              <a:rPr lang="en-US" altLang="zh-CN" b="1" dirty="0">
                <a:solidFill>
                  <a:srgbClr val="92D050"/>
                </a:solidFill>
                <a:ea typeface="SimSun" pitchFamily="2" charset="-122"/>
              </a:rPr>
              <a:t>N</a:t>
            </a:r>
            <a:r>
              <a:rPr lang="en-US" altLang="zh-CN" dirty="0">
                <a:solidFill>
                  <a:srgbClr val="92D050"/>
                </a:solidFill>
                <a:ea typeface="SimSun" pitchFamily="2" charset="-122"/>
              </a:rPr>
              <a:t>terprises</a:t>
            </a:r>
          </a:p>
        </p:txBody>
      </p:sp>
      <p:sp>
        <p:nvSpPr>
          <p:cNvPr id="5" name="Rectangle 2"/>
          <p:cNvSpPr txBox="1">
            <a:spLocks noChangeArrowheads="1"/>
          </p:cNvSpPr>
          <p:nvPr/>
        </p:nvSpPr>
        <p:spPr bwMode="gray">
          <a:xfrm>
            <a:off x="838200" y="5689600"/>
            <a:ext cx="65817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700" b="1">
                <a:solidFill>
                  <a:schemeClr val="tx1"/>
                </a:solidFill>
                <a:latin typeface="+mj-lt"/>
                <a:ea typeface="+mj-ea"/>
                <a:cs typeface="+mj-cs"/>
              </a:defRPr>
            </a:lvl1pPr>
            <a:lvl2pPr algn="l" rtl="0" eaLnBrk="0" fontAlgn="base" hangingPunct="0">
              <a:spcBef>
                <a:spcPct val="0"/>
              </a:spcBef>
              <a:spcAft>
                <a:spcPct val="0"/>
              </a:spcAft>
              <a:defRPr sz="2700" b="1">
                <a:solidFill>
                  <a:schemeClr val="tx1"/>
                </a:solidFill>
                <a:latin typeface="Arial" charset="0"/>
              </a:defRPr>
            </a:lvl2pPr>
            <a:lvl3pPr algn="l" rtl="0" eaLnBrk="0" fontAlgn="base" hangingPunct="0">
              <a:spcBef>
                <a:spcPct val="0"/>
              </a:spcBef>
              <a:spcAft>
                <a:spcPct val="0"/>
              </a:spcAft>
              <a:defRPr sz="2700" b="1">
                <a:solidFill>
                  <a:schemeClr val="tx1"/>
                </a:solidFill>
                <a:latin typeface="Arial" charset="0"/>
              </a:defRPr>
            </a:lvl3pPr>
            <a:lvl4pPr algn="l" rtl="0" eaLnBrk="0" fontAlgn="base" hangingPunct="0">
              <a:spcBef>
                <a:spcPct val="0"/>
              </a:spcBef>
              <a:spcAft>
                <a:spcPct val="0"/>
              </a:spcAft>
              <a:defRPr sz="2700" b="1">
                <a:solidFill>
                  <a:schemeClr val="tx1"/>
                </a:solidFill>
                <a:latin typeface="Arial" charset="0"/>
              </a:defRPr>
            </a:lvl4pPr>
            <a:lvl5pPr algn="l" rtl="0" eaLnBrk="0" fontAlgn="base" hangingPunct="0">
              <a:spcBef>
                <a:spcPct val="0"/>
              </a:spcBef>
              <a:spcAft>
                <a:spcPct val="0"/>
              </a:spcAft>
              <a:defRPr sz="2700" b="1">
                <a:solidFill>
                  <a:schemeClr val="tx1"/>
                </a:solidFill>
                <a:latin typeface="Arial" charset="0"/>
              </a:defRPr>
            </a:lvl5pPr>
            <a:lvl6pPr marL="509412" algn="l" rtl="0" fontAlgn="base">
              <a:spcBef>
                <a:spcPct val="0"/>
              </a:spcBef>
              <a:spcAft>
                <a:spcPct val="0"/>
              </a:spcAft>
              <a:defRPr sz="2700" b="1">
                <a:solidFill>
                  <a:schemeClr val="tx1"/>
                </a:solidFill>
                <a:latin typeface="Arial" charset="0"/>
              </a:defRPr>
            </a:lvl6pPr>
            <a:lvl7pPr marL="1018824" algn="l" rtl="0" fontAlgn="base">
              <a:spcBef>
                <a:spcPct val="0"/>
              </a:spcBef>
              <a:spcAft>
                <a:spcPct val="0"/>
              </a:spcAft>
              <a:defRPr sz="2700" b="1">
                <a:solidFill>
                  <a:schemeClr val="tx1"/>
                </a:solidFill>
                <a:latin typeface="Arial" charset="0"/>
              </a:defRPr>
            </a:lvl7pPr>
            <a:lvl8pPr marL="1528237" algn="l" rtl="0" fontAlgn="base">
              <a:spcBef>
                <a:spcPct val="0"/>
              </a:spcBef>
              <a:spcAft>
                <a:spcPct val="0"/>
              </a:spcAft>
              <a:defRPr sz="2700" b="1">
                <a:solidFill>
                  <a:schemeClr val="tx1"/>
                </a:solidFill>
                <a:latin typeface="Arial" charset="0"/>
              </a:defRPr>
            </a:lvl8pPr>
            <a:lvl9pPr marL="2037649" algn="l" rtl="0" fontAlgn="base">
              <a:spcBef>
                <a:spcPct val="0"/>
              </a:spcBef>
              <a:spcAft>
                <a:spcPct val="0"/>
              </a:spcAft>
              <a:defRPr sz="2700" b="1">
                <a:solidFill>
                  <a:schemeClr val="tx1"/>
                </a:solidFill>
                <a:latin typeface="Arial" charset="0"/>
              </a:defRPr>
            </a:lvl9pPr>
          </a:lstStyle>
          <a:p>
            <a:pPr eaLnBrk="1" hangingPunct="1">
              <a:spcBef>
                <a:spcPct val="100000"/>
              </a:spcBef>
              <a:buClr>
                <a:schemeClr val="tx2"/>
              </a:buClr>
              <a:buSzPct val="85000"/>
            </a:pPr>
            <a:r>
              <a:rPr lang="en-US" altLang="zh-CN" sz="2800" dirty="0">
                <a:solidFill>
                  <a:srgbClr val="002060"/>
                </a:solidFill>
                <a:latin typeface="Times New Roman" pitchFamily="18" charset="0"/>
                <a:ea typeface="SimSun" pitchFamily="2" charset="-122"/>
                <a:cs typeface="Times New Roman" pitchFamily="18" charset="0"/>
              </a:rPr>
              <a:t>Design Your </a:t>
            </a:r>
            <a:r>
              <a:rPr lang="en-US" altLang="zh-CN" sz="2800" dirty="0" smtClean="0">
                <a:solidFill>
                  <a:srgbClr val="002060"/>
                </a:solidFill>
                <a:latin typeface="Times New Roman" pitchFamily="18" charset="0"/>
                <a:ea typeface="SimSun" pitchFamily="2" charset="-122"/>
                <a:cs typeface="Times New Roman" pitchFamily="18" charset="0"/>
              </a:rPr>
              <a:t>Own Agile </a:t>
            </a:r>
            <a:r>
              <a:rPr lang="en-US" altLang="zh-CN" sz="2800" dirty="0">
                <a:solidFill>
                  <a:srgbClr val="002060"/>
                </a:solidFill>
                <a:latin typeface="Times New Roman" pitchFamily="18" charset="0"/>
                <a:ea typeface="SimSun" pitchFamily="2" charset="-122"/>
                <a:cs typeface="Times New Roman" pitchFamily="18" charset="0"/>
              </a:rPr>
              <a:t>Method</a:t>
            </a:r>
          </a:p>
        </p:txBody>
      </p:sp>
      <p:pic>
        <p:nvPicPr>
          <p:cNvPr id="1028" name="Picture 4" descr="C:\Users\alhui\Desktop\lean-build-agi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549972"/>
            <a:ext cx="4191000" cy="3048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9791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629" y="1696192"/>
            <a:ext cx="8964899" cy="2276008"/>
          </a:xfrm>
        </p:spPr>
        <p:txBody>
          <a:bodyPr/>
          <a:lstStyle/>
          <a:p>
            <a:r>
              <a:rPr lang="en-US" dirty="0"/>
              <a:t>Five simple techniques to increase the agility in your current process</a:t>
            </a:r>
            <a:endParaRPr lang="en-US" dirty="0"/>
          </a:p>
        </p:txBody>
      </p:sp>
    </p:spTree>
    <p:extLst>
      <p:ext uri="{BB962C8B-B14F-4D97-AF65-F5344CB8AC3E}">
        <p14:creationId xmlns:p14="http://schemas.microsoft.com/office/powerpoint/2010/main" val="109182750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505" name="Title 1"/>
          <p:cNvSpPr>
            <a:spLocks noGrp="1"/>
          </p:cNvSpPr>
          <p:nvPr>
            <p:ph type="title"/>
          </p:nvPr>
        </p:nvSpPr>
        <p:spPr>
          <a:xfrm>
            <a:off x="419101" y="370183"/>
            <a:ext cx="9181783" cy="591530"/>
          </a:xfrm>
          <a:noFill/>
          <a:ln w="9525">
            <a:noFill/>
            <a:miter lim="800000"/>
            <a:headEnd/>
            <a:tailEnd/>
          </a:ln>
          <a:effectLst/>
        </p:spPr>
        <p:txBody>
          <a:bodyPr vert="horz" wrap="square" lIns="0" tIns="0" rIns="0" bIns="0" numCol="1" anchor="b" anchorCtr="0" compatLnSpc="1">
            <a:prstTxWarp prst="textNoShape">
              <a:avLst/>
            </a:prstTxWarp>
            <a:spAutoFit/>
          </a:bodyPr>
          <a:lstStyle/>
          <a:p>
            <a:pPr marL="382015" indent="-382015">
              <a:lnSpc>
                <a:spcPct val="106000"/>
              </a:lnSpc>
              <a:buFont typeface="+mj-lt"/>
              <a:buAutoNum type="arabicPeriod"/>
              <a:defRPr/>
            </a:pPr>
            <a:r>
              <a:rPr lang="en-US" sz="1800" dirty="0">
                <a:solidFill>
                  <a:srgbClr val="000000"/>
                </a:solidFill>
                <a:latin typeface="Arial" charset="0"/>
                <a:ea typeface="+mn-ea"/>
                <a:cs typeface="Arial" charset="0"/>
              </a:rPr>
              <a:t>Describe planning units as increments of business value, and treat them as atomic units that can be designed and delivered independently</a:t>
            </a:r>
            <a:endParaRPr lang="en-CA" altLang="zh-CN" sz="1800" dirty="0">
              <a:solidFill>
                <a:srgbClr val="000000"/>
              </a:solidFill>
              <a:latin typeface="Arial" charset="0"/>
              <a:ea typeface="+mn-ea"/>
              <a:cs typeface="Arial" charset="0"/>
            </a:endParaRPr>
          </a:p>
        </p:txBody>
      </p:sp>
      <p:pic>
        <p:nvPicPr>
          <p:cNvPr id="44" name="Picture 2" descr="http://4.bp.blogspot.com/-1Z-fEO52G6U/Ttbxfws3wlI/AAAAAAAAAZo/7_ZJR7kBElM/s640/IMAGE_D43E30FD-12F6-49BE-9ABD-25B6F4F3D76D.JPG">
            <a:hlinkClick r:id="rId3"/>
          </p:cNvPr>
          <p:cNvPicPr>
            <a:picLocks noChangeAspect="1" noChangeArrowheads="1"/>
          </p:cNvPicPr>
          <p:nvPr/>
        </p:nvPicPr>
        <p:blipFill>
          <a:blip r:embed="rId4" cstate="print"/>
          <a:srcRect l="11205" r="10360"/>
          <a:stretch>
            <a:fillRect/>
          </a:stretch>
        </p:blipFill>
        <p:spPr bwMode="auto">
          <a:xfrm>
            <a:off x="2274213" y="4402286"/>
            <a:ext cx="5259524" cy="2245360"/>
          </a:xfrm>
          <a:prstGeom prst="rect">
            <a:avLst/>
          </a:prstGeom>
          <a:noFill/>
          <a:ln>
            <a:noFill/>
          </a:ln>
        </p:spPr>
      </p:pic>
      <p:sp>
        <p:nvSpPr>
          <p:cNvPr id="45" name="Rectangle 44"/>
          <p:cNvSpPr/>
          <p:nvPr/>
        </p:nvSpPr>
        <p:spPr>
          <a:xfrm>
            <a:off x="438308" y="3800186"/>
            <a:ext cx="9620092" cy="732495"/>
          </a:xfrm>
          <a:prstGeom prst="rect">
            <a:avLst/>
          </a:prstGeom>
          <a:noFill/>
          <a:ln w="9525">
            <a:noFill/>
            <a:miter lim="800000"/>
            <a:headEnd/>
            <a:tailEnd/>
          </a:ln>
          <a:effectLst/>
        </p:spPr>
        <p:txBody>
          <a:bodyPr wrap="square" lIns="101870" tIns="50935" rIns="101870" bIns="50935">
            <a:spAutoFit/>
          </a:bodyPr>
          <a:lstStyle/>
          <a:p>
            <a:pPr defTabSz="1018824" fontAlgn="base">
              <a:spcBef>
                <a:spcPct val="40000"/>
              </a:spcBef>
              <a:defRPr/>
            </a:pPr>
            <a:r>
              <a:rPr lang="en-US" altLang="zh-CN" dirty="0">
                <a:solidFill>
                  <a:srgbClr val="000000"/>
                </a:solidFill>
                <a:cs typeface="Arial" charset="0"/>
              </a:rPr>
              <a:t>All business capabilities are mapped to solution features to reduce missing requirements</a:t>
            </a:r>
          </a:p>
        </p:txBody>
      </p:sp>
      <p:grpSp>
        <p:nvGrpSpPr>
          <p:cNvPr id="35" name="Group 34"/>
          <p:cNvGrpSpPr/>
          <p:nvPr/>
        </p:nvGrpSpPr>
        <p:grpSpPr>
          <a:xfrm>
            <a:off x="521795" y="1477800"/>
            <a:ext cx="9015569" cy="2198360"/>
            <a:chOff x="398463" y="1337481"/>
            <a:chExt cx="8195972" cy="1939729"/>
          </a:xfrm>
        </p:grpSpPr>
        <p:sp>
          <p:nvSpPr>
            <p:cNvPr id="8" name="Rectangle 7"/>
            <p:cNvSpPr/>
            <p:nvPr/>
          </p:nvSpPr>
          <p:spPr>
            <a:xfrm>
              <a:off x="2927379" y="2146830"/>
              <a:ext cx="1213632" cy="523220"/>
            </a:xfrm>
            <a:prstGeom prst="rect">
              <a:avLst/>
            </a:prstGeom>
          </p:spPr>
          <p:txBody>
            <a:bodyPr wrap="square">
              <a:spAutoFit/>
            </a:bodyPr>
            <a:lstStyle/>
            <a:p>
              <a:pPr defTabSz="1018824" fontAlgn="base">
                <a:spcBef>
                  <a:spcPct val="40000"/>
                </a:spcBef>
                <a:defRPr/>
              </a:pPr>
              <a:r>
                <a:rPr lang="en-US" sz="1600" dirty="0">
                  <a:solidFill>
                    <a:srgbClr val="000000"/>
                  </a:solidFill>
                  <a:cs typeface="Arial" charset="0"/>
                </a:rPr>
                <a:t>Business Capabilities</a:t>
              </a:r>
            </a:p>
          </p:txBody>
        </p:sp>
        <p:sp>
          <p:nvSpPr>
            <p:cNvPr id="9" name="Rectangle 8"/>
            <p:cNvSpPr/>
            <p:nvPr/>
          </p:nvSpPr>
          <p:spPr>
            <a:xfrm>
              <a:off x="5229298" y="2146830"/>
              <a:ext cx="986635" cy="523220"/>
            </a:xfrm>
            <a:prstGeom prst="rect">
              <a:avLst/>
            </a:prstGeom>
          </p:spPr>
          <p:txBody>
            <a:bodyPr wrap="square">
              <a:spAutoFit/>
            </a:bodyPr>
            <a:lstStyle/>
            <a:p>
              <a:pPr defTabSz="1018824" fontAlgn="base">
                <a:spcBef>
                  <a:spcPct val="40000"/>
                </a:spcBef>
                <a:defRPr/>
              </a:pPr>
              <a:r>
                <a:rPr lang="en-US" sz="1600" dirty="0">
                  <a:solidFill>
                    <a:srgbClr val="000000"/>
                  </a:solidFill>
                  <a:cs typeface="Arial" charset="0"/>
                </a:rPr>
                <a:t>Solution Feature</a:t>
              </a:r>
            </a:p>
          </p:txBody>
        </p:sp>
        <p:sp>
          <p:nvSpPr>
            <p:cNvPr id="10" name="Rectangle 9"/>
            <p:cNvSpPr/>
            <p:nvPr/>
          </p:nvSpPr>
          <p:spPr>
            <a:xfrm>
              <a:off x="7076535" y="2146830"/>
              <a:ext cx="1214320" cy="523220"/>
            </a:xfrm>
            <a:prstGeom prst="rect">
              <a:avLst/>
            </a:prstGeom>
          </p:spPr>
          <p:txBody>
            <a:bodyPr wrap="square">
              <a:spAutoFit/>
            </a:bodyPr>
            <a:lstStyle/>
            <a:p>
              <a:pPr defTabSz="1018824" fontAlgn="base">
                <a:spcBef>
                  <a:spcPct val="40000"/>
                </a:spcBef>
                <a:defRPr/>
              </a:pPr>
              <a:r>
                <a:rPr lang="en-US" sz="1600" dirty="0">
                  <a:solidFill>
                    <a:srgbClr val="000000"/>
                  </a:solidFill>
                  <a:cs typeface="Arial" charset="0"/>
                </a:rPr>
                <a:t>Atomic units of work</a:t>
              </a:r>
            </a:p>
          </p:txBody>
        </p:sp>
        <p:sp>
          <p:nvSpPr>
            <p:cNvPr id="11" name="Rectangle 10"/>
            <p:cNvSpPr/>
            <p:nvPr/>
          </p:nvSpPr>
          <p:spPr>
            <a:xfrm>
              <a:off x="625460" y="2146830"/>
              <a:ext cx="1213632" cy="523220"/>
            </a:xfrm>
            <a:prstGeom prst="rect">
              <a:avLst/>
            </a:prstGeom>
          </p:spPr>
          <p:txBody>
            <a:bodyPr wrap="square">
              <a:spAutoFit/>
            </a:bodyPr>
            <a:lstStyle/>
            <a:p>
              <a:pPr defTabSz="1018824" fontAlgn="base">
                <a:spcBef>
                  <a:spcPct val="40000"/>
                </a:spcBef>
                <a:defRPr/>
              </a:pPr>
              <a:r>
                <a:rPr lang="en-US" sz="1600" dirty="0">
                  <a:solidFill>
                    <a:srgbClr val="000000"/>
                  </a:solidFill>
                  <a:cs typeface="Arial" charset="0"/>
                </a:rPr>
                <a:t>Business Goals</a:t>
              </a:r>
            </a:p>
          </p:txBody>
        </p:sp>
        <p:sp>
          <p:nvSpPr>
            <p:cNvPr id="14" name="Up Arrow 13"/>
            <p:cNvSpPr/>
            <p:nvPr/>
          </p:nvSpPr>
          <p:spPr bwMode="auto">
            <a:xfrm>
              <a:off x="701355" y="1531625"/>
              <a:ext cx="379475" cy="531265"/>
            </a:xfrm>
            <a:prstGeom prst="upArrow">
              <a:avLst/>
            </a:prstGeom>
            <a:solidFill>
              <a:schemeClr val="accent2"/>
            </a:solidFill>
            <a:ln w="6350" cap="flat" cmpd="sng" algn="ctr">
              <a:no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solidFill>
                  <a:srgbClr val="00A1DE">
                    <a:lumMod val="75000"/>
                  </a:srgbClr>
                </a:solidFill>
                <a:cs typeface="Arial" charset="0"/>
              </a:endParaRPr>
            </a:p>
          </p:txBody>
        </p:sp>
        <p:sp>
          <p:nvSpPr>
            <p:cNvPr id="15" name="Rectangle 14"/>
            <p:cNvSpPr/>
            <p:nvPr/>
          </p:nvSpPr>
          <p:spPr>
            <a:xfrm>
              <a:off x="1004935" y="1607520"/>
              <a:ext cx="531265" cy="584775"/>
            </a:xfrm>
            <a:prstGeom prst="rect">
              <a:avLst/>
            </a:prstGeom>
          </p:spPr>
          <p:txBody>
            <a:bodyPr wrap="square">
              <a:spAutoFit/>
            </a:bodyPr>
            <a:lstStyle/>
            <a:p>
              <a:pPr defTabSz="1018824" fontAlgn="base">
                <a:spcBef>
                  <a:spcPct val="40000"/>
                </a:spcBef>
                <a:defRPr/>
              </a:pPr>
              <a:r>
                <a:rPr lang="en-US" sz="3600" dirty="0">
                  <a:solidFill>
                    <a:srgbClr val="92D400"/>
                  </a:solidFill>
                  <a:cs typeface="Arial" charset="0"/>
                </a:rPr>
                <a:t>%</a:t>
              </a:r>
            </a:p>
          </p:txBody>
        </p:sp>
        <p:grpSp>
          <p:nvGrpSpPr>
            <p:cNvPr id="28" name="Group 27"/>
            <p:cNvGrpSpPr/>
            <p:nvPr/>
          </p:nvGrpSpPr>
          <p:grpSpPr>
            <a:xfrm>
              <a:off x="3070405" y="1455730"/>
              <a:ext cx="666750" cy="723900"/>
              <a:chOff x="2826415" y="1455730"/>
              <a:chExt cx="666750" cy="723900"/>
            </a:xfrm>
          </p:grpSpPr>
          <p:sp>
            <p:nvSpPr>
              <p:cNvPr id="18" name="AutoShape 275"/>
              <p:cNvSpPr>
                <a:spLocks noChangeArrowheads="1"/>
              </p:cNvSpPr>
              <p:nvPr/>
            </p:nvSpPr>
            <p:spPr bwMode="gray">
              <a:xfrm>
                <a:off x="2826415" y="1455730"/>
                <a:ext cx="666750" cy="723900"/>
              </a:xfrm>
              <a:prstGeom prst="cloudCallout">
                <a:avLst>
                  <a:gd name="adj1" fmla="val -6302"/>
                  <a:gd name="adj2" fmla="val 44054"/>
                </a:avLst>
              </a:prstGeom>
              <a:solidFill>
                <a:schemeClr val="bg1"/>
              </a:solidFill>
              <a:ln w="12700">
                <a:solidFill>
                  <a:schemeClr val="accent1"/>
                </a:solidFill>
                <a:round/>
                <a:headEnd/>
                <a:tailEnd/>
              </a:ln>
            </p:spPr>
            <p:txBody>
              <a:bodyPr lIns="73152" tIns="73152" rIns="73152" bIns="73152"/>
              <a:lstStyle/>
              <a:p>
                <a:pPr algn="ctr" defTabSz="1018824" fontAlgn="base">
                  <a:spcBef>
                    <a:spcPct val="0"/>
                  </a:spcBef>
                  <a:spcAft>
                    <a:spcPct val="0"/>
                  </a:spcAft>
                </a:pPr>
                <a:endParaRPr lang="en-US" sz="1200">
                  <a:solidFill>
                    <a:srgbClr val="002776"/>
                  </a:solidFill>
                  <a:cs typeface="Arial" charset="0"/>
                </a:endParaRPr>
              </a:p>
            </p:txBody>
          </p:sp>
          <p:pic>
            <p:nvPicPr>
              <p:cNvPr id="19" name="Picture 72"/>
              <p:cNvPicPr>
                <a:picLocks noChangeArrowheads="1"/>
              </p:cNvPicPr>
              <p:nvPr/>
            </p:nvPicPr>
            <p:blipFill>
              <a:blip r:embed="rId5" cstate="print"/>
              <a:srcRect/>
              <a:stretch>
                <a:fillRect/>
              </a:stretch>
            </p:blipFill>
            <p:spPr bwMode="gray">
              <a:xfrm>
                <a:off x="2921665" y="1731955"/>
                <a:ext cx="209550" cy="207963"/>
              </a:xfrm>
              <a:prstGeom prst="rect">
                <a:avLst/>
              </a:prstGeom>
              <a:noFill/>
              <a:ln w="9525">
                <a:noFill/>
                <a:miter lim="800000"/>
                <a:headEnd/>
                <a:tailEnd/>
              </a:ln>
            </p:spPr>
          </p:pic>
          <p:pic>
            <p:nvPicPr>
              <p:cNvPr id="20" name="Picture 74"/>
              <p:cNvPicPr>
                <a:picLocks noChangeArrowheads="1"/>
              </p:cNvPicPr>
              <p:nvPr/>
            </p:nvPicPr>
            <p:blipFill>
              <a:blip r:embed="rId6" cstate="print"/>
              <a:srcRect/>
              <a:stretch>
                <a:fillRect/>
              </a:stretch>
            </p:blipFill>
            <p:spPr bwMode="gray">
              <a:xfrm>
                <a:off x="3074065" y="1811330"/>
                <a:ext cx="209550" cy="207963"/>
              </a:xfrm>
              <a:prstGeom prst="rect">
                <a:avLst/>
              </a:prstGeom>
              <a:noFill/>
              <a:ln w="9525">
                <a:noFill/>
                <a:miter lim="800000"/>
                <a:headEnd/>
                <a:tailEnd/>
              </a:ln>
            </p:spPr>
          </p:pic>
          <p:pic>
            <p:nvPicPr>
              <p:cNvPr id="21" name="Picture 278"/>
              <p:cNvPicPr>
                <a:picLocks noChangeAspect="1" noChangeArrowheads="1"/>
              </p:cNvPicPr>
              <p:nvPr/>
            </p:nvPicPr>
            <p:blipFill>
              <a:blip r:embed="rId7" cstate="print"/>
              <a:srcRect/>
              <a:stretch>
                <a:fillRect/>
              </a:stretch>
            </p:blipFill>
            <p:spPr bwMode="auto">
              <a:xfrm>
                <a:off x="2981990" y="1598605"/>
                <a:ext cx="228600" cy="211138"/>
              </a:xfrm>
              <a:prstGeom prst="rect">
                <a:avLst/>
              </a:prstGeom>
              <a:noFill/>
              <a:ln w="9525">
                <a:noFill/>
                <a:miter lim="800000"/>
                <a:headEnd/>
                <a:tailEnd/>
              </a:ln>
            </p:spPr>
          </p:pic>
          <p:pic>
            <p:nvPicPr>
              <p:cNvPr id="22" name="Picture 76"/>
              <p:cNvPicPr>
                <a:picLocks noChangeArrowheads="1"/>
              </p:cNvPicPr>
              <p:nvPr/>
            </p:nvPicPr>
            <p:blipFill>
              <a:blip r:embed="rId8" cstate="print"/>
              <a:srcRect/>
              <a:stretch>
                <a:fillRect/>
              </a:stretch>
            </p:blipFill>
            <p:spPr bwMode="gray">
              <a:xfrm>
                <a:off x="3162965" y="1655755"/>
                <a:ext cx="209550" cy="207963"/>
              </a:xfrm>
              <a:prstGeom prst="rect">
                <a:avLst/>
              </a:prstGeom>
              <a:noFill/>
              <a:ln w="9525">
                <a:noFill/>
                <a:miter lim="800000"/>
                <a:headEnd/>
                <a:tailEnd/>
              </a:ln>
            </p:spPr>
          </p:pic>
        </p:grpSp>
        <p:sp>
          <p:nvSpPr>
            <p:cNvPr id="23" name="Rectangle 3"/>
            <p:cNvSpPr txBox="1">
              <a:spLocks noChangeArrowheads="1"/>
            </p:cNvSpPr>
            <p:nvPr/>
          </p:nvSpPr>
          <p:spPr bwMode="gray">
            <a:xfrm>
              <a:off x="701355" y="2669678"/>
              <a:ext cx="1517900" cy="37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437" eaLnBrk="1" hangingPunct="1">
                <a:spcBef>
                  <a:spcPct val="0"/>
                </a:spcBef>
                <a:buClr>
                  <a:srgbClr val="000000"/>
                </a:buClr>
                <a:buSzTx/>
                <a:defRPr/>
              </a:pPr>
              <a:r>
                <a:rPr lang="en-US" sz="1200" dirty="0">
                  <a:solidFill>
                    <a:srgbClr val="000000"/>
                  </a:solidFill>
                </a:rPr>
                <a:t>e..g. Increase Revenue by $1,000,000</a:t>
              </a:r>
              <a:endParaRPr lang="en-GB" sz="1200" dirty="0">
                <a:solidFill>
                  <a:srgbClr val="000000"/>
                </a:solidFill>
              </a:endParaRPr>
            </a:p>
          </p:txBody>
        </p:sp>
        <p:sp>
          <p:nvSpPr>
            <p:cNvPr id="24" name="Rectangle 3"/>
            <p:cNvSpPr txBox="1">
              <a:spLocks noChangeArrowheads="1"/>
            </p:cNvSpPr>
            <p:nvPr/>
          </p:nvSpPr>
          <p:spPr bwMode="gray">
            <a:xfrm>
              <a:off x="2978205" y="2670050"/>
              <a:ext cx="1517900" cy="37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437" eaLnBrk="1" hangingPunct="1">
                <a:spcBef>
                  <a:spcPct val="0"/>
                </a:spcBef>
                <a:buClr>
                  <a:srgbClr val="000000"/>
                </a:buClr>
                <a:buSzTx/>
                <a:defRPr/>
              </a:pPr>
              <a:r>
                <a:rPr lang="en-US" sz="1200" dirty="0">
                  <a:solidFill>
                    <a:srgbClr val="000000"/>
                  </a:solidFill>
                </a:rPr>
                <a:t>e..g. Up-sell to customers ($100,000)</a:t>
              </a:r>
              <a:endParaRPr lang="en-GB" sz="1200" dirty="0">
                <a:solidFill>
                  <a:srgbClr val="000000"/>
                </a:solidFill>
              </a:endParaRPr>
            </a:p>
          </p:txBody>
        </p:sp>
        <p:sp>
          <p:nvSpPr>
            <p:cNvPr id="25" name="Rectangle 3"/>
            <p:cNvSpPr txBox="1">
              <a:spLocks noChangeArrowheads="1"/>
            </p:cNvSpPr>
            <p:nvPr/>
          </p:nvSpPr>
          <p:spPr bwMode="gray">
            <a:xfrm>
              <a:off x="5330950" y="2670050"/>
              <a:ext cx="1138425" cy="37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437" eaLnBrk="1" hangingPunct="1">
                <a:spcBef>
                  <a:spcPct val="0"/>
                </a:spcBef>
                <a:buClr>
                  <a:srgbClr val="000000"/>
                </a:buClr>
                <a:buSzTx/>
                <a:defRPr/>
              </a:pPr>
              <a:r>
                <a:rPr lang="en-US" sz="1200" dirty="0">
                  <a:solidFill>
                    <a:srgbClr val="000000"/>
                  </a:solidFill>
                </a:rPr>
                <a:t>e..g. 360 degree customer view ($10,000)</a:t>
              </a:r>
              <a:endParaRPr lang="en-GB" sz="1200" dirty="0">
                <a:solidFill>
                  <a:srgbClr val="000000"/>
                </a:solidFill>
              </a:endParaRPr>
            </a:p>
          </p:txBody>
        </p:sp>
        <p:sp>
          <p:nvSpPr>
            <p:cNvPr id="26" name="Rectangle 3"/>
            <p:cNvSpPr txBox="1">
              <a:spLocks noChangeArrowheads="1"/>
            </p:cNvSpPr>
            <p:nvPr/>
          </p:nvSpPr>
          <p:spPr bwMode="gray">
            <a:xfrm>
              <a:off x="7152431" y="2670050"/>
              <a:ext cx="1366110" cy="37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437" eaLnBrk="1" hangingPunct="1">
                <a:spcBef>
                  <a:spcPct val="0"/>
                </a:spcBef>
                <a:buClr>
                  <a:srgbClr val="000000"/>
                </a:buClr>
                <a:buSzTx/>
                <a:defRPr/>
              </a:pPr>
              <a:r>
                <a:rPr lang="en-US" sz="1200" dirty="0">
                  <a:solidFill>
                    <a:srgbClr val="000000"/>
                  </a:solidFill>
                </a:rPr>
                <a:t>e..g. Search products by customer name ($1,000)</a:t>
              </a:r>
              <a:endParaRPr lang="en-GB" sz="1200" dirty="0">
                <a:solidFill>
                  <a:srgbClr val="000000"/>
                </a:solidFill>
              </a:endParaRPr>
            </a:p>
          </p:txBody>
        </p:sp>
        <p:pic>
          <p:nvPicPr>
            <p:cNvPr id="27" name="Picture 76"/>
            <p:cNvPicPr>
              <a:picLocks noChangeArrowheads="1"/>
            </p:cNvPicPr>
            <p:nvPr/>
          </p:nvPicPr>
          <p:blipFill>
            <a:blip r:embed="rId8" cstate="print"/>
            <a:srcRect/>
            <a:stretch>
              <a:fillRect/>
            </a:stretch>
          </p:blipFill>
          <p:spPr bwMode="gray">
            <a:xfrm>
              <a:off x="7607800" y="1880010"/>
              <a:ext cx="182880" cy="182880"/>
            </a:xfrm>
            <a:prstGeom prst="rect">
              <a:avLst/>
            </a:prstGeom>
            <a:noFill/>
            <a:ln w="9525">
              <a:noFill/>
              <a:miter lim="800000"/>
              <a:headEnd/>
              <a:tailEnd/>
            </a:ln>
          </p:spPr>
        </p:pic>
        <p:pic>
          <p:nvPicPr>
            <p:cNvPr id="29" name="Picture 72"/>
            <p:cNvPicPr>
              <a:picLocks noChangeArrowheads="1"/>
            </p:cNvPicPr>
            <p:nvPr/>
          </p:nvPicPr>
          <p:blipFill>
            <a:blip r:embed="rId5" cstate="print"/>
            <a:srcRect/>
            <a:stretch>
              <a:fillRect/>
            </a:stretch>
          </p:blipFill>
          <p:spPr bwMode="gray">
            <a:xfrm>
              <a:off x="5406845" y="1683415"/>
              <a:ext cx="457200" cy="457200"/>
            </a:xfrm>
            <a:prstGeom prst="rect">
              <a:avLst/>
            </a:prstGeom>
            <a:noFill/>
            <a:ln w="9525">
              <a:noFill/>
              <a:miter lim="800000"/>
              <a:headEnd/>
              <a:tailEnd/>
            </a:ln>
          </p:spPr>
        </p:pic>
        <p:sp>
          <p:nvSpPr>
            <p:cNvPr id="30" name="Can 29"/>
            <p:cNvSpPr/>
            <p:nvPr/>
          </p:nvSpPr>
          <p:spPr bwMode="auto">
            <a:xfrm>
              <a:off x="7380115" y="1835204"/>
              <a:ext cx="607160" cy="227685"/>
            </a:xfrm>
            <a:prstGeom prst="can">
              <a:avLst/>
            </a:prstGeom>
            <a:noFill/>
            <a:ln w="6350" cap="flat" cmpd="sng" algn="ctr">
              <a:solidFill>
                <a:srgbClr val="000000"/>
              </a:solid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ln>
                  <a:solidFill>
                    <a:sysClr val="windowText" lastClr="000000"/>
                  </a:solidFill>
                </a:ln>
                <a:solidFill>
                  <a:sysClr val="windowText" lastClr="000000"/>
                </a:solidFill>
                <a:cs typeface="Arial" charset="0"/>
              </a:endParaRPr>
            </a:p>
          </p:txBody>
        </p:sp>
        <p:sp>
          <p:nvSpPr>
            <p:cNvPr id="31" name="Isosceles Triangle 30"/>
            <p:cNvSpPr/>
            <p:nvPr/>
          </p:nvSpPr>
          <p:spPr bwMode="auto">
            <a:xfrm rot="5400000">
              <a:off x="1991570" y="1986995"/>
              <a:ext cx="834845" cy="303580"/>
            </a:xfrm>
            <a:prstGeom prst="triangle">
              <a:avLst/>
            </a:prstGeom>
            <a:ln w="12700">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solidFill>
                  <a:srgbClr val="00A1DE">
                    <a:lumMod val="75000"/>
                  </a:srgbClr>
                </a:solidFill>
              </a:endParaRPr>
            </a:p>
          </p:txBody>
        </p:sp>
        <p:sp>
          <p:nvSpPr>
            <p:cNvPr id="32" name="Isosceles Triangle 31"/>
            <p:cNvSpPr/>
            <p:nvPr/>
          </p:nvSpPr>
          <p:spPr bwMode="auto">
            <a:xfrm rot="5400000">
              <a:off x="4154577" y="1949048"/>
              <a:ext cx="834845" cy="303580"/>
            </a:xfrm>
            <a:prstGeom prst="triangle">
              <a:avLst/>
            </a:prstGeom>
            <a:ln w="12700">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solidFill>
                  <a:srgbClr val="00A1DE">
                    <a:lumMod val="75000"/>
                  </a:srgbClr>
                </a:solidFill>
              </a:endParaRPr>
            </a:p>
          </p:txBody>
        </p:sp>
        <p:sp>
          <p:nvSpPr>
            <p:cNvPr id="33" name="Isosceles Triangle 32"/>
            <p:cNvSpPr/>
            <p:nvPr/>
          </p:nvSpPr>
          <p:spPr bwMode="auto">
            <a:xfrm rot="5400000">
              <a:off x="6355533" y="1949048"/>
              <a:ext cx="834845" cy="303580"/>
            </a:xfrm>
            <a:prstGeom prst="triangle">
              <a:avLst/>
            </a:prstGeom>
            <a:ln w="12700">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solidFill>
                  <a:srgbClr val="00A1DE">
                    <a:lumMod val="75000"/>
                  </a:srgbClr>
                </a:solidFill>
              </a:endParaRPr>
            </a:p>
          </p:txBody>
        </p:sp>
        <p:sp>
          <p:nvSpPr>
            <p:cNvPr id="34" name="Rectangle 33"/>
            <p:cNvSpPr/>
            <p:nvPr/>
          </p:nvSpPr>
          <p:spPr bwMode="auto">
            <a:xfrm>
              <a:off x="398463" y="1337481"/>
              <a:ext cx="8195972" cy="1939729"/>
            </a:xfrm>
            <a:prstGeom prst="rect">
              <a:avLst/>
            </a:prstGeom>
            <a:noFill/>
            <a:ln w="6350" cap="flat" cmpd="sng" algn="ctr">
              <a:solidFill>
                <a:schemeClr val="accent3">
                  <a:lumMod val="75000"/>
                </a:schemeClr>
              </a:solid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noAutofit/>
            </a:bodyPr>
            <a:lstStyle/>
            <a:p>
              <a:pPr defTabSz="1018705" fontAlgn="base">
                <a:spcAft>
                  <a:spcPts val="334"/>
                </a:spcAft>
              </a:pPr>
              <a:endParaRPr lang="en-US" sz="1100" dirty="0">
                <a:solidFill>
                  <a:srgbClr val="00A1DE">
                    <a:lumMod val="75000"/>
                  </a:srgbClr>
                </a:solidFill>
                <a:cs typeface="Arial" charset="0"/>
              </a:endParaRPr>
            </a:p>
          </p:txBody>
        </p:sp>
      </p:grpSp>
      <p:sp>
        <p:nvSpPr>
          <p:cNvPr id="36" name="Rectangle 35"/>
          <p:cNvSpPr/>
          <p:nvPr/>
        </p:nvSpPr>
        <p:spPr>
          <a:xfrm>
            <a:off x="418178" y="6466632"/>
            <a:ext cx="9620092" cy="732495"/>
          </a:xfrm>
          <a:prstGeom prst="rect">
            <a:avLst/>
          </a:prstGeom>
          <a:noFill/>
          <a:ln w="9525">
            <a:noFill/>
            <a:miter lim="800000"/>
            <a:headEnd/>
            <a:tailEnd/>
          </a:ln>
          <a:effectLst/>
        </p:spPr>
        <p:txBody>
          <a:bodyPr wrap="square" lIns="101870" tIns="50935" rIns="101870" bIns="50935">
            <a:spAutoFit/>
          </a:bodyPr>
          <a:lstStyle/>
          <a:p>
            <a:pPr defTabSz="1018824" fontAlgn="base">
              <a:spcBef>
                <a:spcPct val="40000"/>
              </a:spcBef>
              <a:defRPr/>
            </a:pPr>
            <a:r>
              <a:rPr lang="en-US" altLang="zh-CN" dirty="0">
                <a:solidFill>
                  <a:srgbClr val="000000"/>
                </a:solidFill>
                <a:cs typeface="Arial" charset="0"/>
              </a:rPr>
              <a:t>Atomic units independently flow through the SDLC and provide incremental business value</a:t>
            </a:r>
          </a:p>
        </p:txBody>
      </p:sp>
    </p:spTree>
    <p:extLst>
      <p:ext uri="{BB962C8B-B14F-4D97-AF65-F5344CB8AC3E}">
        <p14:creationId xmlns:p14="http://schemas.microsoft.com/office/powerpoint/2010/main" val="33061619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3.bp.blogspot.com/-4HHH6H-0WrQ/TtbzeJeEa_I/AAAAAAAAAaA/wWooJ1rREII/s640/IMAGE_AEF5781E-FD40-4B8F-A9F9-AC44134B28C6.JPG"/>
          <p:cNvPicPr>
            <a:picLocks noChangeAspect="1" noChangeArrowheads="1"/>
          </p:cNvPicPr>
          <p:nvPr/>
        </p:nvPicPr>
        <p:blipFill>
          <a:blip r:embed="rId3" cstate="print"/>
          <a:srcRect l="11605" t="7700" r="16185" b="1873"/>
          <a:stretch>
            <a:fillRect/>
          </a:stretch>
        </p:blipFill>
        <p:spPr bwMode="auto">
          <a:xfrm>
            <a:off x="5363141" y="4402286"/>
            <a:ext cx="3422865" cy="2918888"/>
          </a:xfrm>
          <a:prstGeom prst="rect">
            <a:avLst/>
          </a:prstGeom>
          <a:noFill/>
          <a:ln>
            <a:noFill/>
          </a:ln>
        </p:spPr>
      </p:pic>
      <p:sp>
        <p:nvSpPr>
          <p:cNvPr id="21505" name="Title 1"/>
          <p:cNvSpPr>
            <a:spLocks noGrp="1"/>
          </p:cNvSpPr>
          <p:nvPr>
            <p:ph type="title"/>
          </p:nvPr>
        </p:nvSpPr>
        <p:spPr>
          <a:xfrm>
            <a:off x="419103" y="370183"/>
            <a:ext cx="9181783" cy="591530"/>
          </a:xfrm>
          <a:noFill/>
          <a:ln w="9525">
            <a:noFill/>
            <a:miter lim="800000"/>
            <a:headEnd/>
            <a:tailEnd/>
          </a:ln>
          <a:effectLst/>
        </p:spPr>
        <p:txBody>
          <a:bodyPr vert="horz" wrap="square" lIns="0" tIns="0" rIns="0" bIns="0" numCol="1" anchor="b" anchorCtr="0" compatLnSpc="1">
            <a:prstTxWarp prst="textNoShape">
              <a:avLst/>
            </a:prstTxWarp>
            <a:spAutoFit/>
          </a:bodyPr>
          <a:lstStyle/>
          <a:p>
            <a:pPr marL="381970" indent="-381970">
              <a:lnSpc>
                <a:spcPct val="106000"/>
              </a:lnSpc>
              <a:buFont typeface="+mj-lt"/>
              <a:buAutoNum type="arabicPeriod" startAt="2"/>
              <a:defRPr/>
            </a:pPr>
            <a:r>
              <a:rPr lang="en-US" sz="1800" dirty="0">
                <a:solidFill>
                  <a:srgbClr val="000000"/>
                </a:solidFill>
                <a:latin typeface="Arial" charset="0"/>
                <a:ea typeface="+mn-ea"/>
                <a:cs typeface="Arial" charset="0"/>
              </a:rPr>
              <a:t>Replace Stage Gates with time boxed reviews and other activities completed at a regularly scheduled cadence</a:t>
            </a:r>
            <a:endParaRPr lang="en-CA" altLang="zh-CN" sz="1800" dirty="0">
              <a:solidFill>
                <a:srgbClr val="000000"/>
              </a:solidFill>
              <a:latin typeface="Arial" charset="0"/>
              <a:ea typeface="+mn-ea"/>
              <a:cs typeface="Arial" charset="0"/>
            </a:endParaRPr>
          </a:p>
        </p:txBody>
      </p:sp>
      <p:sp>
        <p:nvSpPr>
          <p:cNvPr id="41" name="Rectangle 40"/>
          <p:cNvSpPr/>
          <p:nvPr/>
        </p:nvSpPr>
        <p:spPr>
          <a:xfrm>
            <a:off x="438312" y="4058229"/>
            <a:ext cx="4423922" cy="3082142"/>
          </a:xfrm>
          <a:prstGeom prst="rect">
            <a:avLst/>
          </a:prstGeom>
        </p:spPr>
        <p:txBody>
          <a:bodyPr wrap="square" lIns="101858" tIns="50929" rIns="101858" bIns="50929">
            <a:spAutoFit/>
          </a:bodyPr>
          <a:lstStyle/>
          <a:p>
            <a:pPr defTabSz="1018705" fontAlgn="base">
              <a:spcBef>
                <a:spcPct val="40000"/>
              </a:spcBef>
              <a:defRPr/>
            </a:pPr>
            <a:r>
              <a:rPr lang="en-US" sz="1800" dirty="0">
                <a:solidFill>
                  <a:srgbClr val="000000"/>
                </a:solidFill>
                <a:cs typeface="Arial" charset="0"/>
              </a:rPr>
              <a:t>Replace stage gates with regularly scheduled cadence</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Force a quality check of all work in process</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Ensures that work is progressing according to governance</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Makes any bottlenecks in review capacity obvious</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Frees work to flow independently</a:t>
            </a:r>
          </a:p>
        </p:txBody>
      </p:sp>
      <p:sp>
        <p:nvSpPr>
          <p:cNvPr id="45" name="Rectangle 44"/>
          <p:cNvSpPr/>
          <p:nvPr/>
        </p:nvSpPr>
        <p:spPr>
          <a:xfrm>
            <a:off x="438309" y="1191771"/>
            <a:ext cx="3672561" cy="2540455"/>
          </a:xfrm>
          <a:prstGeom prst="rect">
            <a:avLst/>
          </a:prstGeom>
        </p:spPr>
        <p:txBody>
          <a:bodyPr wrap="square" lIns="101858" tIns="50929" rIns="101858" bIns="50929">
            <a:spAutoFit/>
          </a:bodyPr>
          <a:lstStyle/>
          <a:p>
            <a:pPr defTabSz="1018705" fontAlgn="base">
              <a:spcBef>
                <a:spcPct val="40000"/>
              </a:spcBef>
              <a:defRPr/>
            </a:pPr>
            <a:r>
              <a:rPr lang="en-US" sz="1800" dirty="0">
                <a:solidFill>
                  <a:srgbClr val="000000"/>
                </a:solidFill>
                <a:cs typeface="Arial" charset="0"/>
              </a:rPr>
              <a:t>Stage Gates calls focus to be allocated to the wrong programs</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Healthy programs make it this stage gate on time, unnecessarily get more revues</a:t>
            </a:r>
          </a:p>
          <a:p>
            <a:pPr marL="318309" indent="-318309" defTabSz="1018705" fontAlgn="base">
              <a:spcBef>
                <a:spcPct val="40000"/>
              </a:spcBef>
              <a:buFont typeface="Arial" pitchFamily="34" charset="0"/>
              <a:buChar char="•"/>
              <a:defRPr/>
            </a:pPr>
            <a:r>
              <a:rPr lang="en-US" sz="1800" dirty="0">
                <a:solidFill>
                  <a:srgbClr val="000000"/>
                </a:solidFill>
                <a:cs typeface="Arial" charset="0"/>
              </a:rPr>
              <a:t>Unhealthy programs are late, and receive less stage gate reviews</a:t>
            </a:r>
          </a:p>
        </p:txBody>
      </p:sp>
      <p:sp>
        <p:nvSpPr>
          <p:cNvPr id="2" name="Rectangle 2"/>
          <p:cNvSpPr>
            <a:spLocks noChangeArrowheads="1"/>
          </p:cNvSpPr>
          <p:nvPr/>
        </p:nvSpPr>
        <p:spPr bwMode="auto">
          <a:xfrm>
            <a:off x="1" y="-205315"/>
            <a:ext cx="205770" cy="41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1858" tIns="50929" rIns="101858" bIns="50929" numCol="1" anchor="ctr" anchorCtr="0" compatLnSpc="1">
            <a:prstTxWarp prst="textNoShape">
              <a:avLst/>
            </a:prstTxWarp>
            <a:spAutoFit/>
          </a:bodyPr>
          <a:lstStyle/>
          <a:p>
            <a:pPr defTabSz="1018705" fontAlgn="base">
              <a:spcBef>
                <a:spcPct val="0"/>
              </a:spcBef>
              <a:spcAft>
                <a:spcPct val="0"/>
              </a:spcAft>
            </a:pPr>
            <a:endParaRPr lang="en-US">
              <a:solidFill>
                <a:srgbClr val="002776"/>
              </a:solidFill>
              <a:cs typeface="Arial" charset="0"/>
            </a:endParaRPr>
          </a:p>
        </p:txBody>
      </p:sp>
      <p:pic>
        <p:nvPicPr>
          <p:cNvPr id="1025" name="Picture 1" descr="Image:SIP-MainImage.gif">
            <a:hlinkClick r:id="rId4" tooltip="&quot;Image:SIP-MainImage.gif&quo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507" t="19508" r="3779" b="60984"/>
          <a:stretch/>
        </p:blipFill>
        <p:spPr bwMode="auto">
          <a:xfrm>
            <a:off x="4515512" y="1976249"/>
            <a:ext cx="5118115" cy="99134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hlinkClick r:id="rId4" tooltip="Image:SIP-MainImage.gif"/>
          </p:cNvPr>
          <p:cNvSpPr>
            <a:spLocks noChangeArrowheads="1"/>
          </p:cNvSpPr>
          <p:nvPr/>
        </p:nvSpPr>
        <p:spPr bwMode="auto">
          <a:xfrm>
            <a:off x="0" y="3998534"/>
            <a:ext cx="269826" cy="379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1858" tIns="50929" rIns="101858" bIns="50929" numCol="1" anchor="ctr" anchorCtr="0" compatLnSpc="1">
            <a:prstTxWarp prst="textNoShape">
              <a:avLst/>
            </a:prstTxWarp>
            <a:spAutoFit/>
          </a:bodyPr>
          <a:lstStyle/>
          <a:p>
            <a:pPr defTabSz="1018586" fontAlgn="base">
              <a:spcBef>
                <a:spcPct val="0"/>
              </a:spcBef>
              <a:spcAft>
                <a:spcPct val="0"/>
              </a:spcAft>
            </a:pPr>
            <a:r>
              <a:rPr lang="en-US" sz="1800">
                <a:solidFill>
                  <a:srgbClr val="002776"/>
                </a:solidFill>
                <a:cs typeface="Arial" pitchFamily="34" charset="0"/>
              </a:rPr>
              <a:t> </a:t>
            </a:r>
          </a:p>
        </p:txBody>
      </p:sp>
    </p:spTree>
    <p:extLst>
      <p:ext uri="{BB962C8B-B14F-4D97-AF65-F5344CB8AC3E}">
        <p14:creationId xmlns:p14="http://schemas.microsoft.com/office/powerpoint/2010/main" val="21662475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19103" y="284168"/>
            <a:ext cx="9181783" cy="591530"/>
          </a:xfrm>
          <a:noFill/>
          <a:ln w="9525">
            <a:noFill/>
            <a:miter lim="800000"/>
            <a:headEnd/>
            <a:tailEnd/>
          </a:ln>
          <a:effectLst/>
        </p:spPr>
        <p:txBody>
          <a:bodyPr vert="horz" wrap="square" lIns="0" tIns="0" rIns="0" bIns="0" numCol="1" anchor="b" anchorCtr="0" compatLnSpc="1">
            <a:prstTxWarp prst="textNoShape">
              <a:avLst/>
            </a:prstTxWarp>
            <a:spAutoFit/>
          </a:bodyPr>
          <a:lstStyle/>
          <a:p>
            <a:pPr marL="381970" indent="-381970">
              <a:lnSpc>
                <a:spcPct val="106000"/>
              </a:lnSpc>
              <a:buFont typeface="+mj-lt"/>
              <a:buAutoNum type="arabicPeriod" startAt="3"/>
              <a:defRPr/>
            </a:pPr>
            <a:r>
              <a:rPr lang="en-US" sz="1800" dirty="0">
                <a:solidFill>
                  <a:srgbClr val="000000"/>
                </a:solidFill>
                <a:latin typeface="Arial" charset="0"/>
                <a:ea typeface="+mn-ea"/>
                <a:cs typeface="Arial" charset="0"/>
              </a:rPr>
              <a:t>Use visualization to make sure that everyone understands what the processes are, and where the current work fits into that process</a:t>
            </a:r>
          </a:p>
        </p:txBody>
      </p:sp>
      <p:cxnSp>
        <p:nvCxnSpPr>
          <p:cNvPr id="194" name="Straight Connector 193"/>
          <p:cNvCxnSpPr/>
          <p:nvPr/>
        </p:nvCxnSpPr>
        <p:spPr>
          <a:xfrm>
            <a:off x="728185" y="2148973"/>
            <a:ext cx="9656064" cy="0"/>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sp>
        <p:nvSpPr>
          <p:cNvPr id="195" name="TextBox 36"/>
          <p:cNvSpPr txBox="1">
            <a:spLocks noChangeArrowheads="1"/>
          </p:cNvSpPr>
          <p:nvPr/>
        </p:nvSpPr>
        <p:spPr bwMode="auto">
          <a:xfrm>
            <a:off x="1156716" y="1608145"/>
            <a:ext cx="161033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Input Queue</a:t>
            </a:r>
          </a:p>
        </p:txBody>
      </p:sp>
      <p:cxnSp>
        <p:nvCxnSpPr>
          <p:cNvPr id="196" name="Straight Connector 195"/>
          <p:cNvCxnSpPr/>
          <p:nvPr/>
        </p:nvCxnSpPr>
        <p:spPr>
          <a:xfrm>
            <a:off x="2767922" y="1699183"/>
            <a:ext cx="0" cy="468143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a:off x="5990337" y="1699183"/>
            <a:ext cx="0" cy="468143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a:off x="9212752" y="1699183"/>
            <a:ext cx="0" cy="468143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a:off x="4379130" y="1699183"/>
            <a:ext cx="0" cy="468143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7601545" y="1699183"/>
            <a:ext cx="0" cy="468143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sp>
        <p:nvSpPr>
          <p:cNvPr id="201" name="TextBox 37"/>
          <p:cNvSpPr txBox="1">
            <a:spLocks noChangeArrowheads="1"/>
          </p:cNvSpPr>
          <p:nvPr/>
        </p:nvSpPr>
        <p:spPr bwMode="auto">
          <a:xfrm>
            <a:off x="6526096" y="1387449"/>
            <a:ext cx="53795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Test</a:t>
            </a:r>
          </a:p>
        </p:txBody>
      </p:sp>
      <p:sp>
        <p:nvSpPr>
          <p:cNvPr id="202" name="TextBox 38"/>
          <p:cNvSpPr txBox="1">
            <a:spLocks noChangeArrowheads="1"/>
          </p:cNvSpPr>
          <p:nvPr/>
        </p:nvSpPr>
        <p:spPr bwMode="auto">
          <a:xfrm>
            <a:off x="9219737" y="1608145"/>
            <a:ext cx="1164515" cy="50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
            </a:r>
            <a:br>
              <a:rPr lang="en-CA" sz="1300" b="1" dirty="0">
                <a:solidFill>
                  <a:srgbClr val="1C1C1C"/>
                </a:solidFill>
                <a:cs typeface="Arial" charset="0"/>
              </a:rPr>
            </a:br>
            <a:r>
              <a:rPr lang="en-CA" sz="1300" b="1" dirty="0">
                <a:solidFill>
                  <a:srgbClr val="1C1C1C"/>
                </a:solidFill>
                <a:cs typeface="Arial" charset="0"/>
              </a:rPr>
              <a:t>Done</a:t>
            </a:r>
          </a:p>
        </p:txBody>
      </p:sp>
      <p:sp>
        <p:nvSpPr>
          <p:cNvPr id="203" name="TextBox 39"/>
          <p:cNvSpPr txBox="1">
            <a:spLocks noChangeArrowheads="1"/>
          </p:cNvSpPr>
          <p:nvPr/>
        </p:nvSpPr>
        <p:spPr bwMode="auto">
          <a:xfrm>
            <a:off x="4528547" y="1387449"/>
            <a:ext cx="1264641"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Development</a:t>
            </a:r>
          </a:p>
        </p:txBody>
      </p:sp>
      <p:sp>
        <p:nvSpPr>
          <p:cNvPr id="204" name="TextBox 41"/>
          <p:cNvSpPr txBox="1">
            <a:spLocks noChangeArrowheads="1"/>
          </p:cNvSpPr>
          <p:nvPr/>
        </p:nvSpPr>
        <p:spPr bwMode="auto">
          <a:xfrm>
            <a:off x="8137303" y="1387449"/>
            <a:ext cx="53795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UAT</a:t>
            </a:r>
          </a:p>
        </p:txBody>
      </p:sp>
      <p:sp>
        <p:nvSpPr>
          <p:cNvPr id="205" name="TextBox 40"/>
          <p:cNvSpPr txBox="1">
            <a:spLocks noChangeArrowheads="1"/>
          </p:cNvSpPr>
          <p:nvPr/>
        </p:nvSpPr>
        <p:spPr bwMode="auto">
          <a:xfrm>
            <a:off x="2888665" y="1178160"/>
            <a:ext cx="1366280" cy="50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Requirements </a:t>
            </a:r>
            <a:br>
              <a:rPr lang="en-CA" sz="1300" b="1" dirty="0">
                <a:solidFill>
                  <a:srgbClr val="1C1C1C"/>
                </a:solidFill>
                <a:cs typeface="Arial" charset="0"/>
              </a:rPr>
            </a:br>
            <a:r>
              <a:rPr lang="en-CA" sz="1300" b="1" dirty="0">
                <a:solidFill>
                  <a:srgbClr val="1C1C1C"/>
                </a:solidFill>
                <a:cs typeface="Arial" charset="0"/>
              </a:rPr>
              <a:t>&amp; Analysis</a:t>
            </a:r>
          </a:p>
        </p:txBody>
      </p:sp>
      <p:sp>
        <p:nvSpPr>
          <p:cNvPr id="206" name="TextBox 80"/>
          <p:cNvSpPr txBox="1">
            <a:spLocks noChangeArrowheads="1"/>
          </p:cNvSpPr>
          <p:nvPr/>
        </p:nvSpPr>
        <p:spPr bwMode="auto">
          <a:xfrm>
            <a:off x="2767925" y="1826976"/>
            <a:ext cx="787117"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IP</a:t>
            </a:r>
          </a:p>
        </p:txBody>
      </p:sp>
      <p:sp>
        <p:nvSpPr>
          <p:cNvPr id="207" name="TextBox 81"/>
          <p:cNvSpPr txBox="1">
            <a:spLocks noChangeArrowheads="1"/>
          </p:cNvSpPr>
          <p:nvPr/>
        </p:nvSpPr>
        <p:spPr bwMode="auto">
          <a:xfrm>
            <a:off x="3564799" y="1826976"/>
            <a:ext cx="813460"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0929" rIns="0"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Done</a:t>
            </a:r>
          </a:p>
        </p:txBody>
      </p:sp>
      <p:cxnSp>
        <p:nvCxnSpPr>
          <p:cNvPr id="208" name="Straight Connector 207"/>
          <p:cNvCxnSpPr/>
          <p:nvPr/>
        </p:nvCxnSpPr>
        <p:spPr>
          <a:xfrm>
            <a:off x="3572653" y="2143397"/>
            <a:ext cx="0" cy="4237219"/>
          </a:xfrm>
          <a:prstGeom prst="line">
            <a:avLst/>
          </a:prstGeom>
          <a:ln w="38100" cmpd="sng">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5183860" y="2143397"/>
            <a:ext cx="0" cy="4237219"/>
          </a:xfrm>
          <a:prstGeom prst="line">
            <a:avLst/>
          </a:prstGeom>
          <a:ln w="38100" cmpd="sng">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6795067" y="2159517"/>
            <a:ext cx="0" cy="4221099"/>
          </a:xfrm>
          <a:prstGeom prst="line">
            <a:avLst/>
          </a:prstGeom>
          <a:ln w="38100" cmpd="sng">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a:off x="8406275" y="2159517"/>
            <a:ext cx="0" cy="4221099"/>
          </a:xfrm>
          <a:prstGeom prst="line">
            <a:avLst/>
          </a:prstGeom>
          <a:ln w="38100" cmpd="sng">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212" name="TextBox 80"/>
          <p:cNvSpPr txBox="1">
            <a:spLocks noChangeArrowheads="1"/>
          </p:cNvSpPr>
          <p:nvPr/>
        </p:nvSpPr>
        <p:spPr bwMode="auto">
          <a:xfrm>
            <a:off x="4387281" y="1826976"/>
            <a:ext cx="787117"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IP</a:t>
            </a:r>
          </a:p>
        </p:txBody>
      </p:sp>
      <p:sp>
        <p:nvSpPr>
          <p:cNvPr id="213" name="TextBox 81"/>
          <p:cNvSpPr txBox="1">
            <a:spLocks noChangeArrowheads="1"/>
          </p:cNvSpPr>
          <p:nvPr/>
        </p:nvSpPr>
        <p:spPr bwMode="auto">
          <a:xfrm>
            <a:off x="5184153" y="1826976"/>
            <a:ext cx="813460"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0929" rIns="0"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Done</a:t>
            </a:r>
          </a:p>
        </p:txBody>
      </p:sp>
      <p:sp>
        <p:nvSpPr>
          <p:cNvPr id="214" name="TextBox 80"/>
          <p:cNvSpPr txBox="1">
            <a:spLocks noChangeArrowheads="1"/>
          </p:cNvSpPr>
          <p:nvPr/>
        </p:nvSpPr>
        <p:spPr bwMode="auto">
          <a:xfrm>
            <a:off x="5996828" y="1826976"/>
            <a:ext cx="787117"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IP</a:t>
            </a:r>
          </a:p>
        </p:txBody>
      </p:sp>
      <p:sp>
        <p:nvSpPr>
          <p:cNvPr id="215" name="TextBox 81"/>
          <p:cNvSpPr txBox="1">
            <a:spLocks noChangeArrowheads="1"/>
          </p:cNvSpPr>
          <p:nvPr/>
        </p:nvSpPr>
        <p:spPr bwMode="auto">
          <a:xfrm>
            <a:off x="6793702" y="1826976"/>
            <a:ext cx="813460"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0929" rIns="0"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Done</a:t>
            </a:r>
          </a:p>
        </p:txBody>
      </p:sp>
      <p:sp>
        <p:nvSpPr>
          <p:cNvPr id="216" name="TextBox 80"/>
          <p:cNvSpPr txBox="1">
            <a:spLocks noChangeArrowheads="1"/>
          </p:cNvSpPr>
          <p:nvPr/>
        </p:nvSpPr>
        <p:spPr bwMode="auto">
          <a:xfrm>
            <a:off x="7609404" y="1826976"/>
            <a:ext cx="787117"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IP</a:t>
            </a:r>
          </a:p>
        </p:txBody>
      </p:sp>
      <p:sp>
        <p:nvSpPr>
          <p:cNvPr id="217" name="TextBox 81"/>
          <p:cNvSpPr txBox="1">
            <a:spLocks noChangeArrowheads="1"/>
          </p:cNvSpPr>
          <p:nvPr/>
        </p:nvSpPr>
        <p:spPr bwMode="auto">
          <a:xfrm>
            <a:off x="8406275" y="1826976"/>
            <a:ext cx="813460" cy="3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0929" rIns="0"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Done</a:t>
            </a:r>
          </a:p>
        </p:txBody>
      </p:sp>
      <p:sp>
        <p:nvSpPr>
          <p:cNvPr id="218" name="TextBox 40"/>
          <p:cNvSpPr txBox="1">
            <a:spLocks noChangeArrowheads="1"/>
          </p:cNvSpPr>
          <p:nvPr/>
        </p:nvSpPr>
        <p:spPr bwMode="auto">
          <a:xfrm>
            <a:off x="1757163" y="1845584"/>
            <a:ext cx="4094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(8)</a:t>
            </a:r>
          </a:p>
        </p:txBody>
      </p:sp>
      <p:sp>
        <p:nvSpPr>
          <p:cNvPr id="219" name="TextBox 40"/>
          <p:cNvSpPr txBox="1">
            <a:spLocks noChangeArrowheads="1"/>
          </p:cNvSpPr>
          <p:nvPr/>
        </p:nvSpPr>
        <p:spPr bwMode="auto">
          <a:xfrm>
            <a:off x="3367085" y="1626428"/>
            <a:ext cx="4094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(3)</a:t>
            </a:r>
          </a:p>
        </p:txBody>
      </p:sp>
      <p:sp>
        <p:nvSpPr>
          <p:cNvPr id="220" name="TextBox 40"/>
          <p:cNvSpPr txBox="1">
            <a:spLocks noChangeArrowheads="1"/>
          </p:cNvSpPr>
          <p:nvPr/>
        </p:nvSpPr>
        <p:spPr bwMode="auto">
          <a:xfrm>
            <a:off x="4956148" y="1626428"/>
            <a:ext cx="4094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(4)</a:t>
            </a:r>
          </a:p>
        </p:txBody>
      </p:sp>
      <p:sp>
        <p:nvSpPr>
          <p:cNvPr id="221" name="TextBox 40"/>
          <p:cNvSpPr txBox="1">
            <a:spLocks noChangeArrowheads="1"/>
          </p:cNvSpPr>
          <p:nvPr/>
        </p:nvSpPr>
        <p:spPr bwMode="auto">
          <a:xfrm>
            <a:off x="6590347" y="1626428"/>
            <a:ext cx="4094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(3)</a:t>
            </a:r>
          </a:p>
        </p:txBody>
      </p:sp>
      <p:sp>
        <p:nvSpPr>
          <p:cNvPr id="222" name="TextBox 40"/>
          <p:cNvSpPr txBox="1">
            <a:spLocks noChangeArrowheads="1"/>
          </p:cNvSpPr>
          <p:nvPr/>
        </p:nvSpPr>
        <p:spPr bwMode="auto">
          <a:xfrm>
            <a:off x="8201555" y="1626428"/>
            <a:ext cx="4094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algn="ctr" defTabSz="1018705" fontAlgn="base">
              <a:spcBef>
                <a:spcPct val="0"/>
              </a:spcBef>
              <a:spcAft>
                <a:spcPct val="0"/>
              </a:spcAft>
            </a:pPr>
            <a:r>
              <a:rPr lang="en-CA" sz="1300" b="1" dirty="0">
                <a:solidFill>
                  <a:srgbClr val="1C1C1C"/>
                </a:solidFill>
                <a:cs typeface="Arial" charset="0"/>
              </a:rPr>
              <a:t>(2)</a:t>
            </a:r>
          </a:p>
        </p:txBody>
      </p:sp>
      <p:cxnSp>
        <p:nvCxnSpPr>
          <p:cNvPr id="223" name="Straight Connector 222"/>
          <p:cNvCxnSpPr/>
          <p:nvPr/>
        </p:nvCxnSpPr>
        <p:spPr>
          <a:xfrm>
            <a:off x="728185" y="3559520"/>
            <a:ext cx="9656064" cy="0"/>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728185" y="4970067"/>
            <a:ext cx="9656064" cy="0"/>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sp>
        <p:nvSpPr>
          <p:cNvPr id="225" name="TextBox 29"/>
          <p:cNvSpPr txBox="1">
            <a:spLocks noChangeArrowheads="1"/>
          </p:cNvSpPr>
          <p:nvPr/>
        </p:nvSpPr>
        <p:spPr bwMode="auto">
          <a:xfrm>
            <a:off x="150904" y="2506839"/>
            <a:ext cx="1198013"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New Build</a:t>
            </a:r>
          </a:p>
        </p:txBody>
      </p:sp>
      <p:sp>
        <p:nvSpPr>
          <p:cNvPr id="226" name="TextBox 29"/>
          <p:cNvSpPr txBox="1">
            <a:spLocks noChangeArrowheads="1"/>
          </p:cNvSpPr>
          <p:nvPr/>
        </p:nvSpPr>
        <p:spPr bwMode="auto">
          <a:xfrm>
            <a:off x="419101" y="2863383"/>
            <a:ext cx="571239"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(12)</a:t>
            </a:r>
          </a:p>
        </p:txBody>
      </p:sp>
      <p:sp>
        <p:nvSpPr>
          <p:cNvPr id="227" name="TextBox 31"/>
          <p:cNvSpPr txBox="1">
            <a:spLocks noChangeArrowheads="1"/>
          </p:cNvSpPr>
          <p:nvPr/>
        </p:nvSpPr>
        <p:spPr bwMode="auto">
          <a:xfrm>
            <a:off x="150902" y="5205997"/>
            <a:ext cx="1186792" cy="59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Prod </a:t>
            </a:r>
            <a:br>
              <a:rPr lang="en-CA" sz="1600" b="1" dirty="0">
                <a:solidFill>
                  <a:srgbClr val="002060"/>
                </a:solidFill>
                <a:cs typeface="Arial" charset="0"/>
              </a:rPr>
            </a:br>
            <a:r>
              <a:rPr lang="en-CA" sz="1600" b="1" dirty="0">
                <a:solidFill>
                  <a:srgbClr val="002060"/>
                </a:solidFill>
                <a:cs typeface="Arial" charset="0"/>
              </a:rPr>
              <a:t>Defect Fix</a:t>
            </a:r>
          </a:p>
        </p:txBody>
      </p:sp>
      <p:sp>
        <p:nvSpPr>
          <p:cNvPr id="228" name="TextBox 29"/>
          <p:cNvSpPr txBox="1">
            <a:spLocks noChangeArrowheads="1"/>
          </p:cNvSpPr>
          <p:nvPr/>
        </p:nvSpPr>
        <p:spPr bwMode="auto">
          <a:xfrm>
            <a:off x="473764" y="5806414"/>
            <a:ext cx="457426"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(6)</a:t>
            </a:r>
          </a:p>
        </p:txBody>
      </p:sp>
      <p:sp>
        <p:nvSpPr>
          <p:cNvPr id="229" name="TextBox 29"/>
          <p:cNvSpPr txBox="1">
            <a:spLocks noChangeArrowheads="1"/>
          </p:cNvSpPr>
          <p:nvPr/>
        </p:nvSpPr>
        <p:spPr bwMode="auto">
          <a:xfrm>
            <a:off x="150903" y="3917385"/>
            <a:ext cx="1448082"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Maintenance</a:t>
            </a:r>
          </a:p>
        </p:txBody>
      </p:sp>
      <p:sp>
        <p:nvSpPr>
          <p:cNvPr id="230" name="TextBox 29"/>
          <p:cNvSpPr txBox="1">
            <a:spLocks noChangeArrowheads="1"/>
          </p:cNvSpPr>
          <p:nvPr/>
        </p:nvSpPr>
        <p:spPr bwMode="auto">
          <a:xfrm>
            <a:off x="473764" y="4273931"/>
            <a:ext cx="457426"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(2)</a:t>
            </a:r>
          </a:p>
        </p:txBody>
      </p:sp>
      <p:sp>
        <p:nvSpPr>
          <p:cNvPr id="231" name="Rectangle 230"/>
          <p:cNvSpPr/>
          <p:nvPr/>
        </p:nvSpPr>
        <p:spPr bwMode="auto">
          <a:xfrm>
            <a:off x="4369202" y="6380611"/>
            <a:ext cx="1610334" cy="1222197"/>
          </a:xfrm>
          <a:prstGeom prst="rect">
            <a:avLst/>
          </a:prstGeom>
          <a:solidFill>
            <a:srgbClr val="FFFF00">
              <a:alpha val="31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defTabSz="1018586" eaLnBrk="0" fontAlgn="base" hangingPunct="0">
              <a:lnSpc>
                <a:spcPct val="106000"/>
              </a:lnSpc>
              <a:spcBef>
                <a:spcPct val="50000"/>
              </a:spcBef>
              <a:spcAft>
                <a:spcPct val="0"/>
              </a:spcAft>
            </a:pPr>
            <a:r>
              <a:rPr lang="en-US" sz="1300" dirty="0">
                <a:solidFill>
                  <a:srgbClr val="002776"/>
                </a:solidFill>
                <a:cs typeface="Arial" charset="0"/>
              </a:rPr>
              <a:t>- Developers must put current work on-hold if a high severity defect is found in test.</a:t>
            </a:r>
          </a:p>
        </p:txBody>
      </p:sp>
      <p:sp>
        <p:nvSpPr>
          <p:cNvPr id="232" name="Rectangle 231"/>
          <p:cNvSpPr/>
          <p:nvPr/>
        </p:nvSpPr>
        <p:spPr bwMode="auto">
          <a:xfrm>
            <a:off x="2759629" y="6380614"/>
            <a:ext cx="1610334" cy="798107"/>
          </a:xfrm>
          <a:prstGeom prst="rect">
            <a:avLst/>
          </a:prstGeom>
          <a:solidFill>
            <a:srgbClr val="FFFF00">
              <a:alpha val="31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defTabSz="1018586" eaLnBrk="0" fontAlgn="base" hangingPunct="0">
              <a:lnSpc>
                <a:spcPct val="106000"/>
              </a:lnSpc>
              <a:spcBef>
                <a:spcPct val="50000"/>
              </a:spcBef>
              <a:spcAft>
                <a:spcPct val="0"/>
              </a:spcAft>
            </a:pPr>
            <a:r>
              <a:rPr lang="en-US" sz="1300" dirty="0">
                <a:solidFill>
                  <a:srgbClr val="002776"/>
                </a:solidFill>
                <a:cs typeface="Arial" charset="0"/>
              </a:rPr>
              <a:t>- Work tickets must be reviewed once every two weeks.</a:t>
            </a:r>
          </a:p>
        </p:txBody>
      </p:sp>
      <p:sp>
        <p:nvSpPr>
          <p:cNvPr id="233" name="Rectangle 232"/>
          <p:cNvSpPr/>
          <p:nvPr/>
        </p:nvSpPr>
        <p:spPr bwMode="auto">
          <a:xfrm>
            <a:off x="5978774" y="6380614"/>
            <a:ext cx="1609344" cy="1010151"/>
          </a:xfrm>
          <a:prstGeom prst="rect">
            <a:avLst/>
          </a:prstGeom>
          <a:solidFill>
            <a:srgbClr val="FFFF00">
              <a:alpha val="31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defTabSz="1018586" eaLnBrk="0" fontAlgn="base" hangingPunct="0">
              <a:lnSpc>
                <a:spcPct val="106000"/>
              </a:lnSpc>
              <a:spcBef>
                <a:spcPct val="50000"/>
              </a:spcBef>
              <a:spcAft>
                <a:spcPct val="0"/>
              </a:spcAft>
            </a:pPr>
            <a:r>
              <a:rPr lang="en-US" sz="1300" dirty="0">
                <a:solidFill>
                  <a:srgbClr val="002776"/>
                </a:solidFill>
                <a:cs typeface="Arial" charset="0"/>
              </a:rPr>
              <a:t>- Only 1 work ticket can be assigned to any tester at any given time.</a:t>
            </a:r>
          </a:p>
        </p:txBody>
      </p:sp>
      <p:cxnSp>
        <p:nvCxnSpPr>
          <p:cNvPr id="234" name="Straight Connector 233"/>
          <p:cNvCxnSpPr/>
          <p:nvPr/>
        </p:nvCxnSpPr>
        <p:spPr>
          <a:xfrm>
            <a:off x="728185" y="6380613"/>
            <a:ext cx="9656064" cy="0"/>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a:off x="4375404" y="6383022"/>
            <a:ext cx="0" cy="171788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5997613" y="6383022"/>
            <a:ext cx="0" cy="171788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a:off x="7601545" y="6383022"/>
            <a:ext cx="0" cy="171788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a:off x="2776304" y="6383022"/>
            <a:ext cx="0" cy="171788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a:off x="9212752" y="6383022"/>
            <a:ext cx="0" cy="1717883"/>
          </a:xfrm>
          <a:prstGeom prst="line">
            <a:avLst/>
          </a:prstGeom>
          <a:ln w="38100" cmpd="sng">
            <a:solidFill>
              <a:srgbClr val="002060"/>
            </a:solidFill>
          </a:ln>
        </p:spPr>
        <p:style>
          <a:lnRef idx="1">
            <a:schemeClr val="accent1"/>
          </a:lnRef>
          <a:fillRef idx="0">
            <a:schemeClr val="accent1"/>
          </a:fillRef>
          <a:effectRef idx="0">
            <a:schemeClr val="accent1"/>
          </a:effectRef>
          <a:fontRef idx="minor">
            <a:schemeClr val="tx1"/>
          </a:fontRef>
        </p:style>
      </p:cxnSp>
      <p:sp>
        <p:nvSpPr>
          <p:cNvPr id="240" name="Rectangle 239"/>
          <p:cNvSpPr/>
          <p:nvPr/>
        </p:nvSpPr>
        <p:spPr>
          <a:xfrm>
            <a:off x="2043115" y="2360206"/>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1" name="Rectangle 240"/>
          <p:cNvSpPr/>
          <p:nvPr/>
        </p:nvSpPr>
        <p:spPr>
          <a:xfrm>
            <a:off x="2043115" y="3124854"/>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42" name="Rectangle 241"/>
          <p:cNvSpPr/>
          <p:nvPr/>
        </p:nvSpPr>
        <p:spPr>
          <a:xfrm>
            <a:off x="2043115" y="2734433"/>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43" name="Rectangle 242"/>
          <p:cNvSpPr/>
          <p:nvPr/>
        </p:nvSpPr>
        <p:spPr>
          <a:xfrm>
            <a:off x="2043115" y="4117716"/>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44" name="Rectangle 243"/>
          <p:cNvSpPr/>
          <p:nvPr/>
        </p:nvSpPr>
        <p:spPr>
          <a:xfrm>
            <a:off x="3002572" y="2354872"/>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5" name="Rectangle 244"/>
          <p:cNvSpPr/>
          <p:nvPr/>
        </p:nvSpPr>
        <p:spPr>
          <a:xfrm>
            <a:off x="3766343" y="2982805"/>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6" name="Rectangle 245"/>
          <p:cNvSpPr/>
          <p:nvPr/>
        </p:nvSpPr>
        <p:spPr>
          <a:xfrm>
            <a:off x="2972888" y="5405468"/>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7" name="Rectangle 246"/>
          <p:cNvSpPr/>
          <p:nvPr/>
        </p:nvSpPr>
        <p:spPr>
          <a:xfrm>
            <a:off x="5381945" y="2354874"/>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8" name="Rectangle 247"/>
          <p:cNvSpPr/>
          <p:nvPr/>
        </p:nvSpPr>
        <p:spPr>
          <a:xfrm>
            <a:off x="4621931" y="4116819"/>
            <a:ext cx="317818" cy="295063"/>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49" name="Rectangle 248"/>
          <p:cNvSpPr/>
          <p:nvPr/>
        </p:nvSpPr>
        <p:spPr>
          <a:xfrm>
            <a:off x="4610100" y="2978391"/>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0" name="Rectangle 249"/>
          <p:cNvSpPr/>
          <p:nvPr/>
        </p:nvSpPr>
        <p:spPr>
          <a:xfrm>
            <a:off x="6193933" y="2350308"/>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1" name="Rectangle 250"/>
          <p:cNvSpPr/>
          <p:nvPr/>
        </p:nvSpPr>
        <p:spPr>
          <a:xfrm>
            <a:off x="6202680" y="2978388"/>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2" name="Rectangle 251"/>
          <p:cNvSpPr/>
          <p:nvPr/>
        </p:nvSpPr>
        <p:spPr>
          <a:xfrm>
            <a:off x="6202680" y="5444147"/>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3" name="Rectangle 252"/>
          <p:cNvSpPr/>
          <p:nvPr/>
        </p:nvSpPr>
        <p:spPr>
          <a:xfrm>
            <a:off x="7819603" y="2359304"/>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4" name="Rectangle 253"/>
          <p:cNvSpPr/>
          <p:nvPr/>
        </p:nvSpPr>
        <p:spPr>
          <a:xfrm>
            <a:off x="8654096" y="2978388"/>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5" name="Rectangle 254"/>
          <p:cNvSpPr/>
          <p:nvPr/>
        </p:nvSpPr>
        <p:spPr>
          <a:xfrm>
            <a:off x="9430625" y="2360206"/>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6" name="Rectangle 255"/>
          <p:cNvSpPr/>
          <p:nvPr/>
        </p:nvSpPr>
        <p:spPr>
          <a:xfrm>
            <a:off x="9849725" y="2734433"/>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7" name="Rectangle 256"/>
          <p:cNvSpPr/>
          <p:nvPr/>
        </p:nvSpPr>
        <p:spPr>
          <a:xfrm>
            <a:off x="9430625" y="3945159"/>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8" name="Rectangle 257"/>
          <p:cNvSpPr/>
          <p:nvPr/>
        </p:nvSpPr>
        <p:spPr>
          <a:xfrm>
            <a:off x="9430625" y="5444150"/>
            <a:ext cx="317818" cy="293265"/>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59" name="Rectangle 258"/>
          <p:cNvSpPr/>
          <p:nvPr/>
        </p:nvSpPr>
        <p:spPr>
          <a:xfrm>
            <a:off x="9951005" y="4436728"/>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dirty="0">
              <a:solidFill>
                <a:srgbClr val="FFFFFF"/>
              </a:solidFill>
            </a:endParaRPr>
          </a:p>
        </p:txBody>
      </p:sp>
      <p:sp>
        <p:nvSpPr>
          <p:cNvPr id="260" name="Rectangle 259"/>
          <p:cNvSpPr/>
          <p:nvPr/>
        </p:nvSpPr>
        <p:spPr>
          <a:xfrm>
            <a:off x="1610045" y="2373870"/>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61" name="Rectangle 260"/>
          <p:cNvSpPr/>
          <p:nvPr/>
        </p:nvSpPr>
        <p:spPr>
          <a:xfrm>
            <a:off x="2029145" y="5396470"/>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62" name="Rectangle 261"/>
          <p:cNvSpPr/>
          <p:nvPr/>
        </p:nvSpPr>
        <p:spPr>
          <a:xfrm>
            <a:off x="6303965" y="2494416"/>
            <a:ext cx="317818" cy="295063"/>
          </a:xfrm>
          <a:prstGeom prst="rect">
            <a:avLst/>
          </a:prstGeom>
          <a:solidFill>
            <a:srgbClr val="FF00FF"/>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r>
              <a:rPr lang="en-CA" dirty="0">
                <a:solidFill>
                  <a:srgbClr val="FFFFFF"/>
                </a:solidFill>
              </a:rPr>
              <a:t>B</a:t>
            </a:r>
          </a:p>
        </p:txBody>
      </p:sp>
      <p:sp>
        <p:nvSpPr>
          <p:cNvPr id="263" name="Rectangle 262"/>
          <p:cNvSpPr/>
          <p:nvPr/>
        </p:nvSpPr>
        <p:spPr>
          <a:xfrm>
            <a:off x="-829469" y="2667133"/>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64" name="Rectangle 263"/>
          <p:cNvSpPr/>
          <p:nvPr/>
        </p:nvSpPr>
        <p:spPr>
          <a:xfrm>
            <a:off x="6286500" y="5567390"/>
            <a:ext cx="317818" cy="295063"/>
          </a:xfrm>
          <a:prstGeom prst="rect">
            <a:avLst/>
          </a:prstGeom>
          <a:solidFill>
            <a:srgbClr val="FF00FF"/>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r>
              <a:rPr lang="en-CA" dirty="0">
                <a:solidFill>
                  <a:srgbClr val="FFFFFF"/>
                </a:solidFill>
              </a:rPr>
              <a:t>B</a:t>
            </a:r>
          </a:p>
        </p:txBody>
      </p:sp>
      <p:sp>
        <p:nvSpPr>
          <p:cNvPr id="265" name="Rectangle 264"/>
          <p:cNvSpPr/>
          <p:nvPr/>
        </p:nvSpPr>
        <p:spPr>
          <a:xfrm>
            <a:off x="-820735" y="3151110"/>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66" name="Rectangle 265"/>
          <p:cNvSpPr/>
          <p:nvPr/>
        </p:nvSpPr>
        <p:spPr>
          <a:xfrm>
            <a:off x="6303965" y="3098936"/>
            <a:ext cx="317818" cy="293265"/>
          </a:xfrm>
          <a:prstGeom prst="rect">
            <a:avLst/>
          </a:prstGeom>
          <a:solidFill>
            <a:srgbClr val="FF000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r>
              <a:rPr lang="en-CA" dirty="0">
                <a:solidFill>
                  <a:srgbClr val="FFFFFF"/>
                </a:solidFill>
              </a:rPr>
              <a:t>D</a:t>
            </a:r>
          </a:p>
        </p:txBody>
      </p:sp>
      <p:sp>
        <p:nvSpPr>
          <p:cNvPr id="267" name="Rectangle 266"/>
          <p:cNvSpPr/>
          <p:nvPr/>
        </p:nvSpPr>
        <p:spPr bwMode="auto">
          <a:xfrm>
            <a:off x="4395431" y="1178158"/>
            <a:ext cx="1583344" cy="497528"/>
          </a:xfrm>
          <a:prstGeom prst="rect">
            <a:avLst/>
          </a:prstGeom>
          <a:solidFill>
            <a:srgbClr val="FF7C80">
              <a:alpha val="29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algn="ctr" defTabSz="1018586" eaLnBrk="0" fontAlgn="base" hangingPunct="0">
              <a:lnSpc>
                <a:spcPct val="106000"/>
              </a:lnSpc>
              <a:spcBef>
                <a:spcPct val="50000"/>
              </a:spcBef>
              <a:spcAft>
                <a:spcPct val="0"/>
              </a:spcAft>
            </a:pPr>
            <a:endParaRPr lang="en-US" b="1" dirty="0">
              <a:solidFill>
                <a:srgbClr val="002776"/>
              </a:solidFill>
              <a:cs typeface="Arial" charset="0"/>
            </a:endParaRPr>
          </a:p>
        </p:txBody>
      </p:sp>
      <p:sp>
        <p:nvSpPr>
          <p:cNvPr id="268" name="TextBox 37"/>
          <p:cNvSpPr txBox="1">
            <a:spLocks noChangeArrowheads="1"/>
          </p:cNvSpPr>
          <p:nvPr/>
        </p:nvSpPr>
        <p:spPr bwMode="auto">
          <a:xfrm>
            <a:off x="4369205" y="886836"/>
            <a:ext cx="1557408" cy="333666"/>
          </a:xfrm>
          <a:prstGeom prst="rect">
            <a:avLst/>
          </a:prstGeom>
          <a:solidFill>
            <a:schemeClr val="bg1"/>
          </a:solidFill>
          <a:ln w="9525">
            <a:solidFill>
              <a:srgbClr val="FF0000"/>
            </a:solidFill>
            <a:miter lim="800000"/>
            <a:headEnd/>
            <a:tailEnd/>
          </a:ln>
        </p:spPr>
        <p:txBody>
          <a:bodyPr wrap="square" lIns="144833" tIns="72416" rIns="144833" bIns="72416">
            <a:spAutoFit/>
          </a:bodyPr>
          <a:lstStyle/>
          <a:p>
            <a:pPr defTabSz="1448410" eaLnBrk="0" fontAlgn="base">
              <a:lnSpc>
                <a:spcPct val="106000"/>
              </a:lnSpc>
              <a:spcBef>
                <a:spcPct val="50000"/>
              </a:spcBef>
              <a:spcAft>
                <a:spcPct val="0"/>
              </a:spcAft>
              <a:buSzPct val="100000"/>
            </a:pPr>
            <a:r>
              <a:rPr lang="en-CA" sz="1100" b="1" dirty="0">
                <a:solidFill>
                  <a:srgbClr val="FF0000"/>
                </a:solidFill>
                <a:cs typeface="Arial" charset="0"/>
              </a:rPr>
              <a:t>Work is blocked</a:t>
            </a:r>
          </a:p>
        </p:txBody>
      </p:sp>
      <p:sp>
        <p:nvSpPr>
          <p:cNvPr id="269" name="Rectangle 268"/>
          <p:cNvSpPr/>
          <p:nvPr/>
        </p:nvSpPr>
        <p:spPr bwMode="auto">
          <a:xfrm>
            <a:off x="5978774" y="1178158"/>
            <a:ext cx="1622770" cy="497528"/>
          </a:xfrm>
          <a:prstGeom prst="rect">
            <a:avLst/>
          </a:prstGeom>
          <a:solidFill>
            <a:srgbClr val="FF7C80">
              <a:alpha val="29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algn="ctr" defTabSz="1018586" eaLnBrk="0" fontAlgn="base" hangingPunct="0">
              <a:lnSpc>
                <a:spcPct val="106000"/>
              </a:lnSpc>
              <a:spcBef>
                <a:spcPct val="50000"/>
              </a:spcBef>
              <a:spcAft>
                <a:spcPct val="0"/>
              </a:spcAft>
            </a:pPr>
            <a:endParaRPr lang="en-US" b="1" dirty="0">
              <a:solidFill>
                <a:srgbClr val="002776"/>
              </a:solidFill>
              <a:cs typeface="Arial" charset="0"/>
            </a:endParaRPr>
          </a:p>
        </p:txBody>
      </p:sp>
      <p:sp>
        <p:nvSpPr>
          <p:cNvPr id="270" name="TextBox 37"/>
          <p:cNvSpPr txBox="1">
            <a:spLocks noChangeArrowheads="1"/>
          </p:cNvSpPr>
          <p:nvPr/>
        </p:nvSpPr>
        <p:spPr bwMode="auto">
          <a:xfrm>
            <a:off x="5922971" y="880461"/>
            <a:ext cx="1665149" cy="333666"/>
          </a:xfrm>
          <a:prstGeom prst="rect">
            <a:avLst/>
          </a:prstGeom>
          <a:solidFill>
            <a:schemeClr val="bg1"/>
          </a:solidFill>
          <a:ln w="9525">
            <a:solidFill>
              <a:srgbClr val="FF0000"/>
            </a:solidFill>
            <a:miter lim="800000"/>
            <a:headEnd/>
            <a:tailEnd/>
          </a:ln>
        </p:spPr>
        <p:txBody>
          <a:bodyPr wrap="square" lIns="144833" tIns="72416" rIns="144833" bIns="72416">
            <a:spAutoFit/>
          </a:bodyPr>
          <a:lstStyle/>
          <a:p>
            <a:pPr defTabSz="1448410" eaLnBrk="0" fontAlgn="base">
              <a:lnSpc>
                <a:spcPct val="106000"/>
              </a:lnSpc>
              <a:spcBef>
                <a:spcPct val="50000"/>
              </a:spcBef>
              <a:spcAft>
                <a:spcPct val="0"/>
              </a:spcAft>
              <a:buSzPct val="100000"/>
            </a:pPr>
            <a:r>
              <a:rPr lang="en-CA" sz="1100" b="1" dirty="0">
                <a:solidFill>
                  <a:srgbClr val="FF0000"/>
                </a:solidFill>
                <a:cs typeface="Arial" charset="0"/>
              </a:rPr>
              <a:t>    Bottleneck</a:t>
            </a:r>
          </a:p>
        </p:txBody>
      </p:sp>
      <p:sp>
        <p:nvSpPr>
          <p:cNvPr id="271" name="Rectangle 270"/>
          <p:cNvSpPr/>
          <p:nvPr/>
        </p:nvSpPr>
        <p:spPr bwMode="auto">
          <a:xfrm>
            <a:off x="7601546" y="1153232"/>
            <a:ext cx="1613041" cy="497528"/>
          </a:xfrm>
          <a:prstGeom prst="rect">
            <a:avLst/>
          </a:prstGeom>
          <a:solidFill>
            <a:srgbClr val="FF7C80">
              <a:alpha val="29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algn="ctr" defTabSz="1018586" eaLnBrk="0" fontAlgn="base" hangingPunct="0">
              <a:lnSpc>
                <a:spcPct val="106000"/>
              </a:lnSpc>
              <a:spcBef>
                <a:spcPct val="50000"/>
              </a:spcBef>
              <a:spcAft>
                <a:spcPct val="0"/>
              </a:spcAft>
            </a:pPr>
            <a:endParaRPr lang="en-US" b="1" dirty="0">
              <a:solidFill>
                <a:srgbClr val="002776"/>
              </a:solidFill>
              <a:cs typeface="Arial" charset="0"/>
            </a:endParaRPr>
          </a:p>
        </p:txBody>
      </p:sp>
      <p:sp>
        <p:nvSpPr>
          <p:cNvPr id="272" name="TextBox 37"/>
          <p:cNvSpPr txBox="1">
            <a:spLocks noChangeArrowheads="1"/>
          </p:cNvSpPr>
          <p:nvPr/>
        </p:nvSpPr>
        <p:spPr bwMode="auto">
          <a:xfrm>
            <a:off x="7563943" y="885859"/>
            <a:ext cx="1665149" cy="333648"/>
          </a:xfrm>
          <a:prstGeom prst="rect">
            <a:avLst/>
          </a:prstGeom>
          <a:solidFill>
            <a:schemeClr val="bg1"/>
          </a:solidFill>
          <a:ln w="9525">
            <a:solidFill>
              <a:srgbClr val="FF0000"/>
            </a:solidFill>
            <a:miter lim="800000"/>
            <a:headEnd/>
            <a:tailEnd/>
          </a:ln>
        </p:spPr>
        <p:txBody>
          <a:bodyPr wrap="square" lIns="144833" tIns="72416" rIns="144833" bIns="72416">
            <a:spAutoFit/>
          </a:bodyPr>
          <a:lstStyle/>
          <a:p>
            <a:pPr algn="ctr" defTabSz="1448410" eaLnBrk="0" fontAlgn="base">
              <a:lnSpc>
                <a:spcPct val="106000"/>
              </a:lnSpc>
              <a:spcBef>
                <a:spcPct val="50000"/>
              </a:spcBef>
              <a:spcAft>
                <a:spcPct val="0"/>
              </a:spcAft>
              <a:buSzPct val="100000"/>
            </a:pPr>
            <a:r>
              <a:rPr lang="en-CA" sz="1100" b="1" dirty="0">
                <a:solidFill>
                  <a:srgbClr val="FF0000"/>
                </a:solidFill>
                <a:cs typeface="Arial" charset="0"/>
              </a:rPr>
              <a:t>Team is idle</a:t>
            </a:r>
          </a:p>
        </p:txBody>
      </p:sp>
      <p:sp>
        <p:nvSpPr>
          <p:cNvPr id="273" name="Rectangle 272"/>
          <p:cNvSpPr/>
          <p:nvPr/>
        </p:nvSpPr>
        <p:spPr bwMode="auto">
          <a:xfrm>
            <a:off x="2766063" y="1178158"/>
            <a:ext cx="1639611" cy="497528"/>
          </a:xfrm>
          <a:prstGeom prst="rect">
            <a:avLst/>
          </a:prstGeom>
          <a:solidFill>
            <a:srgbClr val="FF7C80">
              <a:alpha val="29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algn="ctr" defTabSz="1018586" eaLnBrk="0" fontAlgn="base" hangingPunct="0">
              <a:lnSpc>
                <a:spcPct val="106000"/>
              </a:lnSpc>
              <a:spcBef>
                <a:spcPct val="50000"/>
              </a:spcBef>
              <a:spcAft>
                <a:spcPct val="0"/>
              </a:spcAft>
            </a:pPr>
            <a:endParaRPr lang="en-US" b="1" dirty="0">
              <a:solidFill>
                <a:srgbClr val="002776"/>
              </a:solidFill>
              <a:cs typeface="Arial" charset="0"/>
            </a:endParaRPr>
          </a:p>
        </p:txBody>
      </p:sp>
      <p:sp>
        <p:nvSpPr>
          <p:cNvPr id="274" name="TextBox 37"/>
          <p:cNvSpPr txBox="1">
            <a:spLocks noChangeArrowheads="1"/>
          </p:cNvSpPr>
          <p:nvPr/>
        </p:nvSpPr>
        <p:spPr bwMode="auto">
          <a:xfrm>
            <a:off x="2744990" y="880461"/>
            <a:ext cx="1639612" cy="333666"/>
          </a:xfrm>
          <a:prstGeom prst="rect">
            <a:avLst/>
          </a:prstGeom>
          <a:solidFill>
            <a:schemeClr val="bg1"/>
          </a:solidFill>
          <a:ln w="9525">
            <a:solidFill>
              <a:srgbClr val="FF0000"/>
            </a:solidFill>
            <a:miter lim="800000"/>
            <a:headEnd/>
            <a:tailEnd/>
          </a:ln>
        </p:spPr>
        <p:txBody>
          <a:bodyPr wrap="square" lIns="144833" tIns="72416" rIns="144833" bIns="72416">
            <a:spAutoFit/>
          </a:bodyPr>
          <a:lstStyle/>
          <a:p>
            <a:pPr defTabSz="1448410" eaLnBrk="0" fontAlgn="base">
              <a:lnSpc>
                <a:spcPct val="106000"/>
              </a:lnSpc>
              <a:spcBef>
                <a:spcPct val="50000"/>
              </a:spcBef>
              <a:spcAft>
                <a:spcPct val="0"/>
              </a:spcAft>
              <a:buSzPct val="100000"/>
            </a:pPr>
            <a:r>
              <a:rPr lang="en-CA" sz="1100" b="1" dirty="0">
                <a:solidFill>
                  <a:srgbClr val="FF0000"/>
                </a:solidFill>
                <a:cs typeface="Arial" charset="0"/>
              </a:rPr>
              <a:t>Work is blocked</a:t>
            </a:r>
          </a:p>
        </p:txBody>
      </p:sp>
      <p:sp>
        <p:nvSpPr>
          <p:cNvPr id="275" name="Rectangle 274"/>
          <p:cNvSpPr/>
          <p:nvPr/>
        </p:nvSpPr>
        <p:spPr>
          <a:xfrm>
            <a:off x="-838200" y="4014710"/>
            <a:ext cx="317818" cy="293264"/>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1858" tIns="50929" rIns="101858" bIns="50929" anchor="ctr"/>
          <a:lstStyle/>
          <a:p>
            <a:pPr algn="ctr" defTabSz="1018705" fontAlgn="base">
              <a:spcBef>
                <a:spcPct val="0"/>
              </a:spcBef>
              <a:spcAft>
                <a:spcPct val="0"/>
              </a:spcAft>
              <a:defRPr/>
            </a:pPr>
            <a:endParaRPr lang="en-CA" b="1" dirty="0">
              <a:solidFill>
                <a:srgbClr val="FFFFFF"/>
              </a:solidFill>
            </a:endParaRPr>
          </a:p>
        </p:txBody>
      </p:sp>
      <p:sp>
        <p:nvSpPr>
          <p:cNvPr id="276" name="Rectangle 275"/>
          <p:cNvSpPr/>
          <p:nvPr/>
        </p:nvSpPr>
        <p:spPr bwMode="auto">
          <a:xfrm>
            <a:off x="1156716" y="1178158"/>
            <a:ext cx="1609344" cy="497528"/>
          </a:xfrm>
          <a:prstGeom prst="rect">
            <a:avLst/>
          </a:prstGeom>
          <a:solidFill>
            <a:srgbClr val="FF7C80">
              <a:alpha val="29000"/>
            </a:srgbClr>
          </a:solidFill>
          <a:ln w="19050" cap="flat" cmpd="sng" algn="ctr">
            <a:noFill/>
            <a:prstDash val="solid"/>
            <a:round/>
            <a:headEnd type="none" w="med" len="med"/>
            <a:tailEnd type="triangle" w="med" len="med"/>
          </a:ln>
          <a:effectLst/>
          <a:extLst/>
        </p:spPr>
        <p:txBody>
          <a:bodyPr vert="horz" wrap="square" lIns="80202" tIns="80202" rIns="80202" bIns="80202" numCol="1" rtlCol="0" anchor="t" anchorCtr="1" compatLnSpc="1">
            <a:prstTxWarp prst="textNoShape">
              <a:avLst/>
            </a:prstTxWarp>
            <a:spAutoFit/>
          </a:bodyPr>
          <a:lstStyle/>
          <a:p>
            <a:pPr algn="ctr" defTabSz="1018586" eaLnBrk="0" fontAlgn="base" hangingPunct="0">
              <a:lnSpc>
                <a:spcPct val="106000"/>
              </a:lnSpc>
              <a:spcBef>
                <a:spcPct val="50000"/>
              </a:spcBef>
              <a:spcAft>
                <a:spcPct val="0"/>
              </a:spcAft>
            </a:pPr>
            <a:endParaRPr lang="en-US" b="1" dirty="0">
              <a:solidFill>
                <a:srgbClr val="002776"/>
              </a:solidFill>
              <a:cs typeface="Arial" charset="0"/>
            </a:endParaRPr>
          </a:p>
        </p:txBody>
      </p:sp>
      <p:sp>
        <p:nvSpPr>
          <p:cNvPr id="277" name="TextBox 37"/>
          <p:cNvSpPr txBox="1">
            <a:spLocks noChangeArrowheads="1"/>
          </p:cNvSpPr>
          <p:nvPr/>
        </p:nvSpPr>
        <p:spPr bwMode="auto">
          <a:xfrm>
            <a:off x="1173482" y="878500"/>
            <a:ext cx="1583369" cy="333666"/>
          </a:xfrm>
          <a:prstGeom prst="rect">
            <a:avLst/>
          </a:prstGeom>
          <a:solidFill>
            <a:schemeClr val="bg1"/>
          </a:solidFill>
          <a:ln w="9525">
            <a:solidFill>
              <a:srgbClr val="FF0000"/>
            </a:solidFill>
            <a:miter lim="800000"/>
            <a:headEnd/>
            <a:tailEnd/>
          </a:ln>
        </p:spPr>
        <p:txBody>
          <a:bodyPr wrap="square" lIns="144833" tIns="72416" rIns="144833" bIns="72416">
            <a:spAutoFit/>
          </a:bodyPr>
          <a:lstStyle/>
          <a:p>
            <a:pPr defTabSz="1448410" eaLnBrk="0" fontAlgn="base">
              <a:lnSpc>
                <a:spcPct val="106000"/>
              </a:lnSpc>
              <a:spcBef>
                <a:spcPct val="50000"/>
              </a:spcBef>
              <a:spcAft>
                <a:spcPct val="0"/>
              </a:spcAft>
              <a:buSzPct val="100000"/>
            </a:pPr>
            <a:r>
              <a:rPr lang="en-CA" sz="1100" b="1" dirty="0">
                <a:solidFill>
                  <a:srgbClr val="FF0000"/>
                </a:solidFill>
                <a:cs typeface="Arial" charset="0"/>
              </a:rPr>
              <a:t>Work is blocked</a:t>
            </a:r>
          </a:p>
        </p:txBody>
      </p:sp>
      <p:sp>
        <p:nvSpPr>
          <p:cNvPr id="278" name="TextBox 31"/>
          <p:cNvSpPr txBox="1">
            <a:spLocks noChangeArrowheads="1"/>
          </p:cNvSpPr>
          <p:nvPr/>
        </p:nvSpPr>
        <p:spPr bwMode="auto">
          <a:xfrm flipH="1">
            <a:off x="1793759" y="7066350"/>
            <a:ext cx="1056121" cy="59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1858" tIns="50929" rIns="101858" bIns="50929">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600" b="1" dirty="0">
                <a:solidFill>
                  <a:srgbClr val="002060"/>
                </a:solidFill>
                <a:cs typeface="Arial" charset="0"/>
              </a:rPr>
              <a:t>Board Policies</a:t>
            </a:r>
          </a:p>
        </p:txBody>
      </p:sp>
      <p:grpSp>
        <p:nvGrpSpPr>
          <p:cNvPr id="279" name="Group 278"/>
          <p:cNvGrpSpPr/>
          <p:nvPr/>
        </p:nvGrpSpPr>
        <p:grpSpPr>
          <a:xfrm>
            <a:off x="187810" y="6639690"/>
            <a:ext cx="1991510" cy="1106427"/>
            <a:chOff x="381000" y="6361928"/>
            <a:chExt cx="1810464" cy="976259"/>
          </a:xfrm>
        </p:grpSpPr>
        <p:grpSp>
          <p:nvGrpSpPr>
            <p:cNvPr id="280" name="Group 106"/>
            <p:cNvGrpSpPr/>
            <p:nvPr/>
          </p:nvGrpSpPr>
          <p:grpSpPr>
            <a:xfrm>
              <a:off x="381000" y="6361928"/>
              <a:ext cx="1810464" cy="268674"/>
              <a:chOff x="4373881" y="6361928"/>
              <a:chExt cx="1810464" cy="268674"/>
            </a:xfrm>
          </p:grpSpPr>
          <p:sp>
            <p:nvSpPr>
              <p:cNvPr id="287" name="Rectangle 286"/>
              <p:cNvSpPr/>
              <p:nvPr/>
            </p:nvSpPr>
            <p:spPr>
              <a:xfrm>
                <a:off x="4373881" y="6370252"/>
                <a:ext cx="288925" cy="260350"/>
              </a:xfrm>
              <a:prstGeom prst="rect">
                <a:avLst/>
              </a:prstGeom>
              <a:solidFill>
                <a:srgbClr val="92D05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705" fontAlgn="base">
                  <a:spcBef>
                    <a:spcPct val="0"/>
                  </a:spcBef>
                  <a:spcAft>
                    <a:spcPct val="0"/>
                  </a:spcAft>
                  <a:defRPr/>
                </a:pPr>
                <a:endParaRPr lang="en-CA" dirty="0">
                  <a:solidFill>
                    <a:srgbClr val="FFFFFF"/>
                  </a:solidFill>
                </a:endParaRPr>
              </a:p>
            </p:txBody>
          </p:sp>
          <p:sp>
            <p:nvSpPr>
              <p:cNvPr id="288" name="TextBox 36"/>
              <p:cNvSpPr txBox="1">
                <a:spLocks noChangeArrowheads="1"/>
              </p:cNvSpPr>
              <p:nvPr/>
            </p:nvSpPr>
            <p:spPr bwMode="auto">
              <a:xfrm>
                <a:off x="4720405" y="6361928"/>
                <a:ext cx="1463940" cy="25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300" b="1" dirty="0">
                    <a:solidFill>
                      <a:srgbClr val="1C1C1C"/>
                    </a:solidFill>
                    <a:cs typeface="Arial" charset="0"/>
                  </a:rPr>
                  <a:t>Work Ticket</a:t>
                </a:r>
              </a:p>
            </p:txBody>
          </p:sp>
        </p:grpSp>
        <p:grpSp>
          <p:nvGrpSpPr>
            <p:cNvPr id="281" name="Group 107"/>
            <p:cNvGrpSpPr/>
            <p:nvPr/>
          </p:nvGrpSpPr>
          <p:grpSpPr>
            <a:xfrm>
              <a:off x="381002" y="6716117"/>
              <a:ext cx="1810462" cy="268674"/>
              <a:chOff x="4373883" y="6733560"/>
              <a:chExt cx="1810462" cy="268674"/>
            </a:xfrm>
          </p:grpSpPr>
          <p:sp>
            <p:nvSpPr>
              <p:cNvPr id="285" name="Rectangle 284"/>
              <p:cNvSpPr/>
              <p:nvPr/>
            </p:nvSpPr>
            <p:spPr>
              <a:xfrm>
                <a:off x="4373883" y="6741884"/>
                <a:ext cx="288925" cy="260350"/>
              </a:xfrm>
              <a:prstGeom prst="rect">
                <a:avLst/>
              </a:prstGeom>
              <a:solidFill>
                <a:srgbClr val="FF00FF"/>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705" fontAlgn="base">
                  <a:spcBef>
                    <a:spcPct val="0"/>
                  </a:spcBef>
                  <a:spcAft>
                    <a:spcPct val="0"/>
                  </a:spcAft>
                  <a:defRPr/>
                </a:pPr>
                <a:r>
                  <a:rPr lang="en-CA" dirty="0">
                    <a:solidFill>
                      <a:srgbClr val="FFFFFF"/>
                    </a:solidFill>
                  </a:rPr>
                  <a:t>B</a:t>
                </a:r>
              </a:p>
            </p:txBody>
          </p:sp>
          <p:sp>
            <p:nvSpPr>
              <p:cNvPr id="286" name="TextBox 36"/>
              <p:cNvSpPr txBox="1">
                <a:spLocks noChangeArrowheads="1"/>
              </p:cNvSpPr>
              <p:nvPr/>
            </p:nvSpPr>
            <p:spPr bwMode="auto">
              <a:xfrm>
                <a:off x="4720405" y="6733560"/>
                <a:ext cx="1463940" cy="25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300" b="1" dirty="0">
                    <a:solidFill>
                      <a:srgbClr val="1C1C1C"/>
                    </a:solidFill>
                    <a:cs typeface="Arial" charset="0"/>
                  </a:rPr>
                  <a:t>Blocker</a:t>
                </a:r>
              </a:p>
            </p:txBody>
          </p:sp>
        </p:grpSp>
        <p:grpSp>
          <p:nvGrpSpPr>
            <p:cNvPr id="282" name="Group 108"/>
            <p:cNvGrpSpPr/>
            <p:nvPr/>
          </p:nvGrpSpPr>
          <p:grpSpPr>
            <a:xfrm>
              <a:off x="381001" y="7070306"/>
              <a:ext cx="1810463" cy="267881"/>
              <a:chOff x="4373882" y="7070306"/>
              <a:chExt cx="1810463" cy="267881"/>
            </a:xfrm>
          </p:grpSpPr>
          <p:sp>
            <p:nvSpPr>
              <p:cNvPr id="283" name="Rectangle 282"/>
              <p:cNvSpPr/>
              <p:nvPr/>
            </p:nvSpPr>
            <p:spPr>
              <a:xfrm>
                <a:off x="4373882" y="7079424"/>
                <a:ext cx="288925" cy="258763"/>
              </a:xfrm>
              <a:prstGeom prst="rect">
                <a:avLst/>
              </a:prstGeom>
              <a:solidFill>
                <a:srgbClr val="FF0000"/>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705" fontAlgn="base">
                  <a:spcBef>
                    <a:spcPct val="0"/>
                  </a:spcBef>
                  <a:spcAft>
                    <a:spcPct val="0"/>
                  </a:spcAft>
                  <a:defRPr/>
                </a:pPr>
                <a:r>
                  <a:rPr lang="en-CA" dirty="0">
                    <a:solidFill>
                      <a:srgbClr val="FFFFFF"/>
                    </a:solidFill>
                  </a:rPr>
                  <a:t>D</a:t>
                </a:r>
              </a:p>
            </p:txBody>
          </p:sp>
          <p:sp>
            <p:nvSpPr>
              <p:cNvPr id="284" name="TextBox 36"/>
              <p:cNvSpPr txBox="1">
                <a:spLocks noChangeArrowheads="1"/>
              </p:cNvSpPr>
              <p:nvPr/>
            </p:nvSpPr>
            <p:spPr bwMode="auto">
              <a:xfrm>
                <a:off x="4720405" y="7070306"/>
                <a:ext cx="1463940" cy="25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pitchFamily="34" charset="0"/>
                  </a:defRPr>
                </a:lvl1pPr>
                <a:lvl2pPr marL="742950" indent="-285750">
                  <a:defRPr sz="1000">
                    <a:solidFill>
                      <a:schemeClr val="tx1"/>
                    </a:solidFill>
                    <a:latin typeface="Arial" pitchFamily="34" charset="0"/>
                  </a:defRPr>
                </a:lvl2pPr>
                <a:lvl3pPr marL="1143000" indent="-228600">
                  <a:defRPr sz="1000">
                    <a:solidFill>
                      <a:schemeClr val="tx1"/>
                    </a:solidFill>
                    <a:latin typeface="Arial" pitchFamily="34" charset="0"/>
                  </a:defRPr>
                </a:lvl3pPr>
                <a:lvl4pPr marL="1600200" indent="-228600">
                  <a:defRPr sz="1000">
                    <a:solidFill>
                      <a:schemeClr val="tx1"/>
                    </a:solidFill>
                    <a:latin typeface="Arial" pitchFamily="34" charset="0"/>
                  </a:defRPr>
                </a:lvl4pPr>
                <a:lvl5pPr marL="2057400" indent="-228600">
                  <a:defRPr sz="1000">
                    <a:solidFill>
                      <a:schemeClr val="tx1"/>
                    </a:solidFill>
                    <a:latin typeface="Arial" pitchFamily="34" charset="0"/>
                  </a:defRPr>
                </a:lvl5pPr>
                <a:lvl6pPr marL="25146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6pPr>
                <a:lvl7pPr marL="29718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7pPr>
                <a:lvl8pPr marL="34290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8pPr>
                <a:lvl9pPr marL="3886200" indent="-228600" eaLnBrk="0" fontAlgn="base" hangingPunct="0">
                  <a:lnSpc>
                    <a:spcPct val="106000"/>
                  </a:lnSpc>
                  <a:spcBef>
                    <a:spcPct val="50000"/>
                  </a:spcBef>
                  <a:spcAft>
                    <a:spcPct val="0"/>
                  </a:spcAft>
                  <a:buSzPct val="100000"/>
                  <a:buFont typeface="Wingdings 2" pitchFamily="18" charset="2"/>
                  <a:defRPr sz="1000">
                    <a:solidFill>
                      <a:schemeClr val="tx1"/>
                    </a:solidFill>
                    <a:latin typeface="Arial" pitchFamily="34" charset="0"/>
                  </a:defRPr>
                </a:lvl9pPr>
              </a:lstStyle>
              <a:p>
                <a:pPr defTabSz="1018705" fontAlgn="base">
                  <a:spcBef>
                    <a:spcPct val="0"/>
                  </a:spcBef>
                  <a:spcAft>
                    <a:spcPct val="0"/>
                  </a:spcAft>
                </a:pPr>
                <a:r>
                  <a:rPr lang="en-CA" sz="1300" b="1" dirty="0">
                    <a:solidFill>
                      <a:srgbClr val="1C1C1C"/>
                    </a:solidFill>
                    <a:cs typeface="Arial" charset="0"/>
                  </a:rPr>
                  <a:t>Defect</a:t>
                </a:r>
              </a:p>
            </p:txBody>
          </p:sp>
        </p:grpSp>
      </p:grpSp>
    </p:spTree>
    <p:extLst>
      <p:ext uri="{BB962C8B-B14F-4D97-AF65-F5344CB8AC3E}">
        <p14:creationId xmlns:p14="http://schemas.microsoft.com/office/powerpoint/2010/main" val="381550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00221 -0.00061 L 0.07039 -0.00061 " pathEditMode="relative" rAng="0" ptsTypes="AA">
                                      <p:cBhvr>
                                        <p:cTn id="6" dur="2000" fill="hold"/>
                                        <p:tgtEl>
                                          <p:spTgt spid="244"/>
                                        </p:tgtEl>
                                        <p:attrNameLst>
                                          <p:attrName>ppt_x</p:attrName>
                                          <p:attrName>ppt_y</p:attrName>
                                        </p:attrNameLst>
                                      </p:cBhvr>
                                      <p:rCtr x="3409"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1" nodeType="clickEffect">
                                  <p:stCondLst>
                                    <p:cond delay="0"/>
                                  </p:stCondLst>
                                  <p:childTnLst>
                                    <p:animMotion origin="layout" path="M 0.07039 -0.00061 L 0.14615 -0.00061 " pathEditMode="relative" rAng="0" ptsTypes="AA">
                                      <p:cBhvr>
                                        <p:cTn id="10" dur="2000" fill="hold"/>
                                        <p:tgtEl>
                                          <p:spTgt spid="244"/>
                                        </p:tgtEl>
                                        <p:attrNameLst>
                                          <p:attrName>ppt_x</p:attrName>
                                          <p:attrName>ppt_y</p:attrName>
                                        </p:attrNameLst>
                                      </p:cBhvr>
                                      <p:rCtr x="3788" y="0"/>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1.46465E-6 -3.67626E-6 L 0.08886 0.00531 " pathEditMode="relative" rAng="0" ptsTypes="AA">
                                      <p:cBhvr>
                                        <p:cTn id="14" dur="2000" fill="hold"/>
                                        <p:tgtEl>
                                          <p:spTgt spid="242"/>
                                        </p:tgtEl>
                                        <p:attrNameLst>
                                          <p:attrName>ppt_x</p:attrName>
                                          <p:attrName>ppt_y</p:attrName>
                                        </p:attrNameLst>
                                      </p:cBhvr>
                                      <p:rCtr x="4435" y="265"/>
                                    </p:animMotion>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62"/>
                                        </p:tgtEl>
                                        <p:attrNameLst>
                                          <p:attrName>style.visibility</p:attrName>
                                        </p:attrNameLst>
                                      </p:cBhvr>
                                      <p:to>
                                        <p:strVal val="visible"/>
                                      </p:to>
                                    </p:set>
                                    <p:anim calcmode="lin" valueType="num">
                                      <p:cBhvr>
                                        <p:cTn id="19" dur="500" fill="hold"/>
                                        <p:tgtEl>
                                          <p:spTgt spid="262"/>
                                        </p:tgtEl>
                                        <p:attrNameLst>
                                          <p:attrName>ppt_w</p:attrName>
                                        </p:attrNameLst>
                                      </p:cBhvr>
                                      <p:tavLst>
                                        <p:tav tm="0">
                                          <p:val>
                                            <p:fltVal val="0"/>
                                          </p:val>
                                        </p:tav>
                                        <p:tav tm="100000">
                                          <p:val>
                                            <p:strVal val="#ppt_w"/>
                                          </p:val>
                                        </p:tav>
                                      </p:tavLst>
                                    </p:anim>
                                    <p:anim calcmode="lin" valueType="num">
                                      <p:cBhvr>
                                        <p:cTn id="20" dur="500" fill="hold"/>
                                        <p:tgtEl>
                                          <p:spTgt spid="262"/>
                                        </p:tgtEl>
                                        <p:attrNameLst>
                                          <p:attrName>ppt_h</p:attrName>
                                        </p:attrNameLst>
                                      </p:cBhvr>
                                      <p:tavLst>
                                        <p:tav tm="0">
                                          <p:val>
                                            <p:fltVal val="0"/>
                                          </p:val>
                                        </p:tav>
                                        <p:tav tm="100000">
                                          <p:val>
                                            <p:strVal val="#ppt_h"/>
                                          </p:val>
                                        </p:tav>
                                      </p:tavLst>
                                    </p:anim>
                                    <p:animEffect transition="in" filter="fade">
                                      <p:cBhvr>
                                        <p:cTn id="21" dur="500"/>
                                        <p:tgtEl>
                                          <p:spTgt spid="262"/>
                                        </p:tgtEl>
                                      </p:cBhvr>
                                    </p:animEffect>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0" nodeType="clickEffect">
                                  <p:stCondLst>
                                    <p:cond delay="0"/>
                                  </p:stCondLst>
                                  <p:childTnLst>
                                    <p:animMotion origin="layout" path="M 2.57576E-6 -3.58702E-6 L 0.07433 -0.00122 " pathEditMode="relative" rAng="0" ptsTypes="AA">
                                      <p:cBhvr>
                                        <p:cTn id="25" dur="2000" fill="hold"/>
                                        <p:tgtEl>
                                          <p:spTgt spid="253"/>
                                        </p:tgtEl>
                                        <p:attrNameLst>
                                          <p:attrName>ppt_x</p:attrName>
                                          <p:attrName>ppt_y</p:attrName>
                                        </p:attrNameLst>
                                      </p:cBhvr>
                                      <p:rCtr x="3709" y="-61"/>
                                    </p:animMotion>
                                  </p:childTnLst>
                                </p:cTn>
                              </p:par>
                            </p:childTnLst>
                          </p:cTn>
                        </p:par>
                      </p:childTnLst>
                    </p:cTn>
                  </p:par>
                  <p:par>
                    <p:cTn id="26" fill="hold">
                      <p:stCondLst>
                        <p:cond delay="indefinite"/>
                      </p:stCondLst>
                      <p:childTnLst>
                        <p:par>
                          <p:cTn id="27" fill="hold">
                            <p:stCondLst>
                              <p:cond delay="0"/>
                            </p:stCondLst>
                            <p:childTnLst>
                              <p:par>
                                <p:cTn id="28" presetID="63" presetClass="path" presetSubtype="0" accel="50000" decel="50000" fill="hold" grpId="0" nodeType="clickEffect">
                                  <p:stCondLst>
                                    <p:cond delay="0"/>
                                  </p:stCondLst>
                                  <p:childTnLst>
                                    <p:animMotion origin="layout" path="M 0.00205 -0.00531 L 0.25963 0.00755 " pathEditMode="relative" rAng="0" ptsTypes="AA">
                                      <p:cBhvr>
                                        <p:cTn id="29" dur="2000" fill="hold"/>
                                        <p:tgtEl>
                                          <p:spTgt spid="263"/>
                                        </p:tgtEl>
                                        <p:attrNameLst>
                                          <p:attrName>ppt_x</p:attrName>
                                          <p:attrName>ppt_y</p:attrName>
                                        </p:attrNameLst>
                                      </p:cBhvr>
                                      <p:rCtr x="12879" y="633"/>
                                    </p:animMotion>
                                  </p:childTnLst>
                                </p:cTn>
                              </p:par>
                            </p:childTnLst>
                          </p:cTn>
                        </p:par>
                      </p:childTnLst>
                    </p:cTn>
                  </p:par>
                  <p:par>
                    <p:cTn id="30" fill="hold">
                      <p:stCondLst>
                        <p:cond delay="indefinite"/>
                      </p:stCondLst>
                      <p:childTnLst>
                        <p:par>
                          <p:cTn id="31" fill="hold">
                            <p:stCondLst>
                              <p:cond delay="0"/>
                            </p:stCondLst>
                            <p:childTnLst>
                              <p:par>
                                <p:cTn id="32" presetID="63" presetClass="path" presetSubtype="0" accel="50000" decel="50000" fill="hold" grpId="0" nodeType="clickEffect">
                                  <p:stCondLst>
                                    <p:cond delay="0"/>
                                  </p:stCondLst>
                                  <p:childTnLst>
                                    <p:animMotion origin="layout" path="M 9.59596E-7 -3.34422E-6 L 0.06897 0.01673 " pathEditMode="relative" rAng="0" ptsTypes="AA">
                                      <p:cBhvr>
                                        <p:cTn id="33" dur="2000" fill="hold"/>
                                        <p:tgtEl>
                                          <p:spTgt spid="249"/>
                                        </p:tgtEl>
                                        <p:attrNameLst>
                                          <p:attrName>ppt_x</p:attrName>
                                          <p:attrName>ppt_y</p:attrName>
                                        </p:attrNameLst>
                                      </p:cBhvr>
                                      <p:rCtr x="3441" y="837"/>
                                    </p:animMotion>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264"/>
                                        </p:tgtEl>
                                        <p:attrNameLst>
                                          <p:attrName>style.visibility</p:attrName>
                                        </p:attrNameLst>
                                      </p:cBhvr>
                                      <p:to>
                                        <p:strVal val="visible"/>
                                      </p:to>
                                    </p:set>
                                    <p:anim calcmode="lin" valueType="num">
                                      <p:cBhvr>
                                        <p:cTn id="38" dur="500" fill="hold"/>
                                        <p:tgtEl>
                                          <p:spTgt spid="264"/>
                                        </p:tgtEl>
                                        <p:attrNameLst>
                                          <p:attrName>ppt_w</p:attrName>
                                        </p:attrNameLst>
                                      </p:cBhvr>
                                      <p:tavLst>
                                        <p:tav tm="0">
                                          <p:val>
                                            <p:fltVal val="0"/>
                                          </p:val>
                                        </p:tav>
                                        <p:tav tm="100000">
                                          <p:val>
                                            <p:strVal val="#ppt_w"/>
                                          </p:val>
                                        </p:tav>
                                      </p:tavLst>
                                    </p:anim>
                                    <p:anim calcmode="lin" valueType="num">
                                      <p:cBhvr>
                                        <p:cTn id="39" dur="500" fill="hold"/>
                                        <p:tgtEl>
                                          <p:spTgt spid="264"/>
                                        </p:tgtEl>
                                        <p:attrNameLst>
                                          <p:attrName>ppt_h</p:attrName>
                                        </p:attrNameLst>
                                      </p:cBhvr>
                                      <p:tavLst>
                                        <p:tav tm="0">
                                          <p:val>
                                            <p:fltVal val="0"/>
                                          </p:val>
                                        </p:tav>
                                        <p:tav tm="100000">
                                          <p:val>
                                            <p:strVal val="#ppt_h"/>
                                          </p:val>
                                        </p:tav>
                                      </p:tavLst>
                                    </p:anim>
                                    <p:animEffect transition="in" filter="fade">
                                      <p:cBhvr>
                                        <p:cTn id="40" dur="500"/>
                                        <p:tgtEl>
                                          <p:spTgt spid="264"/>
                                        </p:tgtEl>
                                      </p:cBhvr>
                                    </p:animEffect>
                                  </p:childTnLst>
                                </p:cTn>
                              </p:par>
                            </p:childTnLst>
                          </p:cTn>
                        </p:par>
                      </p:childTnLst>
                    </p:cTn>
                  </p:par>
                  <p:par>
                    <p:cTn id="41" fill="hold">
                      <p:stCondLst>
                        <p:cond delay="indefinite"/>
                      </p:stCondLst>
                      <p:childTnLst>
                        <p:par>
                          <p:cTn id="42" fill="hold">
                            <p:stCondLst>
                              <p:cond delay="0"/>
                            </p:stCondLst>
                            <p:childTnLst>
                              <p:par>
                                <p:cTn id="43" presetID="63" presetClass="path" presetSubtype="0" accel="50000" decel="50000" fill="hold" grpId="0" nodeType="clickEffect">
                                  <p:stCondLst>
                                    <p:cond delay="0"/>
                                  </p:stCondLst>
                                  <p:childTnLst>
                                    <p:animMotion origin="layout" path="M 3.88889E-6 -3.29321E-6 L 0.07307 0.00592 " pathEditMode="relative" rAng="0" ptsTypes="AA">
                                      <p:cBhvr>
                                        <p:cTn id="44" dur="2000" fill="hold"/>
                                        <p:tgtEl>
                                          <p:spTgt spid="246"/>
                                        </p:tgtEl>
                                        <p:attrNameLst>
                                          <p:attrName>ppt_x</p:attrName>
                                          <p:attrName>ppt_y</p:attrName>
                                        </p:attrNameLst>
                                      </p:cBhvr>
                                      <p:rCtr x="3646" y="286"/>
                                    </p:animMotion>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grpId="0" nodeType="clickEffect">
                                  <p:stCondLst>
                                    <p:cond delay="0"/>
                                  </p:stCondLst>
                                  <p:childTnLst>
                                    <p:animMotion origin="layout" path="M 0.02194 -0.00286 L 0.21607 -0.0004 " pathEditMode="relative" rAng="0" ptsTypes="AA">
                                      <p:cBhvr>
                                        <p:cTn id="48" dur="2000" fill="hold"/>
                                        <p:tgtEl>
                                          <p:spTgt spid="265"/>
                                        </p:tgtEl>
                                        <p:attrNameLst>
                                          <p:attrName>ppt_x</p:attrName>
                                          <p:attrName>ppt_y</p:attrName>
                                        </p:attrNameLst>
                                      </p:cBhvr>
                                      <p:rCtr x="9706" y="123"/>
                                    </p:animMotion>
                                  </p:childTnLst>
                                </p:cTn>
                              </p:par>
                            </p:childTnLst>
                          </p:cTn>
                        </p:par>
                      </p:childTnLst>
                    </p:cTn>
                  </p:par>
                  <p:par>
                    <p:cTn id="49" fill="hold">
                      <p:stCondLst>
                        <p:cond delay="indefinite"/>
                      </p:stCondLst>
                      <p:childTnLst>
                        <p:par>
                          <p:cTn id="50" fill="hold">
                            <p:stCondLst>
                              <p:cond delay="0"/>
                            </p:stCondLst>
                            <p:childTnLst>
                              <p:par>
                                <p:cTn id="51" presetID="63" presetClass="path" presetSubtype="0" accel="50000" decel="50000" fill="hold" grpId="0" nodeType="clickEffect">
                                  <p:stCondLst>
                                    <p:cond delay="0"/>
                                  </p:stCondLst>
                                  <p:childTnLst>
                                    <p:animMotion origin="layout" path="M 6.56566E-7 -3.34422E-6 L 0.11253 0.01673 " pathEditMode="relative" rAng="0" ptsTypes="AA">
                                      <p:cBhvr>
                                        <p:cTn id="52" dur="2000" fill="hold"/>
                                        <p:tgtEl>
                                          <p:spTgt spid="254"/>
                                        </p:tgtEl>
                                        <p:attrNameLst>
                                          <p:attrName>ppt_x</p:attrName>
                                          <p:attrName>ppt_y</p:attrName>
                                        </p:attrNameLst>
                                      </p:cBhvr>
                                      <p:rCtr x="5619" y="837"/>
                                    </p:animMotion>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266"/>
                                        </p:tgtEl>
                                        <p:attrNameLst>
                                          <p:attrName>style.visibility</p:attrName>
                                        </p:attrNameLst>
                                      </p:cBhvr>
                                      <p:to>
                                        <p:strVal val="visible"/>
                                      </p:to>
                                    </p:set>
                                    <p:anim calcmode="lin" valueType="num">
                                      <p:cBhvr>
                                        <p:cTn id="57" dur="500" fill="hold"/>
                                        <p:tgtEl>
                                          <p:spTgt spid="266"/>
                                        </p:tgtEl>
                                        <p:attrNameLst>
                                          <p:attrName>ppt_w</p:attrName>
                                        </p:attrNameLst>
                                      </p:cBhvr>
                                      <p:tavLst>
                                        <p:tav tm="0">
                                          <p:val>
                                            <p:fltVal val="0"/>
                                          </p:val>
                                        </p:tav>
                                        <p:tav tm="100000">
                                          <p:val>
                                            <p:strVal val="#ppt_w"/>
                                          </p:val>
                                        </p:tav>
                                      </p:tavLst>
                                    </p:anim>
                                    <p:anim calcmode="lin" valueType="num">
                                      <p:cBhvr>
                                        <p:cTn id="58" dur="500" fill="hold"/>
                                        <p:tgtEl>
                                          <p:spTgt spid="266"/>
                                        </p:tgtEl>
                                        <p:attrNameLst>
                                          <p:attrName>ppt_h</p:attrName>
                                        </p:attrNameLst>
                                      </p:cBhvr>
                                      <p:tavLst>
                                        <p:tav tm="0">
                                          <p:val>
                                            <p:fltVal val="0"/>
                                          </p:val>
                                        </p:tav>
                                        <p:tav tm="100000">
                                          <p:val>
                                            <p:strVal val="#ppt_h"/>
                                          </p:val>
                                        </p:tav>
                                      </p:tavLst>
                                    </p:anim>
                                    <p:animEffect transition="in" filter="fade">
                                      <p:cBhvr>
                                        <p:cTn id="59" dur="500"/>
                                        <p:tgtEl>
                                          <p:spTgt spid="266"/>
                                        </p:tgtEl>
                                      </p:cBhvr>
                                    </p:animEffect>
                                  </p:childTnLst>
                                </p:cTn>
                              </p:par>
                            </p:childTnLst>
                          </p:cTn>
                        </p:par>
                      </p:childTnLst>
                    </p:cTn>
                  </p:par>
                  <p:par>
                    <p:cTn id="60" fill="hold">
                      <p:stCondLst>
                        <p:cond delay="indefinite"/>
                      </p:stCondLst>
                      <p:childTnLst>
                        <p:par>
                          <p:cTn id="61" fill="hold">
                            <p:stCondLst>
                              <p:cond delay="0"/>
                            </p:stCondLst>
                            <p:childTnLst>
                              <p:par>
                                <p:cTn id="62" presetID="63" presetClass="path" presetSubtype="0" accel="50000" decel="50000" fill="hold" grpId="0" nodeType="clickEffect">
                                  <p:stCondLst>
                                    <p:cond delay="0"/>
                                  </p:stCondLst>
                                  <p:childTnLst>
                                    <p:animMotion origin="layout" path="M -3.83838E-6 -4.69904E-6 L 0.06787 0.0049 " pathEditMode="relative" rAng="0" ptsTypes="AA">
                                      <p:cBhvr>
                                        <p:cTn id="63" dur="2000" fill="hold"/>
                                        <p:tgtEl>
                                          <p:spTgt spid="248"/>
                                        </p:tgtEl>
                                        <p:attrNameLst>
                                          <p:attrName>ppt_x</p:attrName>
                                          <p:attrName>ppt_y</p:attrName>
                                        </p:attrNameLst>
                                      </p:cBhvr>
                                      <p:rCtr x="3393" y="245"/>
                                    </p:animMotion>
                                  </p:childTnLst>
                                </p:cTn>
                              </p:par>
                            </p:childTnLst>
                          </p:cTn>
                        </p:par>
                      </p:childTnLst>
                    </p:cTn>
                  </p:par>
                  <p:par>
                    <p:cTn id="64" fill="hold">
                      <p:stCondLst>
                        <p:cond delay="indefinite"/>
                      </p:stCondLst>
                      <p:childTnLst>
                        <p:par>
                          <p:cTn id="65" fill="hold">
                            <p:stCondLst>
                              <p:cond delay="0"/>
                            </p:stCondLst>
                            <p:childTnLst>
                              <p:par>
                                <p:cTn id="66" presetID="63" presetClass="path" presetSubtype="0" accel="50000" decel="50000" fill="hold" grpId="2" nodeType="clickEffect">
                                  <p:stCondLst>
                                    <p:cond delay="0"/>
                                  </p:stCondLst>
                                  <p:childTnLst>
                                    <p:animMotion origin="layout" path="M 0.14615 -0.00061 L 0.21433 0.03857 " pathEditMode="relative" rAng="0" ptsTypes="AA">
                                      <p:cBhvr>
                                        <p:cTn id="67" dur="2000" fill="hold"/>
                                        <p:tgtEl>
                                          <p:spTgt spid="244"/>
                                        </p:tgtEl>
                                        <p:attrNameLst>
                                          <p:attrName>ppt_x</p:attrName>
                                          <p:attrName>ppt_y</p:attrName>
                                        </p:attrNameLst>
                                      </p:cBhvr>
                                      <p:rCtr x="3409" y="1959"/>
                                    </p:animMotion>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67"/>
                                        </p:tgtEl>
                                        <p:attrNameLst>
                                          <p:attrName>style.visibility</p:attrName>
                                        </p:attrNameLst>
                                      </p:cBhvr>
                                      <p:to>
                                        <p:strVal val="visible"/>
                                      </p:to>
                                    </p:set>
                                    <p:anim calcmode="lin" valueType="num">
                                      <p:cBhvr>
                                        <p:cTn id="72" dur="500" fill="hold"/>
                                        <p:tgtEl>
                                          <p:spTgt spid="267"/>
                                        </p:tgtEl>
                                        <p:attrNameLst>
                                          <p:attrName>ppt_w</p:attrName>
                                        </p:attrNameLst>
                                      </p:cBhvr>
                                      <p:tavLst>
                                        <p:tav tm="0">
                                          <p:val>
                                            <p:fltVal val="0"/>
                                          </p:val>
                                        </p:tav>
                                        <p:tav tm="100000">
                                          <p:val>
                                            <p:strVal val="#ppt_w"/>
                                          </p:val>
                                        </p:tav>
                                      </p:tavLst>
                                    </p:anim>
                                    <p:anim calcmode="lin" valueType="num">
                                      <p:cBhvr>
                                        <p:cTn id="73" dur="500" fill="hold"/>
                                        <p:tgtEl>
                                          <p:spTgt spid="267"/>
                                        </p:tgtEl>
                                        <p:attrNameLst>
                                          <p:attrName>ppt_h</p:attrName>
                                        </p:attrNameLst>
                                      </p:cBhvr>
                                      <p:tavLst>
                                        <p:tav tm="0">
                                          <p:val>
                                            <p:fltVal val="0"/>
                                          </p:val>
                                        </p:tav>
                                        <p:tav tm="100000">
                                          <p:val>
                                            <p:strVal val="#ppt_h"/>
                                          </p:val>
                                        </p:tav>
                                      </p:tavLst>
                                    </p:anim>
                                    <p:animEffect transition="in" filter="fade">
                                      <p:cBhvr>
                                        <p:cTn id="74" dur="500"/>
                                        <p:tgtEl>
                                          <p:spTgt spid="267"/>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68"/>
                                        </p:tgtEl>
                                        <p:attrNameLst>
                                          <p:attrName>style.visibility</p:attrName>
                                        </p:attrNameLst>
                                      </p:cBhvr>
                                      <p:to>
                                        <p:strVal val="visible"/>
                                      </p:to>
                                    </p:set>
                                    <p:anim calcmode="lin" valueType="num">
                                      <p:cBhvr>
                                        <p:cTn id="77" dur="500" fill="hold"/>
                                        <p:tgtEl>
                                          <p:spTgt spid="268"/>
                                        </p:tgtEl>
                                        <p:attrNameLst>
                                          <p:attrName>ppt_w</p:attrName>
                                        </p:attrNameLst>
                                      </p:cBhvr>
                                      <p:tavLst>
                                        <p:tav tm="0">
                                          <p:val>
                                            <p:fltVal val="0"/>
                                          </p:val>
                                        </p:tav>
                                        <p:tav tm="100000">
                                          <p:val>
                                            <p:strVal val="#ppt_w"/>
                                          </p:val>
                                        </p:tav>
                                      </p:tavLst>
                                    </p:anim>
                                    <p:anim calcmode="lin" valueType="num">
                                      <p:cBhvr>
                                        <p:cTn id="78" dur="500" fill="hold"/>
                                        <p:tgtEl>
                                          <p:spTgt spid="268"/>
                                        </p:tgtEl>
                                        <p:attrNameLst>
                                          <p:attrName>ppt_h</p:attrName>
                                        </p:attrNameLst>
                                      </p:cBhvr>
                                      <p:tavLst>
                                        <p:tav tm="0">
                                          <p:val>
                                            <p:fltVal val="0"/>
                                          </p:val>
                                        </p:tav>
                                        <p:tav tm="100000">
                                          <p:val>
                                            <p:strVal val="#ppt_h"/>
                                          </p:val>
                                        </p:tav>
                                      </p:tavLst>
                                    </p:anim>
                                    <p:animEffect transition="in" filter="fade">
                                      <p:cBhvr>
                                        <p:cTn id="79" dur="500"/>
                                        <p:tgtEl>
                                          <p:spTgt spid="268"/>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269"/>
                                        </p:tgtEl>
                                        <p:attrNameLst>
                                          <p:attrName>style.visibility</p:attrName>
                                        </p:attrNameLst>
                                      </p:cBhvr>
                                      <p:to>
                                        <p:strVal val="visible"/>
                                      </p:to>
                                    </p:set>
                                    <p:anim calcmode="lin" valueType="num">
                                      <p:cBhvr>
                                        <p:cTn id="84" dur="500" fill="hold"/>
                                        <p:tgtEl>
                                          <p:spTgt spid="269"/>
                                        </p:tgtEl>
                                        <p:attrNameLst>
                                          <p:attrName>ppt_w</p:attrName>
                                        </p:attrNameLst>
                                      </p:cBhvr>
                                      <p:tavLst>
                                        <p:tav tm="0">
                                          <p:val>
                                            <p:fltVal val="0"/>
                                          </p:val>
                                        </p:tav>
                                        <p:tav tm="100000">
                                          <p:val>
                                            <p:strVal val="#ppt_w"/>
                                          </p:val>
                                        </p:tav>
                                      </p:tavLst>
                                    </p:anim>
                                    <p:anim calcmode="lin" valueType="num">
                                      <p:cBhvr>
                                        <p:cTn id="85" dur="500" fill="hold"/>
                                        <p:tgtEl>
                                          <p:spTgt spid="269"/>
                                        </p:tgtEl>
                                        <p:attrNameLst>
                                          <p:attrName>ppt_h</p:attrName>
                                        </p:attrNameLst>
                                      </p:cBhvr>
                                      <p:tavLst>
                                        <p:tav tm="0">
                                          <p:val>
                                            <p:fltVal val="0"/>
                                          </p:val>
                                        </p:tav>
                                        <p:tav tm="100000">
                                          <p:val>
                                            <p:strVal val="#ppt_h"/>
                                          </p:val>
                                        </p:tav>
                                      </p:tavLst>
                                    </p:anim>
                                    <p:animEffect transition="in" filter="fade">
                                      <p:cBhvr>
                                        <p:cTn id="86" dur="500"/>
                                        <p:tgtEl>
                                          <p:spTgt spid="269"/>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70"/>
                                        </p:tgtEl>
                                        <p:attrNameLst>
                                          <p:attrName>style.visibility</p:attrName>
                                        </p:attrNameLst>
                                      </p:cBhvr>
                                      <p:to>
                                        <p:strVal val="visible"/>
                                      </p:to>
                                    </p:set>
                                    <p:anim calcmode="lin" valueType="num">
                                      <p:cBhvr>
                                        <p:cTn id="89" dur="500" fill="hold"/>
                                        <p:tgtEl>
                                          <p:spTgt spid="270"/>
                                        </p:tgtEl>
                                        <p:attrNameLst>
                                          <p:attrName>ppt_w</p:attrName>
                                        </p:attrNameLst>
                                      </p:cBhvr>
                                      <p:tavLst>
                                        <p:tav tm="0">
                                          <p:val>
                                            <p:fltVal val="0"/>
                                          </p:val>
                                        </p:tav>
                                        <p:tav tm="100000">
                                          <p:val>
                                            <p:strVal val="#ppt_w"/>
                                          </p:val>
                                        </p:tav>
                                      </p:tavLst>
                                    </p:anim>
                                    <p:anim calcmode="lin" valueType="num">
                                      <p:cBhvr>
                                        <p:cTn id="90" dur="500" fill="hold"/>
                                        <p:tgtEl>
                                          <p:spTgt spid="270"/>
                                        </p:tgtEl>
                                        <p:attrNameLst>
                                          <p:attrName>ppt_h</p:attrName>
                                        </p:attrNameLst>
                                      </p:cBhvr>
                                      <p:tavLst>
                                        <p:tav tm="0">
                                          <p:val>
                                            <p:fltVal val="0"/>
                                          </p:val>
                                        </p:tav>
                                        <p:tav tm="100000">
                                          <p:val>
                                            <p:strVal val="#ppt_h"/>
                                          </p:val>
                                        </p:tav>
                                      </p:tavLst>
                                    </p:anim>
                                    <p:animEffect transition="in" filter="fade">
                                      <p:cBhvr>
                                        <p:cTn id="91" dur="500"/>
                                        <p:tgtEl>
                                          <p:spTgt spid="270"/>
                                        </p:tgtEl>
                                      </p:cBhvr>
                                    </p:animEffect>
                                  </p:childTnLst>
                                </p:cTn>
                              </p:par>
                            </p:childTnLst>
                          </p:cTn>
                        </p:par>
                      </p:childTnLst>
                    </p:cTn>
                  </p:par>
                  <p:par>
                    <p:cTn id="92" fill="hold">
                      <p:stCondLst>
                        <p:cond delay="indefinite"/>
                      </p:stCondLst>
                      <p:childTnLst>
                        <p:par>
                          <p:cTn id="93" fill="hold">
                            <p:stCondLst>
                              <p:cond delay="0"/>
                            </p:stCondLst>
                            <p:childTnLst>
                              <p:par>
                                <p:cTn id="94" presetID="63" presetClass="path" presetSubtype="0" accel="50000" decel="50000" fill="hold" grpId="1" nodeType="clickEffect">
                                  <p:stCondLst>
                                    <p:cond delay="0"/>
                                  </p:stCondLst>
                                  <p:childTnLst>
                                    <p:animMotion origin="layout" path="M 0.07433 -0.00122 L 0.14252 0.05754 " pathEditMode="relative" rAng="0" ptsTypes="AA">
                                      <p:cBhvr>
                                        <p:cTn id="95" dur="2000" fill="hold"/>
                                        <p:tgtEl>
                                          <p:spTgt spid="253"/>
                                        </p:tgtEl>
                                        <p:attrNameLst>
                                          <p:attrName>ppt_x</p:attrName>
                                          <p:attrName>ppt_y</p:attrName>
                                        </p:attrNameLst>
                                      </p:cBhvr>
                                      <p:rCtr x="3409" y="2938"/>
                                    </p:animMotion>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271"/>
                                        </p:tgtEl>
                                        <p:attrNameLst>
                                          <p:attrName>style.visibility</p:attrName>
                                        </p:attrNameLst>
                                      </p:cBhvr>
                                      <p:to>
                                        <p:strVal val="visible"/>
                                      </p:to>
                                    </p:set>
                                    <p:anim calcmode="lin" valueType="num">
                                      <p:cBhvr>
                                        <p:cTn id="100" dur="500" fill="hold"/>
                                        <p:tgtEl>
                                          <p:spTgt spid="271"/>
                                        </p:tgtEl>
                                        <p:attrNameLst>
                                          <p:attrName>ppt_w</p:attrName>
                                        </p:attrNameLst>
                                      </p:cBhvr>
                                      <p:tavLst>
                                        <p:tav tm="0">
                                          <p:val>
                                            <p:fltVal val="0"/>
                                          </p:val>
                                        </p:tav>
                                        <p:tav tm="100000">
                                          <p:val>
                                            <p:strVal val="#ppt_w"/>
                                          </p:val>
                                        </p:tav>
                                      </p:tavLst>
                                    </p:anim>
                                    <p:anim calcmode="lin" valueType="num">
                                      <p:cBhvr>
                                        <p:cTn id="101" dur="500" fill="hold"/>
                                        <p:tgtEl>
                                          <p:spTgt spid="271"/>
                                        </p:tgtEl>
                                        <p:attrNameLst>
                                          <p:attrName>ppt_h</p:attrName>
                                        </p:attrNameLst>
                                      </p:cBhvr>
                                      <p:tavLst>
                                        <p:tav tm="0">
                                          <p:val>
                                            <p:fltVal val="0"/>
                                          </p:val>
                                        </p:tav>
                                        <p:tav tm="100000">
                                          <p:val>
                                            <p:strVal val="#ppt_h"/>
                                          </p:val>
                                        </p:tav>
                                      </p:tavLst>
                                    </p:anim>
                                    <p:animEffect transition="in" filter="fade">
                                      <p:cBhvr>
                                        <p:cTn id="102" dur="500"/>
                                        <p:tgtEl>
                                          <p:spTgt spid="271"/>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72"/>
                                        </p:tgtEl>
                                        <p:attrNameLst>
                                          <p:attrName>style.visibility</p:attrName>
                                        </p:attrNameLst>
                                      </p:cBhvr>
                                      <p:to>
                                        <p:strVal val="visible"/>
                                      </p:to>
                                    </p:set>
                                    <p:anim calcmode="lin" valueType="num">
                                      <p:cBhvr>
                                        <p:cTn id="105" dur="500" fill="hold"/>
                                        <p:tgtEl>
                                          <p:spTgt spid="272"/>
                                        </p:tgtEl>
                                        <p:attrNameLst>
                                          <p:attrName>ppt_w</p:attrName>
                                        </p:attrNameLst>
                                      </p:cBhvr>
                                      <p:tavLst>
                                        <p:tav tm="0">
                                          <p:val>
                                            <p:fltVal val="0"/>
                                          </p:val>
                                        </p:tav>
                                        <p:tav tm="100000">
                                          <p:val>
                                            <p:strVal val="#ppt_w"/>
                                          </p:val>
                                        </p:tav>
                                      </p:tavLst>
                                    </p:anim>
                                    <p:anim calcmode="lin" valueType="num">
                                      <p:cBhvr>
                                        <p:cTn id="106" dur="500" fill="hold"/>
                                        <p:tgtEl>
                                          <p:spTgt spid="272"/>
                                        </p:tgtEl>
                                        <p:attrNameLst>
                                          <p:attrName>ppt_h</p:attrName>
                                        </p:attrNameLst>
                                      </p:cBhvr>
                                      <p:tavLst>
                                        <p:tav tm="0">
                                          <p:val>
                                            <p:fltVal val="0"/>
                                          </p:val>
                                        </p:tav>
                                        <p:tav tm="100000">
                                          <p:val>
                                            <p:strVal val="#ppt_h"/>
                                          </p:val>
                                        </p:tav>
                                      </p:tavLst>
                                    </p:anim>
                                    <p:animEffect transition="in" filter="fade">
                                      <p:cBhvr>
                                        <p:cTn id="107" dur="500"/>
                                        <p:tgtEl>
                                          <p:spTgt spid="272"/>
                                        </p:tgtEl>
                                      </p:cBhvr>
                                    </p:animEffect>
                                  </p:childTnLst>
                                </p:cTn>
                              </p:par>
                            </p:childTnLst>
                          </p:cTn>
                        </p:par>
                      </p:childTnLst>
                    </p:cTn>
                  </p:par>
                  <p:par>
                    <p:cTn id="108" fill="hold">
                      <p:stCondLst>
                        <p:cond delay="indefinite"/>
                      </p:stCondLst>
                      <p:childTnLst>
                        <p:par>
                          <p:cTn id="109" fill="hold">
                            <p:stCondLst>
                              <p:cond delay="0"/>
                            </p:stCondLst>
                            <p:childTnLst>
                              <p:par>
                                <p:cTn id="110" presetID="63" presetClass="path" presetSubtype="0" accel="50000" decel="50000" fill="hold" grpId="1" nodeType="clickEffect">
                                  <p:stCondLst>
                                    <p:cond delay="0"/>
                                  </p:stCondLst>
                                  <p:childTnLst>
                                    <p:animMotion origin="layout" path="M 0.08886 0.00531 L 0.15704 -0.01428 " pathEditMode="relative" rAng="0" ptsTypes="AA">
                                      <p:cBhvr>
                                        <p:cTn id="111" dur="2000" fill="hold"/>
                                        <p:tgtEl>
                                          <p:spTgt spid="242"/>
                                        </p:tgtEl>
                                        <p:attrNameLst>
                                          <p:attrName>ppt_x</p:attrName>
                                          <p:attrName>ppt_y</p:attrName>
                                        </p:attrNameLst>
                                      </p:cBhvr>
                                      <p:rCtr x="3409" y="-979"/>
                                    </p:animMotion>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grpId="0" nodeType="clickEffect">
                                  <p:stCondLst>
                                    <p:cond delay="0"/>
                                  </p:stCondLst>
                                  <p:childTnLst>
                                    <p:set>
                                      <p:cBhvr>
                                        <p:cTn id="115" dur="1" fill="hold">
                                          <p:stCondLst>
                                            <p:cond delay="0"/>
                                          </p:stCondLst>
                                        </p:cTn>
                                        <p:tgtEl>
                                          <p:spTgt spid="274"/>
                                        </p:tgtEl>
                                        <p:attrNameLst>
                                          <p:attrName>style.visibility</p:attrName>
                                        </p:attrNameLst>
                                      </p:cBhvr>
                                      <p:to>
                                        <p:strVal val="visible"/>
                                      </p:to>
                                    </p:set>
                                    <p:anim calcmode="lin" valueType="num">
                                      <p:cBhvr>
                                        <p:cTn id="116" dur="500" fill="hold"/>
                                        <p:tgtEl>
                                          <p:spTgt spid="274"/>
                                        </p:tgtEl>
                                        <p:attrNameLst>
                                          <p:attrName>ppt_w</p:attrName>
                                        </p:attrNameLst>
                                      </p:cBhvr>
                                      <p:tavLst>
                                        <p:tav tm="0">
                                          <p:val>
                                            <p:fltVal val="0"/>
                                          </p:val>
                                        </p:tav>
                                        <p:tav tm="100000">
                                          <p:val>
                                            <p:strVal val="#ppt_w"/>
                                          </p:val>
                                        </p:tav>
                                      </p:tavLst>
                                    </p:anim>
                                    <p:anim calcmode="lin" valueType="num">
                                      <p:cBhvr>
                                        <p:cTn id="117" dur="500" fill="hold"/>
                                        <p:tgtEl>
                                          <p:spTgt spid="274"/>
                                        </p:tgtEl>
                                        <p:attrNameLst>
                                          <p:attrName>ppt_h</p:attrName>
                                        </p:attrNameLst>
                                      </p:cBhvr>
                                      <p:tavLst>
                                        <p:tav tm="0">
                                          <p:val>
                                            <p:fltVal val="0"/>
                                          </p:val>
                                        </p:tav>
                                        <p:tav tm="100000">
                                          <p:val>
                                            <p:strVal val="#ppt_h"/>
                                          </p:val>
                                        </p:tav>
                                      </p:tavLst>
                                    </p:anim>
                                    <p:animEffect transition="in" filter="fade">
                                      <p:cBhvr>
                                        <p:cTn id="118" dur="500"/>
                                        <p:tgtEl>
                                          <p:spTgt spid="274"/>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273"/>
                                        </p:tgtEl>
                                        <p:attrNameLst>
                                          <p:attrName>style.visibility</p:attrName>
                                        </p:attrNameLst>
                                      </p:cBhvr>
                                      <p:to>
                                        <p:strVal val="visible"/>
                                      </p:to>
                                    </p:set>
                                    <p:anim calcmode="lin" valueType="num">
                                      <p:cBhvr>
                                        <p:cTn id="121" dur="500" fill="hold"/>
                                        <p:tgtEl>
                                          <p:spTgt spid="273"/>
                                        </p:tgtEl>
                                        <p:attrNameLst>
                                          <p:attrName>ppt_w</p:attrName>
                                        </p:attrNameLst>
                                      </p:cBhvr>
                                      <p:tavLst>
                                        <p:tav tm="0">
                                          <p:val>
                                            <p:fltVal val="0"/>
                                          </p:val>
                                        </p:tav>
                                        <p:tav tm="100000">
                                          <p:val>
                                            <p:strVal val="#ppt_w"/>
                                          </p:val>
                                        </p:tav>
                                      </p:tavLst>
                                    </p:anim>
                                    <p:anim calcmode="lin" valueType="num">
                                      <p:cBhvr>
                                        <p:cTn id="122" dur="500" fill="hold"/>
                                        <p:tgtEl>
                                          <p:spTgt spid="273"/>
                                        </p:tgtEl>
                                        <p:attrNameLst>
                                          <p:attrName>ppt_h</p:attrName>
                                        </p:attrNameLst>
                                      </p:cBhvr>
                                      <p:tavLst>
                                        <p:tav tm="0">
                                          <p:val>
                                            <p:fltVal val="0"/>
                                          </p:val>
                                        </p:tav>
                                        <p:tav tm="100000">
                                          <p:val>
                                            <p:strVal val="#ppt_h"/>
                                          </p:val>
                                        </p:tav>
                                      </p:tavLst>
                                    </p:anim>
                                    <p:animEffect transition="in" filter="fade">
                                      <p:cBhvr>
                                        <p:cTn id="123" dur="500"/>
                                        <p:tgtEl>
                                          <p:spTgt spid="273"/>
                                        </p:tgtEl>
                                      </p:cBhvr>
                                    </p:animEffect>
                                  </p:childTnLst>
                                </p:cTn>
                              </p:par>
                            </p:childTnLst>
                          </p:cTn>
                        </p:par>
                      </p:childTnLst>
                    </p:cTn>
                  </p:par>
                  <p:par>
                    <p:cTn id="124" fill="hold">
                      <p:stCondLst>
                        <p:cond delay="indefinite"/>
                      </p:stCondLst>
                      <p:childTnLst>
                        <p:par>
                          <p:cTn id="125" fill="hold">
                            <p:stCondLst>
                              <p:cond delay="0"/>
                            </p:stCondLst>
                            <p:childTnLst>
                              <p:par>
                                <p:cTn id="126" presetID="63" presetClass="path" presetSubtype="0" accel="50000" decel="50000" fill="hold" grpId="0" nodeType="clickEffect">
                                  <p:stCondLst>
                                    <p:cond delay="0"/>
                                  </p:stCondLst>
                                  <p:childTnLst>
                                    <p:animMotion origin="layout" path="M -4.79798E-6 -3.79514E-7 L 0.25837 -0.03224 " pathEditMode="relative" rAng="0" ptsTypes="AA">
                                      <p:cBhvr>
                                        <p:cTn id="127" dur="2000" fill="hold"/>
                                        <p:tgtEl>
                                          <p:spTgt spid="275"/>
                                        </p:tgtEl>
                                        <p:attrNameLst>
                                          <p:attrName>ppt_x</p:attrName>
                                          <p:attrName>ppt_y</p:attrName>
                                        </p:attrNameLst>
                                      </p:cBhvr>
                                      <p:rCtr x="12910" y="-1612"/>
                                    </p:animMotion>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grpId="0" nodeType="clickEffect">
                                  <p:stCondLst>
                                    <p:cond delay="0"/>
                                  </p:stCondLst>
                                  <p:childTnLst>
                                    <p:set>
                                      <p:cBhvr>
                                        <p:cTn id="131" dur="1" fill="hold">
                                          <p:stCondLst>
                                            <p:cond delay="0"/>
                                          </p:stCondLst>
                                        </p:cTn>
                                        <p:tgtEl>
                                          <p:spTgt spid="276"/>
                                        </p:tgtEl>
                                        <p:attrNameLst>
                                          <p:attrName>style.visibility</p:attrName>
                                        </p:attrNameLst>
                                      </p:cBhvr>
                                      <p:to>
                                        <p:strVal val="visible"/>
                                      </p:to>
                                    </p:set>
                                    <p:anim calcmode="lin" valueType="num">
                                      <p:cBhvr>
                                        <p:cTn id="132" dur="500" fill="hold"/>
                                        <p:tgtEl>
                                          <p:spTgt spid="276"/>
                                        </p:tgtEl>
                                        <p:attrNameLst>
                                          <p:attrName>ppt_w</p:attrName>
                                        </p:attrNameLst>
                                      </p:cBhvr>
                                      <p:tavLst>
                                        <p:tav tm="0">
                                          <p:val>
                                            <p:fltVal val="0"/>
                                          </p:val>
                                        </p:tav>
                                        <p:tav tm="100000">
                                          <p:val>
                                            <p:strVal val="#ppt_w"/>
                                          </p:val>
                                        </p:tav>
                                      </p:tavLst>
                                    </p:anim>
                                    <p:anim calcmode="lin" valueType="num">
                                      <p:cBhvr>
                                        <p:cTn id="133" dur="500" fill="hold"/>
                                        <p:tgtEl>
                                          <p:spTgt spid="276"/>
                                        </p:tgtEl>
                                        <p:attrNameLst>
                                          <p:attrName>ppt_h</p:attrName>
                                        </p:attrNameLst>
                                      </p:cBhvr>
                                      <p:tavLst>
                                        <p:tav tm="0">
                                          <p:val>
                                            <p:fltVal val="0"/>
                                          </p:val>
                                        </p:tav>
                                        <p:tav tm="100000">
                                          <p:val>
                                            <p:strVal val="#ppt_h"/>
                                          </p:val>
                                        </p:tav>
                                      </p:tavLst>
                                    </p:anim>
                                    <p:animEffect transition="in" filter="fade">
                                      <p:cBhvr>
                                        <p:cTn id="134" dur="500"/>
                                        <p:tgtEl>
                                          <p:spTgt spid="276"/>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277"/>
                                        </p:tgtEl>
                                        <p:attrNameLst>
                                          <p:attrName>style.visibility</p:attrName>
                                        </p:attrNameLst>
                                      </p:cBhvr>
                                      <p:to>
                                        <p:strVal val="visible"/>
                                      </p:to>
                                    </p:set>
                                    <p:anim calcmode="lin" valueType="num">
                                      <p:cBhvr>
                                        <p:cTn id="137" dur="500" fill="hold"/>
                                        <p:tgtEl>
                                          <p:spTgt spid="277"/>
                                        </p:tgtEl>
                                        <p:attrNameLst>
                                          <p:attrName>ppt_w</p:attrName>
                                        </p:attrNameLst>
                                      </p:cBhvr>
                                      <p:tavLst>
                                        <p:tav tm="0">
                                          <p:val>
                                            <p:fltVal val="0"/>
                                          </p:val>
                                        </p:tav>
                                        <p:tav tm="100000">
                                          <p:val>
                                            <p:strVal val="#ppt_w"/>
                                          </p:val>
                                        </p:tav>
                                      </p:tavLst>
                                    </p:anim>
                                    <p:anim calcmode="lin" valueType="num">
                                      <p:cBhvr>
                                        <p:cTn id="138" dur="500" fill="hold"/>
                                        <p:tgtEl>
                                          <p:spTgt spid="277"/>
                                        </p:tgtEl>
                                        <p:attrNameLst>
                                          <p:attrName>ppt_h</p:attrName>
                                        </p:attrNameLst>
                                      </p:cBhvr>
                                      <p:tavLst>
                                        <p:tav tm="0">
                                          <p:val>
                                            <p:fltVal val="0"/>
                                          </p:val>
                                        </p:tav>
                                        <p:tav tm="100000">
                                          <p:val>
                                            <p:strVal val="#ppt_h"/>
                                          </p:val>
                                        </p:tav>
                                      </p:tavLst>
                                    </p:anim>
                                    <p:animEffect transition="in" filter="fade">
                                      <p:cBhvr>
                                        <p:cTn id="139" dur="5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animBg="1"/>
      <p:bldP spid="242" grpId="1" animBg="1"/>
      <p:bldP spid="244" grpId="0" animBg="1"/>
      <p:bldP spid="244" grpId="1" animBg="1"/>
      <p:bldP spid="244" grpId="2" animBg="1"/>
      <p:bldP spid="246" grpId="0" animBg="1"/>
      <p:bldP spid="248" grpId="0" animBg="1"/>
      <p:bldP spid="249" grpId="0" animBg="1"/>
      <p:bldP spid="253" grpId="0" animBg="1"/>
      <p:bldP spid="253" grpId="1" animBg="1"/>
      <p:bldP spid="254"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animBg="1"/>
      <p:bldP spid="272" grpId="0" animBg="1"/>
      <p:bldP spid="273" grpId="0" animBg="1"/>
      <p:bldP spid="274" grpId="0" animBg="1"/>
      <p:bldP spid="275" grpId="0" animBg="1"/>
      <p:bldP spid="276" grpId="0" animBg="1"/>
      <p:bldP spid="27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19103" y="370183"/>
            <a:ext cx="9181783" cy="591530"/>
          </a:xfrm>
          <a:noFill/>
          <a:ln w="9525">
            <a:noFill/>
            <a:miter lim="800000"/>
            <a:headEnd/>
            <a:tailEnd/>
          </a:ln>
          <a:effectLst/>
        </p:spPr>
        <p:txBody>
          <a:bodyPr vert="horz" wrap="square" lIns="0" tIns="0" rIns="0" bIns="0" numCol="1" anchor="b" anchorCtr="0" compatLnSpc="1">
            <a:prstTxWarp prst="textNoShape">
              <a:avLst/>
            </a:prstTxWarp>
            <a:spAutoFit/>
          </a:bodyPr>
          <a:lstStyle/>
          <a:p>
            <a:pPr marL="381970" indent="-381970">
              <a:lnSpc>
                <a:spcPct val="106000"/>
              </a:lnSpc>
              <a:buFont typeface="+mj-lt"/>
              <a:buAutoNum type="arabicPeriod" startAt="4"/>
              <a:defRPr/>
            </a:pPr>
            <a:r>
              <a:rPr lang="en-US" sz="1800" dirty="0">
                <a:solidFill>
                  <a:srgbClr val="000000"/>
                </a:solidFill>
                <a:latin typeface="Arial" charset="0"/>
                <a:ea typeface="+mn-ea"/>
                <a:cs typeface="Arial" charset="0"/>
              </a:rPr>
              <a:t>Limit Consumption of Demand According to the Capacity of Workers to Satisfy That Demand </a:t>
            </a:r>
            <a:endParaRPr lang="en-CA" altLang="zh-CN" sz="1800" dirty="0">
              <a:solidFill>
                <a:srgbClr val="000000"/>
              </a:solidFill>
              <a:latin typeface="Arial" charset="0"/>
              <a:ea typeface="+mn-ea"/>
              <a:cs typeface="Arial" charset="0"/>
            </a:endParaRPr>
          </a:p>
        </p:txBody>
      </p:sp>
      <p:sp>
        <p:nvSpPr>
          <p:cNvPr id="41" name="Rectangle 40"/>
          <p:cNvSpPr/>
          <p:nvPr/>
        </p:nvSpPr>
        <p:spPr>
          <a:xfrm>
            <a:off x="438312" y="4832358"/>
            <a:ext cx="3839529" cy="1629438"/>
          </a:xfrm>
          <a:prstGeom prst="rect">
            <a:avLst/>
          </a:prstGeom>
        </p:spPr>
        <p:txBody>
          <a:bodyPr wrap="square" lIns="101858" tIns="50929" rIns="101858" bIns="50929">
            <a:spAutoFit/>
          </a:bodyPr>
          <a:lstStyle/>
          <a:p>
            <a:pPr defTabSz="1018705" fontAlgn="base">
              <a:spcBef>
                <a:spcPct val="40000"/>
              </a:spcBef>
              <a:defRPr/>
            </a:pPr>
            <a:r>
              <a:rPr lang="en-US" sz="1600" dirty="0">
                <a:solidFill>
                  <a:srgbClr val="000000"/>
                </a:solidFill>
                <a:cs typeface="Arial" charset="0"/>
              </a:rPr>
              <a:t>Knowledge work involves learning</a:t>
            </a:r>
          </a:p>
          <a:p>
            <a:pPr marL="318309" indent="-318309" defTabSz="1018705" fontAlgn="base">
              <a:spcBef>
                <a:spcPct val="40000"/>
              </a:spcBef>
              <a:buFont typeface="Arial" pitchFamily="34" charset="0"/>
              <a:buChar char="•"/>
              <a:defRPr/>
            </a:pPr>
            <a:r>
              <a:rPr lang="en-US" sz="1600" dirty="0">
                <a:solidFill>
                  <a:srgbClr val="000000"/>
                </a:solidFill>
                <a:cs typeface="Arial" charset="0"/>
              </a:rPr>
              <a:t>Slow down, adjust direction, and speed up</a:t>
            </a:r>
          </a:p>
          <a:p>
            <a:pPr marL="318309" indent="-318309" defTabSz="1018705" fontAlgn="base">
              <a:spcBef>
                <a:spcPct val="40000"/>
              </a:spcBef>
              <a:buFont typeface="Arial" pitchFamily="34" charset="0"/>
              <a:buChar char="•"/>
              <a:defRPr/>
            </a:pPr>
            <a:r>
              <a:rPr lang="en-US" sz="1600" dirty="0">
                <a:solidFill>
                  <a:srgbClr val="000000"/>
                </a:solidFill>
                <a:cs typeface="Arial" charset="0"/>
              </a:rPr>
              <a:t>Adapt to new context frequently</a:t>
            </a:r>
          </a:p>
          <a:p>
            <a:pPr marL="318309" indent="-318309" defTabSz="1018705" fontAlgn="base">
              <a:spcBef>
                <a:spcPct val="40000"/>
              </a:spcBef>
              <a:buFont typeface="Arial" pitchFamily="34" charset="0"/>
              <a:buChar char="•"/>
              <a:defRPr/>
            </a:pPr>
            <a:endParaRPr lang="en-US" sz="1600" dirty="0">
              <a:solidFill>
                <a:srgbClr val="000000"/>
              </a:solidFill>
              <a:cs typeface="Arial" charset="0"/>
            </a:endParaRPr>
          </a:p>
        </p:txBody>
      </p:sp>
      <p:sp>
        <p:nvSpPr>
          <p:cNvPr id="45" name="Rectangle 44"/>
          <p:cNvSpPr/>
          <p:nvPr/>
        </p:nvSpPr>
        <p:spPr>
          <a:xfrm>
            <a:off x="605278" y="971465"/>
            <a:ext cx="3672561" cy="2521476"/>
          </a:xfrm>
          <a:prstGeom prst="rect">
            <a:avLst/>
          </a:prstGeom>
        </p:spPr>
        <p:txBody>
          <a:bodyPr wrap="square" lIns="101858" tIns="50929" rIns="101858" bIns="50929">
            <a:spAutoFit/>
          </a:bodyPr>
          <a:lstStyle/>
          <a:p>
            <a:pPr defTabSz="1018705" fontAlgn="base">
              <a:spcBef>
                <a:spcPct val="40000"/>
              </a:spcBef>
              <a:defRPr/>
            </a:pPr>
            <a:r>
              <a:rPr lang="en-US" sz="1600" dirty="0">
                <a:solidFill>
                  <a:srgbClr val="000000"/>
                </a:solidFill>
                <a:cs typeface="Arial" charset="0"/>
              </a:rPr>
              <a:t>Knowledge work perishes fast</a:t>
            </a:r>
          </a:p>
          <a:p>
            <a:pPr marL="318309" indent="-318309" defTabSz="1018705" fontAlgn="base">
              <a:spcBef>
                <a:spcPts val="669"/>
              </a:spcBef>
              <a:buFont typeface="Arial" pitchFamily="34" charset="0"/>
              <a:buChar char="•"/>
              <a:defRPr/>
            </a:pPr>
            <a:r>
              <a:rPr lang="en-US" sz="1600" dirty="0">
                <a:solidFill>
                  <a:srgbClr val="000000"/>
                </a:solidFill>
                <a:cs typeface="Arial" charset="0"/>
              </a:rPr>
              <a:t>old work is harder to process</a:t>
            </a:r>
          </a:p>
          <a:p>
            <a:pPr marL="318309" indent="-318309" defTabSz="1018705" fontAlgn="base">
              <a:spcBef>
                <a:spcPts val="669"/>
              </a:spcBef>
              <a:buFont typeface="Arial" pitchFamily="34" charset="0"/>
              <a:buChar char="•"/>
              <a:defRPr/>
            </a:pPr>
            <a:r>
              <a:rPr lang="en-US" sz="1600" dirty="0">
                <a:solidFill>
                  <a:srgbClr val="000000"/>
                </a:solidFill>
                <a:cs typeface="Arial" charset="0"/>
              </a:rPr>
              <a:t>loses value quickly</a:t>
            </a:r>
          </a:p>
          <a:p>
            <a:pPr marL="318309" indent="-318309" defTabSz="1018705" fontAlgn="base">
              <a:spcBef>
                <a:spcPts val="669"/>
              </a:spcBef>
              <a:buFont typeface="Arial" pitchFamily="34" charset="0"/>
              <a:buChar char="•"/>
              <a:defRPr/>
            </a:pPr>
            <a:r>
              <a:rPr lang="en-US" sz="1600" dirty="0">
                <a:solidFill>
                  <a:srgbClr val="000000"/>
                </a:solidFill>
                <a:cs typeface="Arial" charset="0"/>
              </a:rPr>
              <a:t>Increases management overhead</a:t>
            </a:r>
          </a:p>
          <a:p>
            <a:pPr marL="318309" indent="-318309" defTabSz="1018705" fontAlgn="base">
              <a:spcBef>
                <a:spcPts val="669"/>
              </a:spcBef>
              <a:buFont typeface="Arial" pitchFamily="34" charset="0"/>
              <a:buChar char="•"/>
              <a:defRPr/>
            </a:pPr>
            <a:r>
              <a:rPr lang="en-US" sz="1600" dirty="0">
                <a:solidFill>
                  <a:srgbClr val="000000"/>
                </a:solidFill>
                <a:cs typeface="Arial" charset="0"/>
              </a:rPr>
              <a:t>Causes multitasking</a:t>
            </a:r>
          </a:p>
          <a:p>
            <a:pPr defTabSz="1018705" fontAlgn="base">
              <a:spcBef>
                <a:spcPts val="669"/>
              </a:spcBef>
              <a:defRPr/>
            </a:pPr>
            <a:r>
              <a:rPr lang="en-US" sz="1600" i="1" dirty="0">
                <a:solidFill>
                  <a:srgbClr val="000000"/>
                </a:solidFill>
                <a:cs typeface="Arial" charset="0"/>
              </a:rPr>
              <a:t>Process work in small increments, limited to what can be completed in the short-term</a:t>
            </a:r>
          </a:p>
        </p:txBody>
      </p:sp>
      <p:pic>
        <p:nvPicPr>
          <p:cNvPr id="9" name="Picture 3" descr="http://1.bp.blogspot.com/-NQRHFPJv_Qs/TtbxeVqoN_I/AAAAAAAAAZY/i_ly2SFusnU/s320/IMAGE_8F36704A-BCB5-4C06-B9C7-0FAE8A446C91.JPG">
            <a:hlinkClick r:id="rId3"/>
          </p:cNvPr>
          <p:cNvPicPr>
            <a:picLocks noChangeAspect="1" noChangeArrowheads="1"/>
          </p:cNvPicPr>
          <p:nvPr/>
        </p:nvPicPr>
        <p:blipFill>
          <a:blip r:embed="rId4" cstate="print"/>
          <a:srcRect/>
          <a:stretch>
            <a:fillRect/>
          </a:stretch>
        </p:blipFill>
        <p:spPr bwMode="auto">
          <a:xfrm>
            <a:off x="5020775" y="1563813"/>
            <a:ext cx="4266134" cy="1607073"/>
          </a:xfrm>
          <a:prstGeom prst="rect">
            <a:avLst/>
          </a:prstGeom>
          <a:noFill/>
          <a:ln>
            <a:solidFill>
              <a:schemeClr val="tx2"/>
            </a:solidFill>
          </a:ln>
        </p:spPr>
      </p:pic>
      <p:sp>
        <p:nvSpPr>
          <p:cNvPr id="10" name="Title 1"/>
          <p:cNvSpPr txBox="1">
            <a:spLocks/>
          </p:cNvSpPr>
          <p:nvPr/>
        </p:nvSpPr>
        <p:spPr bwMode="auto">
          <a:xfrm>
            <a:off x="424055" y="4155548"/>
            <a:ext cx="9181783" cy="332755"/>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marL="381970" indent="-381970" defTabSz="1018705" fontAlgn="base">
              <a:lnSpc>
                <a:spcPct val="106000"/>
              </a:lnSpc>
              <a:spcBef>
                <a:spcPct val="0"/>
              </a:spcBef>
              <a:spcAft>
                <a:spcPct val="0"/>
              </a:spcAft>
              <a:buFont typeface="+mj-lt"/>
              <a:buAutoNum type="arabicPeriod" startAt="5"/>
              <a:defRPr/>
            </a:pPr>
            <a:r>
              <a:rPr lang="en-US" b="1" kern="0" dirty="0">
                <a:solidFill>
                  <a:srgbClr val="000000"/>
                </a:solidFill>
                <a:cs typeface="Arial" charset="0"/>
              </a:rPr>
              <a:t>Invest Time and Capital To Improve the Way Work Is Completed</a:t>
            </a:r>
            <a:endParaRPr lang="en-CA" altLang="zh-CN" b="1" kern="0" dirty="0">
              <a:solidFill>
                <a:srgbClr val="000000"/>
              </a:solidFill>
              <a:cs typeface="Arial" charset="0"/>
            </a:endParaRPr>
          </a:p>
        </p:txBody>
      </p:sp>
      <p:pic>
        <p:nvPicPr>
          <p:cNvPr id="11" name="Picture 3" descr="http://1.bp.blogspot.com/-YvrfO0Et6Hw/TtbxfN5AyLI/AAAAAAAAAZg/8N0ECNdTfu8/s640/IMAGE_7489D6CA-BCD1-4450-AD19-6D596BEF9647.JPG">
            <a:hlinkClick r:id="rId5"/>
          </p:cNvPr>
          <p:cNvPicPr>
            <a:picLocks noChangeAspect="1" noChangeArrowheads="1"/>
          </p:cNvPicPr>
          <p:nvPr/>
        </p:nvPicPr>
        <p:blipFill>
          <a:blip r:embed="rId6" cstate="print"/>
          <a:srcRect l="3507" t="8162" r="7063" b="18381"/>
          <a:stretch>
            <a:fillRect/>
          </a:stretch>
        </p:blipFill>
        <p:spPr bwMode="auto">
          <a:xfrm>
            <a:off x="5029200" y="4660329"/>
            <a:ext cx="4257710" cy="1548258"/>
          </a:xfrm>
          <a:prstGeom prst="rect">
            <a:avLst/>
          </a:prstGeom>
          <a:noFill/>
          <a:ln>
            <a:solidFill>
              <a:schemeClr val="tx2"/>
            </a:solidFill>
          </a:ln>
        </p:spPr>
      </p:pic>
    </p:spTree>
    <p:extLst>
      <p:ext uri="{BB962C8B-B14F-4D97-AF65-F5344CB8AC3E}">
        <p14:creationId xmlns:p14="http://schemas.microsoft.com/office/powerpoint/2010/main" val="40409324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19103" y="374501"/>
            <a:ext cx="9181783" cy="587212"/>
          </a:xfrm>
          <a:noFill/>
          <a:ln>
            <a:noFill/>
          </a:ln>
        </p:spPr>
        <p:txBody>
          <a:bodyPr lIns="0" tIns="0" rIns="0" bIns="0" anchor="b">
            <a:spAutoFit/>
          </a:bodyPr>
          <a:lstStyle/>
          <a:p>
            <a:pPr>
              <a:lnSpc>
                <a:spcPct val="106000"/>
              </a:lnSpc>
              <a:defRPr/>
            </a:pPr>
            <a:r>
              <a:rPr lang="en-US" sz="1800" dirty="0">
                <a:solidFill>
                  <a:srgbClr val="000000"/>
                </a:solidFill>
                <a:latin typeface="Arial" charset="0"/>
                <a:ea typeface="+mn-ea"/>
                <a:cs typeface="Arial" charset="0"/>
              </a:rPr>
              <a:t>To get started on building more agility into a software development process, start by answering the following questions</a:t>
            </a:r>
            <a:endParaRPr lang="en-US" sz="1800" dirty="0">
              <a:solidFill>
                <a:srgbClr val="FF0000"/>
              </a:solidFill>
              <a:latin typeface="Arial" charset="0"/>
              <a:ea typeface="+mn-ea"/>
              <a:cs typeface="Arial" charset="0"/>
            </a:endParaRPr>
          </a:p>
        </p:txBody>
      </p:sp>
      <p:sp>
        <p:nvSpPr>
          <p:cNvPr id="3" name="Content Placeholder 2"/>
          <p:cNvSpPr>
            <a:spLocks noGrp="1"/>
          </p:cNvSpPr>
          <p:nvPr>
            <p:ph idx="1"/>
          </p:nvPr>
        </p:nvSpPr>
        <p:spPr/>
        <p:txBody>
          <a:bodyPr/>
          <a:lstStyle/>
          <a:p>
            <a:pPr>
              <a:buFont typeface="Wingdings" pitchFamily="2" charset="2"/>
              <a:buChar char="§"/>
            </a:pPr>
            <a:r>
              <a:rPr lang="en-US" sz="1800" b="1" kern="1200" dirty="0">
                <a:solidFill>
                  <a:srgbClr val="000000"/>
                </a:solidFill>
                <a:latin typeface="Arial" charset="0"/>
                <a:cs typeface="Arial" charset="0"/>
              </a:rPr>
              <a:t>What are the units of work you want to track? </a:t>
            </a:r>
            <a:endParaRPr lang="en-US" sz="1800" b="1" kern="1200" dirty="0" smtClean="0">
              <a:solidFill>
                <a:srgbClr val="000000"/>
              </a:solidFill>
              <a:latin typeface="Arial" charset="0"/>
              <a:cs typeface="Arial" charset="0"/>
            </a:endParaRPr>
          </a:p>
          <a:p>
            <a:pPr lvl="2"/>
            <a:r>
              <a:rPr lang="en-US" kern="1200" dirty="0" smtClean="0">
                <a:solidFill>
                  <a:srgbClr val="000000"/>
                </a:solidFill>
                <a:latin typeface="Arial" charset="0"/>
                <a:cs typeface="Arial" charset="0"/>
              </a:rPr>
              <a:t>Use </a:t>
            </a:r>
            <a:r>
              <a:rPr lang="en-US" kern="1200" dirty="0">
                <a:solidFill>
                  <a:srgbClr val="000000"/>
                </a:solidFill>
                <a:latin typeface="Arial" charset="0"/>
                <a:cs typeface="Arial" charset="0"/>
              </a:rPr>
              <a:t>cases, user stories, </a:t>
            </a:r>
            <a:r>
              <a:rPr lang="en-US" kern="1200" dirty="0" smtClean="0">
                <a:solidFill>
                  <a:srgbClr val="000000"/>
                </a:solidFill>
                <a:latin typeface="Arial" charset="0"/>
                <a:cs typeface="Arial" charset="0"/>
              </a:rPr>
              <a:t>features, defects</a:t>
            </a:r>
            <a:r>
              <a:rPr lang="en-US" kern="1200" dirty="0">
                <a:solidFill>
                  <a:srgbClr val="000000"/>
                </a:solidFill>
                <a:latin typeface="Arial" charset="0"/>
                <a:cs typeface="Arial" charset="0"/>
              </a:rPr>
              <a:t>, work </a:t>
            </a:r>
            <a:r>
              <a:rPr lang="en-US" kern="1200" dirty="0" smtClean="0">
                <a:solidFill>
                  <a:srgbClr val="000000"/>
                </a:solidFill>
                <a:latin typeface="Arial" charset="0"/>
                <a:cs typeface="Arial" charset="0"/>
              </a:rPr>
              <a:t>packages</a:t>
            </a:r>
            <a:endParaRPr lang="en-US" kern="1200" dirty="0">
              <a:solidFill>
                <a:srgbClr val="000000"/>
              </a:solidFill>
              <a:latin typeface="Arial" charset="0"/>
              <a:cs typeface="Arial" charset="0"/>
            </a:endParaRPr>
          </a:p>
          <a:p>
            <a:pPr>
              <a:buFont typeface="Wingdings" pitchFamily="2" charset="2"/>
              <a:buChar char="§"/>
            </a:pPr>
            <a:r>
              <a:rPr lang="en-US" sz="1800" b="1" kern="1200" dirty="0">
                <a:solidFill>
                  <a:srgbClr val="000000"/>
                </a:solidFill>
                <a:latin typeface="Arial" charset="0"/>
                <a:cs typeface="Arial" charset="0"/>
              </a:rPr>
              <a:t>Choose where the process will leverage stage </a:t>
            </a:r>
            <a:r>
              <a:rPr lang="en-US" sz="1800" b="1" kern="1200" dirty="0" smtClean="0">
                <a:solidFill>
                  <a:srgbClr val="000000"/>
                </a:solidFill>
                <a:latin typeface="Arial" charset="0"/>
                <a:cs typeface="Arial" charset="0"/>
              </a:rPr>
              <a:t>gates and cadence</a:t>
            </a:r>
          </a:p>
          <a:p>
            <a:pPr lvl="2"/>
            <a:r>
              <a:rPr lang="en-US" kern="1200" dirty="0" smtClean="0">
                <a:solidFill>
                  <a:srgbClr val="000000"/>
                </a:solidFill>
                <a:latin typeface="Arial" charset="0"/>
                <a:cs typeface="Arial" charset="0"/>
              </a:rPr>
              <a:t>Time </a:t>
            </a:r>
            <a:r>
              <a:rPr lang="en-US" kern="1200" dirty="0">
                <a:solidFill>
                  <a:srgbClr val="000000"/>
                </a:solidFill>
                <a:latin typeface="Arial" charset="0"/>
                <a:cs typeface="Arial" charset="0"/>
              </a:rPr>
              <a:t>boxing, or single piece flow (core development</a:t>
            </a:r>
            <a:r>
              <a:rPr lang="en-US" kern="1200" dirty="0" smtClean="0">
                <a:solidFill>
                  <a:srgbClr val="000000"/>
                </a:solidFill>
                <a:latin typeface="Arial" charset="0"/>
                <a:cs typeface="Arial" charset="0"/>
              </a:rPr>
              <a:t>, entire </a:t>
            </a:r>
            <a:r>
              <a:rPr lang="en-US" kern="1200" dirty="0">
                <a:solidFill>
                  <a:srgbClr val="000000"/>
                </a:solidFill>
                <a:latin typeface="Arial" charset="0"/>
                <a:cs typeface="Arial" charset="0"/>
              </a:rPr>
              <a:t>SDLC, governance and prioritization, etc.)</a:t>
            </a:r>
          </a:p>
          <a:p>
            <a:pPr>
              <a:buFont typeface="Wingdings" pitchFamily="2" charset="2"/>
              <a:buChar char="§"/>
            </a:pPr>
            <a:r>
              <a:rPr lang="en-US" sz="1800" b="1" kern="1200" dirty="0">
                <a:solidFill>
                  <a:srgbClr val="000000"/>
                </a:solidFill>
                <a:latin typeface="Arial" charset="0"/>
                <a:cs typeface="Arial" charset="0"/>
              </a:rPr>
              <a:t>How do we want to visualize our work? </a:t>
            </a:r>
            <a:endParaRPr lang="en-US" sz="1800" b="1" kern="1200" dirty="0" smtClean="0">
              <a:solidFill>
                <a:srgbClr val="000000"/>
              </a:solidFill>
              <a:latin typeface="Arial" charset="0"/>
              <a:cs typeface="Arial" charset="0"/>
            </a:endParaRPr>
          </a:p>
          <a:p>
            <a:pPr lvl="2"/>
            <a:r>
              <a:rPr lang="en-US" kern="1200" dirty="0">
                <a:solidFill>
                  <a:srgbClr val="000000"/>
                </a:solidFill>
                <a:latin typeface="Arial" charset="0"/>
                <a:cs typeface="Arial" charset="0"/>
              </a:rPr>
              <a:t>P</a:t>
            </a:r>
            <a:r>
              <a:rPr lang="en-US" kern="1200" dirty="0" smtClean="0">
                <a:solidFill>
                  <a:srgbClr val="000000"/>
                </a:solidFill>
                <a:latin typeface="Arial" charset="0"/>
                <a:cs typeface="Arial" charset="0"/>
              </a:rPr>
              <a:t>hysical </a:t>
            </a:r>
            <a:r>
              <a:rPr lang="en-US" kern="1200" dirty="0">
                <a:solidFill>
                  <a:srgbClr val="000000"/>
                </a:solidFill>
                <a:latin typeface="Arial" charset="0"/>
                <a:cs typeface="Arial" charset="0"/>
              </a:rPr>
              <a:t>card wall, spreadsheets, web-based electronic </a:t>
            </a:r>
            <a:r>
              <a:rPr lang="en-US" kern="1200" dirty="0" smtClean="0">
                <a:solidFill>
                  <a:srgbClr val="000000"/>
                </a:solidFill>
                <a:latin typeface="Arial" charset="0"/>
                <a:cs typeface="Arial" charset="0"/>
              </a:rPr>
              <a:t>tools</a:t>
            </a:r>
            <a:endParaRPr lang="en-US" kern="1200" dirty="0">
              <a:solidFill>
                <a:srgbClr val="000000"/>
              </a:solidFill>
              <a:latin typeface="Arial" charset="0"/>
              <a:cs typeface="Arial" charset="0"/>
            </a:endParaRPr>
          </a:p>
          <a:p>
            <a:pPr>
              <a:buFont typeface="Wingdings" pitchFamily="2" charset="2"/>
              <a:buChar char="§"/>
            </a:pPr>
            <a:r>
              <a:rPr lang="en-US" b="1" kern="1200" dirty="0">
                <a:solidFill>
                  <a:srgbClr val="000000"/>
                </a:solidFill>
                <a:latin typeface="Arial" charset="0"/>
                <a:cs typeface="Arial" charset="0"/>
              </a:rPr>
              <a:t>W</a:t>
            </a:r>
            <a:r>
              <a:rPr lang="en-US" sz="1800" b="1" kern="1200" dirty="0" smtClean="0">
                <a:solidFill>
                  <a:srgbClr val="000000"/>
                </a:solidFill>
                <a:latin typeface="Arial" charset="0"/>
                <a:cs typeface="Arial" charset="0"/>
              </a:rPr>
              <a:t>hat </a:t>
            </a:r>
            <a:r>
              <a:rPr lang="en-US" sz="1800" b="1" kern="1200" dirty="0">
                <a:solidFill>
                  <a:srgbClr val="000000"/>
                </a:solidFill>
                <a:latin typeface="Arial" charset="0"/>
                <a:cs typeface="Arial" charset="0"/>
              </a:rPr>
              <a:t>is our strategy to engage in continuous improvement? How will we identify and resolve problems that are affecting quality and delivery speed? </a:t>
            </a:r>
            <a:endParaRPr lang="en-US" sz="1800" b="1" kern="1200" dirty="0" smtClean="0">
              <a:solidFill>
                <a:srgbClr val="000000"/>
              </a:solidFill>
              <a:latin typeface="Arial" charset="0"/>
              <a:cs typeface="Arial" charset="0"/>
            </a:endParaRPr>
          </a:p>
          <a:p>
            <a:pPr lvl="2"/>
            <a:r>
              <a:rPr lang="en-US" kern="1200" dirty="0" smtClean="0">
                <a:solidFill>
                  <a:srgbClr val="000000"/>
                </a:solidFill>
                <a:latin typeface="Arial" charset="0"/>
                <a:cs typeface="Arial" charset="0"/>
              </a:rPr>
              <a:t>Retrospectives</a:t>
            </a:r>
            <a:r>
              <a:rPr lang="en-US" kern="1200" dirty="0">
                <a:solidFill>
                  <a:srgbClr val="000000"/>
                </a:solidFill>
                <a:latin typeface="Arial" charset="0"/>
                <a:cs typeface="Arial" charset="0"/>
              </a:rPr>
              <a:t>, operational reviews, 5 </a:t>
            </a:r>
            <a:r>
              <a:rPr lang="en-US" kern="1200" dirty="0" smtClean="0">
                <a:solidFill>
                  <a:srgbClr val="000000"/>
                </a:solidFill>
                <a:latin typeface="Arial" charset="0"/>
                <a:cs typeface="Arial" charset="0"/>
              </a:rPr>
              <a:t>whys</a:t>
            </a:r>
            <a:r>
              <a:rPr lang="en-US" kern="1200" dirty="0">
                <a:solidFill>
                  <a:srgbClr val="000000"/>
                </a:solidFill>
                <a:latin typeface="Arial" charset="0"/>
                <a:cs typeface="Arial" charset="0"/>
              </a:rPr>
              <a:t>, value stream </a:t>
            </a:r>
            <a:r>
              <a:rPr lang="en-US" kern="1200" dirty="0" smtClean="0">
                <a:solidFill>
                  <a:srgbClr val="000000"/>
                </a:solidFill>
                <a:latin typeface="Arial" charset="0"/>
                <a:cs typeface="Arial" charset="0"/>
              </a:rPr>
              <a:t>mapping</a:t>
            </a:r>
            <a:endParaRPr lang="en-US" kern="1200" dirty="0">
              <a:solidFill>
                <a:srgbClr val="000000"/>
              </a:solidFill>
              <a:latin typeface="Arial" charset="0"/>
              <a:cs typeface="Arial" charset="0"/>
            </a:endParaRPr>
          </a:p>
          <a:p>
            <a:pPr marL="342900" indent="-342900">
              <a:buFont typeface="Wingdings" pitchFamily="2" charset="2"/>
              <a:buChar char="§"/>
            </a:pPr>
            <a:endParaRPr lang="en-US" sz="2000" dirty="0"/>
          </a:p>
          <a:p>
            <a:pPr>
              <a:buFont typeface="Wingdings" pitchFamily="2" charset="2"/>
              <a:buChar char="§"/>
            </a:pPr>
            <a:endParaRPr lang="en-US" sz="2000" dirty="0"/>
          </a:p>
          <a:p>
            <a:pPr>
              <a:buFont typeface="Wingdings" pitchFamily="2" charset="2"/>
              <a:buChar char="§"/>
              <a:defRPr/>
            </a:pPr>
            <a:endParaRPr lang="en-US" altLang="zh-CN" sz="2000" kern="1200" dirty="0">
              <a:solidFill>
                <a:srgbClr val="000000"/>
              </a:solidFill>
              <a:latin typeface="+mn-lt"/>
              <a:cs typeface="+mn-cs"/>
            </a:endParaRPr>
          </a:p>
        </p:txBody>
      </p:sp>
    </p:spTree>
    <p:extLst>
      <p:ext uri="{BB962C8B-B14F-4D97-AF65-F5344CB8AC3E}">
        <p14:creationId xmlns:p14="http://schemas.microsoft.com/office/powerpoint/2010/main" val="1630848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629" y="2454862"/>
            <a:ext cx="8964899" cy="1517338"/>
          </a:xfrm>
        </p:spPr>
        <p:txBody>
          <a:bodyPr/>
          <a:lstStyle/>
          <a:p>
            <a:r>
              <a:rPr lang="en-US" dirty="0"/>
              <a:t>Building Your Own Agile Method</a:t>
            </a:r>
          </a:p>
        </p:txBody>
      </p:sp>
    </p:spTree>
    <p:extLst>
      <p:ext uri="{BB962C8B-B14F-4D97-AF65-F5344CB8AC3E}">
        <p14:creationId xmlns:p14="http://schemas.microsoft.com/office/powerpoint/2010/main" val="7457762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2"/>
          <p:cNvSpPr>
            <a:spLocks noChangeArrowheads="1"/>
          </p:cNvSpPr>
          <p:nvPr/>
        </p:nvSpPr>
        <p:spPr bwMode="gray">
          <a:xfrm>
            <a:off x="441804" y="272641"/>
            <a:ext cx="9227185" cy="66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a:lnSpc>
                <a:spcPct val="106000"/>
              </a:lnSpc>
              <a:defRPr/>
            </a:pPr>
            <a:r>
              <a:rPr lang="en-US" b="1" kern="0" dirty="0">
                <a:solidFill>
                  <a:srgbClr val="000000"/>
                </a:solidFill>
              </a:rPr>
              <a:t>Agile means different things to different people, knowledge workers can draw upon a diverse repository of agile process frameworks</a:t>
            </a:r>
          </a:p>
        </p:txBody>
      </p:sp>
      <p:sp>
        <p:nvSpPr>
          <p:cNvPr id="109" name="Arc 108"/>
          <p:cNvSpPr/>
          <p:nvPr/>
        </p:nvSpPr>
        <p:spPr bwMode="auto">
          <a:xfrm rot="4923334" flipH="1">
            <a:off x="2081407" y="4713457"/>
            <a:ext cx="1314110" cy="884182"/>
          </a:xfrm>
          <a:prstGeom prst="arc">
            <a:avLst>
              <a:gd name="adj1" fmla="val 20402258"/>
              <a:gd name="adj2" fmla="val 1359055"/>
            </a:avLst>
          </a:prstGeom>
          <a:noFill/>
          <a:ln w="19050" cap="flat" cmpd="sng" algn="ctr">
            <a:solidFill>
              <a:schemeClr val="tx1"/>
            </a:solid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0" name="Arc 109"/>
          <p:cNvSpPr/>
          <p:nvPr/>
        </p:nvSpPr>
        <p:spPr bwMode="auto">
          <a:xfrm rot="4923334" flipH="1">
            <a:off x="1852806" y="3527272"/>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1" name="Arc 110"/>
          <p:cNvSpPr/>
          <p:nvPr/>
        </p:nvSpPr>
        <p:spPr bwMode="auto">
          <a:xfrm rot="4923334" flipH="1">
            <a:off x="1852806" y="199029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2" name="Arc 111"/>
          <p:cNvSpPr/>
          <p:nvPr/>
        </p:nvSpPr>
        <p:spPr bwMode="auto">
          <a:xfrm rot="16676666">
            <a:off x="6891484" y="507036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3" name="Arc 112"/>
          <p:cNvSpPr/>
          <p:nvPr/>
        </p:nvSpPr>
        <p:spPr bwMode="auto">
          <a:xfrm rot="16676666">
            <a:off x="6891484" y="2784361"/>
            <a:ext cx="1314110" cy="884182"/>
          </a:xfrm>
          <a:prstGeom prst="arc">
            <a:avLst>
              <a:gd name="adj1" fmla="val 16200000"/>
              <a:gd name="adj2" fmla="val 17378"/>
            </a:avLst>
          </a:prstGeom>
          <a:noFill/>
          <a:ln w="19050" cap="flat" cmpd="sng" algn="ctr">
            <a:solidFill>
              <a:schemeClr val="tx1"/>
            </a:solid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grpSp>
        <p:nvGrpSpPr>
          <p:cNvPr id="114" name="Group 113"/>
          <p:cNvGrpSpPr/>
          <p:nvPr/>
        </p:nvGrpSpPr>
        <p:grpSpPr>
          <a:xfrm>
            <a:off x="2611087" y="1896804"/>
            <a:ext cx="4829241" cy="3748346"/>
            <a:chOff x="2720340" y="1896804"/>
            <a:chExt cx="4829241" cy="3748346"/>
          </a:xfrm>
        </p:grpSpPr>
        <p:sp>
          <p:nvSpPr>
            <p:cNvPr id="115" name="Rounded Rectangle 114"/>
            <p:cNvSpPr/>
            <p:nvPr/>
          </p:nvSpPr>
          <p:spPr bwMode="auto">
            <a:xfrm>
              <a:off x="2720340" y="1906970"/>
              <a:ext cx="1143000" cy="685800"/>
            </a:xfrm>
            <a:prstGeom prst="roundRect">
              <a:avLst/>
            </a:prstGeom>
            <a:solidFill>
              <a:srgbClr val="009999"/>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6" name="Rounded Rectangle 115"/>
            <p:cNvSpPr/>
            <p:nvPr/>
          </p:nvSpPr>
          <p:spPr bwMode="auto">
            <a:xfrm>
              <a:off x="2720340" y="2670065"/>
              <a:ext cx="1143000" cy="685800"/>
            </a:xfrm>
            <a:prstGeom prst="roundRect">
              <a:avLst/>
            </a:prstGeom>
            <a:solidFill>
              <a:srgbClr val="80CCCC"/>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7" name="Rounded Rectangle 116"/>
            <p:cNvSpPr/>
            <p:nvPr/>
          </p:nvSpPr>
          <p:spPr bwMode="auto">
            <a:xfrm>
              <a:off x="3947160" y="1906970"/>
              <a:ext cx="1143000" cy="685800"/>
            </a:xfrm>
            <a:prstGeom prst="roundRect">
              <a:avLst/>
            </a:prstGeom>
            <a:solidFill>
              <a:srgbClr val="009999"/>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8" name="Rounded Rectangle 117"/>
            <p:cNvSpPr/>
            <p:nvPr/>
          </p:nvSpPr>
          <p:spPr bwMode="auto">
            <a:xfrm>
              <a:off x="3947160" y="2670065"/>
              <a:ext cx="1143000" cy="685800"/>
            </a:xfrm>
            <a:prstGeom prst="roundRect">
              <a:avLst/>
            </a:prstGeom>
            <a:solidFill>
              <a:srgbClr val="80CCCC"/>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19" name="Rounded Rectangle 118"/>
            <p:cNvSpPr/>
            <p:nvPr/>
          </p:nvSpPr>
          <p:spPr bwMode="auto">
            <a:xfrm>
              <a:off x="5173980" y="1906970"/>
              <a:ext cx="1143000" cy="685800"/>
            </a:xfrm>
            <a:prstGeom prst="roundRect">
              <a:avLst/>
            </a:prstGeom>
            <a:solidFill>
              <a:srgbClr val="009999"/>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0" name="Rounded Rectangle 119"/>
            <p:cNvSpPr/>
            <p:nvPr/>
          </p:nvSpPr>
          <p:spPr bwMode="auto">
            <a:xfrm>
              <a:off x="5173980" y="2670065"/>
              <a:ext cx="1143000" cy="685800"/>
            </a:xfrm>
            <a:prstGeom prst="roundRect">
              <a:avLst/>
            </a:prstGeom>
            <a:solidFill>
              <a:srgbClr val="80CCCC"/>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1" name="Rounded Rectangle 120"/>
            <p:cNvSpPr/>
            <p:nvPr/>
          </p:nvSpPr>
          <p:spPr bwMode="auto">
            <a:xfrm>
              <a:off x="6400800" y="1906970"/>
              <a:ext cx="1143000" cy="685800"/>
            </a:xfrm>
            <a:prstGeom prst="roundRect">
              <a:avLst/>
            </a:prstGeom>
            <a:solidFill>
              <a:srgbClr val="009999"/>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2" name="Rounded Rectangle 121"/>
            <p:cNvSpPr/>
            <p:nvPr/>
          </p:nvSpPr>
          <p:spPr bwMode="auto">
            <a:xfrm>
              <a:off x="6400800" y="2670065"/>
              <a:ext cx="1143000" cy="685800"/>
            </a:xfrm>
            <a:prstGeom prst="roundRect">
              <a:avLst/>
            </a:prstGeom>
            <a:solidFill>
              <a:srgbClr val="80CCCC"/>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3" name="Rounded Rectangle 122"/>
            <p:cNvSpPr/>
            <p:nvPr/>
          </p:nvSpPr>
          <p:spPr bwMode="auto">
            <a:xfrm>
              <a:off x="2722968" y="3433160"/>
              <a:ext cx="1554480" cy="685800"/>
            </a:xfrm>
            <a:prstGeom prst="roundRect">
              <a:avLst/>
            </a:prstGeom>
            <a:solidFill>
              <a:srgbClr val="4066B2"/>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4" name="Rounded Rectangle 123"/>
            <p:cNvSpPr/>
            <p:nvPr/>
          </p:nvSpPr>
          <p:spPr bwMode="auto">
            <a:xfrm>
              <a:off x="2722968" y="4196255"/>
              <a:ext cx="2367192" cy="685800"/>
            </a:xfrm>
            <a:prstGeom prst="roundRect">
              <a:avLst/>
            </a:prstGeom>
            <a:solidFill>
              <a:schemeClr val="bg1">
                <a:lumMod val="75000"/>
              </a:schemeClr>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5" name="Rounded Rectangle 124"/>
            <p:cNvSpPr/>
            <p:nvPr/>
          </p:nvSpPr>
          <p:spPr bwMode="auto">
            <a:xfrm>
              <a:off x="4359034" y="3433160"/>
              <a:ext cx="1554480" cy="685800"/>
            </a:xfrm>
            <a:prstGeom prst="roundRect">
              <a:avLst/>
            </a:prstGeom>
            <a:solidFill>
              <a:srgbClr val="4066B2"/>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6" name="Rounded Rectangle 125"/>
            <p:cNvSpPr/>
            <p:nvPr/>
          </p:nvSpPr>
          <p:spPr bwMode="auto">
            <a:xfrm>
              <a:off x="5995101" y="3433160"/>
              <a:ext cx="1554480" cy="685800"/>
            </a:xfrm>
            <a:prstGeom prst="roundRect">
              <a:avLst/>
            </a:prstGeom>
            <a:solidFill>
              <a:srgbClr val="4066B2"/>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7" name="Rounded Rectangle 126"/>
            <p:cNvSpPr/>
            <p:nvPr/>
          </p:nvSpPr>
          <p:spPr bwMode="auto">
            <a:xfrm>
              <a:off x="5182389" y="4196255"/>
              <a:ext cx="2367192" cy="685800"/>
            </a:xfrm>
            <a:prstGeom prst="roundRect">
              <a:avLst/>
            </a:prstGeom>
            <a:solidFill>
              <a:schemeClr val="bg1">
                <a:lumMod val="75000"/>
              </a:schemeClr>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8" name="Rounded Rectangle 127"/>
            <p:cNvSpPr/>
            <p:nvPr/>
          </p:nvSpPr>
          <p:spPr bwMode="auto">
            <a:xfrm>
              <a:off x="2720340" y="4959350"/>
              <a:ext cx="4823460" cy="685800"/>
            </a:xfrm>
            <a:prstGeom prst="roundRect">
              <a:avLst/>
            </a:prstGeom>
            <a:solidFill>
              <a:srgbClr val="8099CC"/>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marL="0" marR="0" indent="0" algn="ctr" defTabSz="914400" rtl="0" eaLnBrk="0" fontAlgn="base" latinLnBrk="0" hangingPunct="0">
                <a:lnSpc>
                  <a:spcPct val="106000"/>
                </a:lnSpc>
                <a:spcBef>
                  <a:spcPct val="5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endParaRPr>
            </a:p>
          </p:txBody>
        </p:sp>
        <p:sp>
          <p:nvSpPr>
            <p:cNvPr id="129" name="TextBox 128"/>
            <p:cNvSpPr txBox="1"/>
            <p:nvPr/>
          </p:nvSpPr>
          <p:spPr>
            <a:xfrm>
              <a:off x="2892531" y="2096858"/>
              <a:ext cx="798617" cy="292388"/>
            </a:xfrm>
            <a:prstGeom prst="rect">
              <a:avLst/>
            </a:prstGeom>
            <a:noFill/>
          </p:spPr>
          <p:txBody>
            <a:bodyPr wrap="none" rtlCol="0">
              <a:spAutoFit/>
            </a:bodyPr>
            <a:lstStyle/>
            <a:p>
              <a:pPr algn="ctr"/>
              <a:r>
                <a:rPr lang="en-US" sz="1300" b="1" dirty="0">
                  <a:solidFill>
                    <a:schemeClr val="bg1"/>
                  </a:solidFill>
                </a:rPr>
                <a:t>Kanban</a:t>
              </a:r>
            </a:p>
          </p:txBody>
        </p:sp>
        <p:sp>
          <p:nvSpPr>
            <p:cNvPr id="130" name="TextBox 129"/>
            <p:cNvSpPr txBox="1"/>
            <p:nvPr/>
          </p:nvSpPr>
          <p:spPr>
            <a:xfrm>
              <a:off x="3881671" y="1896804"/>
              <a:ext cx="1278363" cy="692497"/>
            </a:xfrm>
            <a:prstGeom prst="rect">
              <a:avLst/>
            </a:prstGeom>
            <a:noFill/>
          </p:spPr>
          <p:txBody>
            <a:bodyPr wrap="none" rtlCol="0">
              <a:spAutoFit/>
            </a:bodyPr>
            <a:lstStyle/>
            <a:p>
              <a:pPr algn="ctr"/>
              <a:r>
                <a:rPr lang="en-US" sz="1250" b="1" dirty="0" smtClean="0">
                  <a:solidFill>
                    <a:schemeClr val="bg1"/>
                  </a:solidFill>
                </a:rPr>
                <a:t>Value Stream/</a:t>
              </a:r>
            </a:p>
            <a:p>
              <a:pPr algn="ctr"/>
              <a:r>
                <a:rPr lang="en-US" sz="1250" b="1" dirty="0" smtClean="0">
                  <a:solidFill>
                    <a:schemeClr val="bg1"/>
                  </a:solidFill>
                </a:rPr>
                <a:t>Network</a:t>
              </a:r>
            </a:p>
            <a:p>
              <a:pPr algn="ctr"/>
              <a:r>
                <a:rPr lang="en-US" sz="1250" b="1" dirty="0" smtClean="0">
                  <a:solidFill>
                    <a:schemeClr val="bg1"/>
                  </a:solidFill>
                </a:rPr>
                <a:t>Mapping</a:t>
              </a:r>
              <a:endParaRPr lang="en-US" sz="1250" b="1" dirty="0">
                <a:solidFill>
                  <a:schemeClr val="bg1"/>
                </a:solidFill>
              </a:endParaRPr>
            </a:p>
          </p:txBody>
        </p:sp>
        <p:sp>
          <p:nvSpPr>
            <p:cNvPr id="131" name="TextBox 130"/>
            <p:cNvSpPr txBox="1"/>
            <p:nvPr/>
          </p:nvSpPr>
          <p:spPr>
            <a:xfrm>
              <a:off x="5140461" y="1996831"/>
              <a:ext cx="1207383" cy="492443"/>
            </a:xfrm>
            <a:prstGeom prst="rect">
              <a:avLst/>
            </a:prstGeom>
            <a:noFill/>
          </p:spPr>
          <p:txBody>
            <a:bodyPr wrap="none" rtlCol="0">
              <a:spAutoFit/>
            </a:bodyPr>
            <a:lstStyle/>
            <a:p>
              <a:pPr algn="ctr"/>
              <a:r>
                <a:rPr lang="en-US" sz="1300" b="1" dirty="0">
                  <a:solidFill>
                    <a:schemeClr val="bg1"/>
                  </a:solidFill>
                </a:rPr>
                <a:t>A3</a:t>
              </a:r>
              <a:r>
                <a:rPr lang="en-US" sz="1300" b="1" dirty="0" smtClean="0"/>
                <a:t> </a:t>
              </a:r>
            </a:p>
            <a:p>
              <a:pPr algn="ctr"/>
              <a:r>
                <a:rPr lang="en-US" sz="1300" b="1" dirty="0">
                  <a:solidFill>
                    <a:schemeClr val="bg1"/>
                  </a:solidFill>
                </a:rPr>
                <a:t>Management</a:t>
              </a:r>
            </a:p>
          </p:txBody>
        </p:sp>
        <p:sp>
          <p:nvSpPr>
            <p:cNvPr id="132" name="TextBox 131"/>
            <p:cNvSpPr txBox="1"/>
            <p:nvPr/>
          </p:nvSpPr>
          <p:spPr>
            <a:xfrm>
              <a:off x="6415096" y="1996831"/>
              <a:ext cx="1114409" cy="492443"/>
            </a:xfrm>
            <a:prstGeom prst="rect">
              <a:avLst/>
            </a:prstGeom>
            <a:noFill/>
          </p:spPr>
          <p:txBody>
            <a:bodyPr wrap="none" rtlCol="0">
              <a:spAutoFit/>
            </a:bodyPr>
            <a:lstStyle/>
            <a:p>
              <a:pPr algn="ctr"/>
              <a:r>
                <a:rPr lang="en-US" sz="1300" b="1" dirty="0" smtClean="0">
                  <a:solidFill>
                    <a:schemeClr val="bg1"/>
                  </a:solidFill>
                </a:rPr>
                <a:t>Flow Based</a:t>
              </a:r>
            </a:p>
            <a:p>
              <a:pPr algn="ctr"/>
              <a:r>
                <a:rPr lang="en-US" sz="1300" b="1" dirty="0">
                  <a:solidFill>
                    <a:schemeClr val="bg1"/>
                  </a:solidFill>
                </a:rPr>
                <a:t>Delivery</a:t>
              </a:r>
            </a:p>
          </p:txBody>
        </p:sp>
        <p:sp>
          <p:nvSpPr>
            <p:cNvPr id="133" name="TextBox 132"/>
            <p:cNvSpPr txBox="1"/>
            <p:nvPr/>
          </p:nvSpPr>
          <p:spPr>
            <a:xfrm>
              <a:off x="2777115" y="2765069"/>
              <a:ext cx="1029449" cy="492443"/>
            </a:xfrm>
            <a:prstGeom prst="rect">
              <a:avLst/>
            </a:prstGeom>
            <a:noFill/>
          </p:spPr>
          <p:txBody>
            <a:bodyPr wrap="none" rtlCol="0">
              <a:spAutoFit/>
            </a:bodyPr>
            <a:lstStyle/>
            <a:p>
              <a:pPr algn="ctr"/>
              <a:r>
                <a:rPr lang="en-US" sz="1300" b="1" dirty="0" smtClean="0">
                  <a:solidFill>
                    <a:schemeClr val="bg1"/>
                  </a:solidFill>
                </a:rPr>
                <a:t>Agile </a:t>
              </a:r>
            </a:p>
            <a:p>
              <a:pPr algn="ctr"/>
              <a:r>
                <a:rPr lang="en-US" sz="1300" b="1" dirty="0" smtClean="0">
                  <a:solidFill>
                    <a:schemeClr val="bg1"/>
                  </a:solidFill>
                </a:rPr>
                <a:t>Use Cases</a:t>
              </a:r>
              <a:endParaRPr lang="en-US" sz="1300" b="1" dirty="0">
                <a:solidFill>
                  <a:schemeClr val="bg1"/>
                </a:solidFill>
              </a:endParaRPr>
            </a:p>
          </p:txBody>
        </p:sp>
        <p:sp>
          <p:nvSpPr>
            <p:cNvPr id="134" name="TextBox 133"/>
            <p:cNvSpPr txBox="1"/>
            <p:nvPr/>
          </p:nvSpPr>
          <p:spPr>
            <a:xfrm>
              <a:off x="3901344" y="2665042"/>
              <a:ext cx="1234633" cy="692497"/>
            </a:xfrm>
            <a:prstGeom prst="rect">
              <a:avLst/>
            </a:prstGeom>
            <a:noFill/>
          </p:spPr>
          <p:txBody>
            <a:bodyPr wrap="none" rtlCol="0">
              <a:spAutoFit/>
            </a:bodyPr>
            <a:lstStyle/>
            <a:p>
              <a:pPr algn="ctr"/>
              <a:r>
                <a:rPr lang="en-US" sz="1300" b="1" dirty="0" smtClean="0">
                  <a:solidFill>
                    <a:schemeClr val="bg1"/>
                  </a:solidFill>
                </a:rPr>
                <a:t>Behavior</a:t>
              </a:r>
            </a:p>
            <a:p>
              <a:pPr algn="ctr"/>
              <a:r>
                <a:rPr lang="en-US" sz="1300" b="1" dirty="0" smtClean="0">
                  <a:solidFill>
                    <a:schemeClr val="bg1"/>
                  </a:solidFill>
                </a:rPr>
                <a:t>Driven</a:t>
              </a:r>
            </a:p>
            <a:p>
              <a:pPr algn="ctr"/>
              <a:r>
                <a:rPr lang="en-US" sz="1300" b="1" dirty="0" smtClean="0">
                  <a:solidFill>
                    <a:schemeClr val="bg1"/>
                  </a:solidFill>
                </a:rPr>
                <a:t>Development</a:t>
              </a:r>
              <a:endParaRPr lang="en-US" sz="1300" b="1" dirty="0">
                <a:solidFill>
                  <a:schemeClr val="bg1"/>
                </a:solidFill>
              </a:endParaRPr>
            </a:p>
          </p:txBody>
        </p:sp>
        <p:sp>
          <p:nvSpPr>
            <p:cNvPr id="135" name="TextBox 134"/>
            <p:cNvSpPr txBox="1"/>
            <p:nvPr/>
          </p:nvSpPr>
          <p:spPr>
            <a:xfrm>
              <a:off x="5283929" y="2665042"/>
              <a:ext cx="920445" cy="692497"/>
            </a:xfrm>
            <a:prstGeom prst="rect">
              <a:avLst/>
            </a:prstGeom>
            <a:noFill/>
          </p:spPr>
          <p:txBody>
            <a:bodyPr wrap="none" rtlCol="0">
              <a:spAutoFit/>
            </a:bodyPr>
            <a:lstStyle/>
            <a:p>
              <a:pPr algn="ctr"/>
              <a:r>
                <a:rPr lang="en-US" sz="1300" b="1" dirty="0" smtClean="0">
                  <a:solidFill>
                    <a:schemeClr val="bg1"/>
                  </a:solidFill>
                </a:rPr>
                <a:t>Agile </a:t>
              </a:r>
            </a:p>
            <a:p>
              <a:pPr algn="ctr"/>
              <a:r>
                <a:rPr lang="en-US" sz="1300" b="1" dirty="0" smtClean="0">
                  <a:solidFill>
                    <a:schemeClr val="bg1"/>
                  </a:solidFill>
                </a:rPr>
                <a:t>Modeling</a:t>
              </a:r>
            </a:p>
            <a:p>
              <a:pPr algn="ctr"/>
              <a:r>
                <a:rPr lang="en-US" sz="1300" b="1" dirty="0" smtClean="0">
                  <a:solidFill>
                    <a:schemeClr val="bg1"/>
                  </a:solidFill>
                </a:rPr>
                <a:t>Methods</a:t>
              </a:r>
              <a:endParaRPr lang="en-US" sz="1300" b="1" dirty="0">
                <a:solidFill>
                  <a:schemeClr val="bg1"/>
                </a:solidFill>
              </a:endParaRPr>
            </a:p>
          </p:txBody>
        </p:sp>
        <p:sp>
          <p:nvSpPr>
            <p:cNvPr id="136" name="TextBox 135"/>
            <p:cNvSpPr txBox="1"/>
            <p:nvPr/>
          </p:nvSpPr>
          <p:spPr>
            <a:xfrm>
              <a:off x="6571570" y="2665042"/>
              <a:ext cx="843501" cy="692497"/>
            </a:xfrm>
            <a:prstGeom prst="rect">
              <a:avLst/>
            </a:prstGeom>
            <a:noFill/>
          </p:spPr>
          <p:txBody>
            <a:bodyPr wrap="none" rtlCol="0">
              <a:spAutoFit/>
            </a:bodyPr>
            <a:lstStyle/>
            <a:p>
              <a:pPr algn="ctr"/>
              <a:r>
                <a:rPr lang="en-US" sz="1300" b="1" dirty="0" smtClean="0">
                  <a:solidFill>
                    <a:schemeClr val="bg1"/>
                  </a:solidFill>
                </a:rPr>
                <a:t>Domain </a:t>
              </a:r>
            </a:p>
            <a:p>
              <a:pPr algn="ctr"/>
              <a:r>
                <a:rPr lang="en-US" sz="1300" b="1" dirty="0" smtClean="0">
                  <a:solidFill>
                    <a:schemeClr val="bg1"/>
                  </a:solidFill>
                </a:rPr>
                <a:t>Driven</a:t>
              </a:r>
            </a:p>
            <a:p>
              <a:pPr algn="ctr"/>
              <a:r>
                <a:rPr lang="en-US" sz="1300" b="1" dirty="0" smtClean="0">
                  <a:solidFill>
                    <a:schemeClr val="bg1"/>
                  </a:solidFill>
                </a:rPr>
                <a:t>Design</a:t>
              </a:r>
            </a:p>
          </p:txBody>
        </p:sp>
        <p:sp>
          <p:nvSpPr>
            <p:cNvPr id="137" name="TextBox 136"/>
            <p:cNvSpPr txBox="1"/>
            <p:nvPr/>
          </p:nvSpPr>
          <p:spPr>
            <a:xfrm>
              <a:off x="2866060" y="3529838"/>
              <a:ext cx="1268296" cy="492443"/>
            </a:xfrm>
            <a:prstGeom prst="rect">
              <a:avLst/>
            </a:prstGeom>
            <a:noFill/>
          </p:spPr>
          <p:txBody>
            <a:bodyPr wrap="none" rtlCol="0">
              <a:spAutoFit/>
            </a:bodyPr>
            <a:lstStyle/>
            <a:p>
              <a:pPr algn="ctr"/>
              <a:r>
                <a:rPr lang="en-US" sz="1300" b="1" dirty="0" smtClean="0">
                  <a:solidFill>
                    <a:schemeClr val="bg1"/>
                  </a:solidFill>
                </a:rPr>
                <a:t>eXtreme </a:t>
              </a:r>
            </a:p>
            <a:p>
              <a:pPr algn="ctr"/>
              <a:r>
                <a:rPr lang="en-US" sz="1300" b="1" dirty="0" smtClean="0">
                  <a:solidFill>
                    <a:schemeClr val="bg1"/>
                  </a:solidFill>
                </a:rPr>
                <a:t>Programming</a:t>
              </a:r>
              <a:endParaRPr lang="en-US" sz="1300" b="1" dirty="0">
                <a:solidFill>
                  <a:schemeClr val="bg1"/>
                </a:solidFill>
              </a:endParaRPr>
            </a:p>
          </p:txBody>
        </p:sp>
        <p:sp>
          <p:nvSpPr>
            <p:cNvPr id="138" name="TextBox 137"/>
            <p:cNvSpPr txBox="1"/>
            <p:nvPr/>
          </p:nvSpPr>
          <p:spPr>
            <a:xfrm>
              <a:off x="4784759" y="3629865"/>
              <a:ext cx="702436" cy="292388"/>
            </a:xfrm>
            <a:prstGeom prst="rect">
              <a:avLst/>
            </a:prstGeom>
            <a:noFill/>
          </p:spPr>
          <p:txBody>
            <a:bodyPr wrap="none" rtlCol="0">
              <a:spAutoFit/>
            </a:bodyPr>
            <a:lstStyle/>
            <a:p>
              <a:pPr algn="ctr"/>
              <a:r>
                <a:rPr lang="en-US" sz="1300" b="1" dirty="0" smtClean="0">
                  <a:solidFill>
                    <a:schemeClr val="bg1"/>
                  </a:solidFill>
                </a:rPr>
                <a:t>Scrum</a:t>
              </a:r>
              <a:endParaRPr lang="en-US" sz="1300" b="1" dirty="0">
                <a:solidFill>
                  <a:schemeClr val="bg1"/>
                </a:solidFill>
              </a:endParaRPr>
            </a:p>
          </p:txBody>
        </p:sp>
        <p:sp>
          <p:nvSpPr>
            <p:cNvPr id="139" name="TextBox 138"/>
            <p:cNvSpPr txBox="1"/>
            <p:nvPr/>
          </p:nvSpPr>
          <p:spPr>
            <a:xfrm>
              <a:off x="6094914" y="3529838"/>
              <a:ext cx="1354858" cy="492443"/>
            </a:xfrm>
            <a:prstGeom prst="rect">
              <a:avLst/>
            </a:prstGeom>
            <a:noFill/>
          </p:spPr>
          <p:txBody>
            <a:bodyPr wrap="none" rtlCol="0">
              <a:spAutoFit/>
            </a:bodyPr>
            <a:lstStyle/>
            <a:p>
              <a:pPr algn="ctr"/>
              <a:r>
                <a:rPr lang="en-US" sz="1300" b="1" dirty="0" smtClean="0">
                  <a:solidFill>
                    <a:schemeClr val="bg1"/>
                  </a:solidFill>
                </a:rPr>
                <a:t>Feature Driven</a:t>
              </a:r>
            </a:p>
            <a:p>
              <a:pPr algn="ctr"/>
              <a:r>
                <a:rPr lang="en-US" sz="1300" b="1" dirty="0" smtClean="0">
                  <a:solidFill>
                    <a:schemeClr val="bg1"/>
                  </a:solidFill>
                </a:rPr>
                <a:t>Development</a:t>
              </a:r>
              <a:endParaRPr lang="en-US" sz="1300" b="1" dirty="0">
                <a:solidFill>
                  <a:schemeClr val="bg1"/>
                </a:solidFill>
              </a:endParaRPr>
            </a:p>
          </p:txBody>
        </p:sp>
        <p:sp>
          <p:nvSpPr>
            <p:cNvPr id="140" name="TextBox 139"/>
            <p:cNvSpPr txBox="1"/>
            <p:nvPr/>
          </p:nvSpPr>
          <p:spPr>
            <a:xfrm>
              <a:off x="2853234" y="4392961"/>
              <a:ext cx="2106667" cy="292388"/>
            </a:xfrm>
            <a:prstGeom prst="rect">
              <a:avLst/>
            </a:prstGeom>
            <a:noFill/>
          </p:spPr>
          <p:txBody>
            <a:bodyPr wrap="none" rtlCol="0">
              <a:spAutoFit/>
            </a:bodyPr>
            <a:lstStyle/>
            <a:p>
              <a:pPr algn="ctr"/>
              <a:r>
                <a:rPr lang="en-US" sz="1300" b="1" dirty="0" smtClean="0">
                  <a:solidFill>
                    <a:schemeClr val="bg1"/>
                  </a:solidFill>
                </a:rPr>
                <a:t>Software Craftsmanship</a:t>
              </a:r>
              <a:endParaRPr lang="en-US" sz="1300" b="1" dirty="0">
                <a:solidFill>
                  <a:schemeClr val="bg1"/>
                </a:solidFill>
              </a:endParaRPr>
            </a:p>
          </p:txBody>
        </p:sp>
        <p:sp>
          <p:nvSpPr>
            <p:cNvPr id="141" name="TextBox 140"/>
            <p:cNvSpPr txBox="1"/>
            <p:nvPr/>
          </p:nvSpPr>
          <p:spPr>
            <a:xfrm>
              <a:off x="5957860" y="4392961"/>
              <a:ext cx="816250" cy="292388"/>
            </a:xfrm>
            <a:prstGeom prst="rect">
              <a:avLst/>
            </a:prstGeom>
            <a:noFill/>
          </p:spPr>
          <p:txBody>
            <a:bodyPr wrap="none" rtlCol="0">
              <a:spAutoFit/>
            </a:bodyPr>
            <a:lstStyle/>
            <a:p>
              <a:pPr algn="ctr"/>
              <a:r>
                <a:rPr lang="en-US" sz="1300" b="1" dirty="0" smtClean="0">
                  <a:solidFill>
                    <a:schemeClr val="bg1"/>
                  </a:solidFill>
                </a:rPr>
                <a:t>DevOps</a:t>
              </a:r>
              <a:endParaRPr lang="en-US" sz="1300" b="1" dirty="0">
                <a:solidFill>
                  <a:schemeClr val="bg1"/>
                </a:solidFill>
              </a:endParaRPr>
            </a:p>
          </p:txBody>
        </p:sp>
        <p:sp>
          <p:nvSpPr>
            <p:cNvPr id="142" name="TextBox 141"/>
            <p:cNvSpPr txBox="1"/>
            <p:nvPr/>
          </p:nvSpPr>
          <p:spPr>
            <a:xfrm>
              <a:off x="4484200" y="5156056"/>
              <a:ext cx="1295740" cy="292388"/>
            </a:xfrm>
            <a:prstGeom prst="rect">
              <a:avLst/>
            </a:prstGeom>
            <a:noFill/>
          </p:spPr>
          <p:txBody>
            <a:bodyPr wrap="none" rtlCol="0">
              <a:spAutoFit/>
            </a:bodyPr>
            <a:lstStyle/>
            <a:p>
              <a:pPr algn="ctr"/>
              <a:r>
                <a:rPr lang="en-US" sz="1300" b="1" dirty="0" smtClean="0">
                  <a:solidFill>
                    <a:schemeClr val="bg1"/>
                  </a:solidFill>
                </a:rPr>
                <a:t>RUP Lifecycle</a:t>
              </a:r>
              <a:endParaRPr lang="en-US" sz="1300" b="1" dirty="0">
                <a:solidFill>
                  <a:schemeClr val="bg1"/>
                </a:solidFill>
              </a:endParaRPr>
            </a:p>
          </p:txBody>
        </p:sp>
      </p:grpSp>
      <p:grpSp>
        <p:nvGrpSpPr>
          <p:cNvPr id="143" name="Group 142"/>
          <p:cNvGrpSpPr/>
          <p:nvPr/>
        </p:nvGrpSpPr>
        <p:grpSpPr>
          <a:xfrm>
            <a:off x="7696200" y="2554669"/>
            <a:ext cx="2203199" cy="1453451"/>
            <a:chOff x="7696200" y="2554669"/>
            <a:chExt cx="2203199" cy="1453451"/>
          </a:xfrm>
        </p:grpSpPr>
        <p:sp>
          <p:nvSpPr>
            <p:cNvPr id="144" name="Rectangle 13"/>
            <p:cNvSpPr>
              <a:spLocks noChangeArrowheads="1"/>
            </p:cNvSpPr>
            <p:nvPr/>
          </p:nvSpPr>
          <p:spPr bwMode="gray">
            <a:xfrm>
              <a:off x="7772400" y="2554669"/>
              <a:ext cx="2126999" cy="1453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Supplementary agile practices dedicated to requirements, design, architecture and testing</a:t>
              </a:r>
            </a:p>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Emphasis on Just-In-Time and “Just Enough” approaches</a:t>
              </a:r>
            </a:p>
          </p:txBody>
        </p:sp>
        <p:cxnSp>
          <p:nvCxnSpPr>
            <p:cNvPr id="145" name="Straight Connector 144"/>
            <p:cNvCxnSpPr/>
            <p:nvPr/>
          </p:nvCxnSpPr>
          <p:spPr bwMode="auto">
            <a:xfrm>
              <a:off x="7696200" y="2554669"/>
              <a:ext cx="0" cy="1453451"/>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46" name="Group 145"/>
          <p:cNvGrpSpPr/>
          <p:nvPr/>
        </p:nvGrpSpPr>
        <p:grpSpPr>
          <a:xfrm>
            <a:off x="7696200" y="4846320"/>
            <a:ext cx="2203199" cy="1470359"/>
            <a:chOff x="7696200" y="4320841"/>
            <a:chExt cx="2203199" cy="1470359"/>
          </a:xfrm>
        </p:grpSpPr>
        <p:sp>
          <p:nvSpPr>
            <p:cNvPr id="147" name="Rectangle 13"/>
            <p:cNvSpPr>
              <a:spLocks noChangeArrowheads="1"/>
            </p:cNvSpPr>
            <p:nvPr/>
          </p:nvSpPr>
          <p:spPr bwMode="gray">
            <a:xfrm>
              <a:off x="7772400" y="4320841"/>
              <a:ext cx="2126999" cy="147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A set of phases, artifacts and roles that are largely correct, providing structure to help agile scale</a:t>
              </a:r>
            </a:p>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Significant Expertise is required to implement in a agile fashion</a:t>
              </a:r>
            </a:p>
          </p:txBody>
        </p:sp>
        <p:cxnSp>
          <p:nvCxnSpPr>
            <p:cNvPr id="148" name="Straight Connector 147"/>
            <p:cNvCxnSpPr/>
            <p:nvPr/>
          </p:nvCxnSpPr>
          <p:spPr bwMode="auto">
            <a:xfrm>
              <a:off x="7696200" y="4320841"/>
              <a:ext cx="0" cy="1446962"/>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49" name="Group 148"/>
          <p:cNvGrpSpPr/>
          <p:nvPr/>
        </p:nvGrpSpPr>
        <p:grpSpPr>
          <a:xfrm>
            <a:off x="228600" y="1243509"/>
            <a:ext cx="2151413" cy="1685600"/>
            <a:chOff x="286987" y="1243509"/>
            <a:chExt cx="2151413" cy="1685600"/>
          </a:xfrm>
        </p:grpSpPr>
        <p:sp>
          <p:nvSpPr>
            <p:cNvPr id="150" name="Rectangle 13"/>
            <p:cNvSpPr>
              <a:spLocks noChangeArrowheads="1"/>
            </p:cNvSpPr>
            <p:nvPr/>
          </p:nvSpPr>
          <p:spPr bwMode="gray">
            <a:xfrm>
              <a:off x="286987" y="1264606"/>
              <a:ext cx="2151413" cy="1664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A thinking and management framework that guides organizations into an agile culture</a:t>
              </a:r>
            </a:p>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Employees are empowered to experiment and improve by using economic and performance data</a:t>
              </a:r>
              <a:endParaRPr lang="en-US" sz="1200" dirty="0">
                <a:solidFill>
                  <a:srgbClr val="000000"/>
                </a:solidFill>
              </a:endParaRPr>
            </a:p>
          </p:txBody>
        </p:sp>
        <p:cxnSp>
          <p:nvCxnSpPr>
            <p:cNvPr id="151" name="Straight Connector 150"/>
            <p:cNvCxnSpPr/>
            <p:nvPr/>
          </p:nvCxnSpPr>
          <p:spPr bwMode="auto">
            <a:xfrm>
              <a:off x="2438397" y="1243509"/>
              <a:ext cx="0" cy="1652091"/>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52" name="Group 151"/>
          <p:cNvGrpSpPr/>
          <p:nvPr/>
        </p:nvGrpSpPr>
        <p:grpSpPr>
          <a:xfrm>
            <a:off x="228600" y="3219450"/>
            <a:ext cx="2151413" cy="1339369"/>
            <a:chOff x="286985" y="3219450"/>
            <a:chExt cx="2151413" cy="1339369"/>
          </a:xfrm>
        </p:grpSpPr>
        <p:sp>
          <p:nvSpPr>
            <p:cNvPr id="153" name="Rectangle 13"/>
            <p:cNvSpPr>
              <a:spLocks noChangeArrowheads="1"/>
            </p:cNvSpPr>
            <p:nvPr/>
          </p:nvSpPr>
          <p:spPr bwMode="gray">
            <a:xfrm>
              <a:off x="286985" y="3226452"/>
              <a:ext cx="2151413" cy="133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Core agile method focused on helping teams deliver excellent results</a:t>
              </a:r>
            </a:p>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Emphasis on people, collaboration, and responding to change</a:t>
              </a:r>
              <a:endParaRPr lang="en-US" sz="1200" dirty="0">
                <a:solidFill>
                  <a:srgbClr val="000000"/>
                </a:solidFill>
              </a:endParaRPr>
            </a:p>
          </p:txBody>
        </p:sp>
        <p:cxnSp>
          <p:nvCxnSpPr>
            <p:cNvPr id="154" name="Straight Connector 153"/>
            <p:cNvCxnSpPr/>
            <p:nvPr/>
          </p:nvCxnSpPr>
          <p:spPr bwMode="auto">
            <a:xfrm>
              <a:off x="2438394" y="3219450"/>
              <a:ext cx="0" cy="1281643"/>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grpSp>
        <p:nvGrpSpPr>
          <p:cNvPr id="155" name="Group 154"/>
          <p:cNvGrpSpPr/>
          <p:nvPr/>
        </p:nvGrpSpPr>
        <p:grpSpPr>
          <a:xfrm>
            <a:off x="228600" y="4685349"/>
            <a:ext cx="2151413" cy="1441131"/>
            <a:chOff x="228600" y="4685349"/>
            <a:chExt cx="2151413" cy="1441131"/>
          </a:xfrm>
        </p:grpSpPr>
        <p:sp>
          <p:nvSpPr>
            <p:cNvPr id="156" name="Rectangle 13"/>
            <p:cNvSpPr>
              <a:spLocks noChangeArrowheads="1"/>
            </p:cNvSpPr>
            <p:nvPr/>
          </p:nvSpPr>
          <p:spPr bwMode="gray">
            <a:xfrm>
              <a:off x="228600" y="4685349"/>
              <a:ext cx="2151413" cy="133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Movements (as opposed to methods) dedicated to delivery and operational excellence</a:t>
              </a:r>
            </a:p>
            <a:p>
              <a:pPr marL="171450" indent="-171450" algn="l" eaLnBrk="1" hangingPunct="1">
                <a:spcBef>
                  <a:spcPct val="80000"/>
                </a:spcBef>
                <a:buClr>
                  <a:schemeClr val="tx1"/>
                </a:buClr>
                <a:buFont typeface="Wingdings" pitchFamily="2" charset="2"/>
                <a:buChar char="§"/>
              </a:pPr>
              <a:r>
                <a:rPr lang="en-GB" sz="1200" dirty="0" smtClean="0">
                  <a:solidFill>
                    <a:srgbClr val="000000"/>
                  </a:solidFill>
                </a:rPr>
                <a:t>Focused on using technical best practices to support agility</a:t>
              </a:r>
            </a:p>
          </p:txBody>
        </p:sp>
        <p:cxnSp>
          <p:nvCxnSpPr>
            <p:cNvPr id="157" name="Straight Connector 156"/>
            <p:cNvCxnSpPr/>
            <p:nvPr/>
          </p:nvCxnSpPr>
          <p:spPr bwMode="auto">
            <a:xfrm>
              <a:off x="2380009" y="4693920"/>
              <a:ext cx="4" cy="1432560"/>
            </a:xfrm>
            <a:prstGeom prst="line">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spTree>
    <p:extLst>
      <p:ext uri="{BB962C8B-B14F-4D97-AF65-F5344CB8AC3E}">
        <p14:creationId xmlns:p14="http://schemas.microsoft.com/office/powerpoint/2010/main" val="3313050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gray">
          <a:xfrm>
            <a:off x="441804" y="241491"/>
            <a:ext cx="9227185" cy="59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a:lnSpc>
                <a:spcPct val="106000"/>
              </a:lnSpc>
              <a:defRPr/>
            </a:pPr>
            <a:r>
              <a:rPr lang="en-US" sz="1800" b="1" kern="0" dirty="0">
                <a:solidFill>
                  <a:srgbClr val="000000"/>
                </a:solidFill>
              </a:rPr>
              <a:t>Each agile framework provides distinct capabilities enabled through discrete practices, choose the practices that best fit your problem domain</a:t>
            </a:r>
          </a:p>
        </p:txBody>
      </p:sp>
      <p:sp>
        <p:nvSpPr>
          <p:cNvPr id="111" name="Rectangle 110"/>
          <p:cNvSpPr/>
          <p:nvPr/>
        </p:nvSpPr>
        <p:spPr>
          <a:xfrm>
            <a:off x="5213936" y="1019177"/>
            <a:ext cx="1885465" cy="637222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1200" b="1" dirty="0">
                <a:solidFill>
                  <a:schemeClr val="tx1"/>
                </a:solidFill>
              </a:rPr>
              <a:t>Architecture / Design</a:t>
            </a:r>
          </a:p>
        </p:txBody>
      </p:sp>
      <p:sp>
        <p:nvSpPr>
          <p:cNvPr id="112" name="Rectangle 111"/>
          <p:cNvSpPr/>
          <p:nvPr/>
        </p:nvSpPr>
        <p:spPr>
          <a:xfrm>
            <a:off x="3485591" y="1019177"/>
            <a:ext cx="1649782" cy="637222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1200" b="1" dirty="0">
                <a:solidFill>
                  <a:schemeClr val="tx1"/>
                </a:solidFill>
              </a:rPr>
              <a:t>Requirements</a:t>
            </a:r>
          </a:p>
        </p:txBody>
      </p:sp>
      <p:sp>
        <p:nvSpPr>
          <p:cNvPr id="113" name="Rectangle 112"/>
          <p:cNvSpPr/>
          <p:nvPr/>
        </p:nvSpPr>
        <p:spPr>
          <a:xfrm>
            <a:off x="421711" y="1019177"/>
            <a:ext cx="2985320" cy="6372224"/>
          </a:xfrm>
          <a:prstGeom prst="rect">
            <a:avLst/>
          </a:prstGeom>
          <a:solidFill>
            <a:schemeClr val="bg1"/>
          </a:solidFill>
          <a:ln w="63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1200" b="1" dirty="0">
                <a:solidFill>
                  <a:schemeClr val="tx1"/>
                </a:solidFill>
              </a:rPr>
              <a:t>Planning</a:t>
            </a:r>
          </a:p>
        </p:txBody>
      </p:sp>
      <p:sp>
        <p:nvSpPr>
          <p:cNvPr id="114" name="Rectangle 113"/>
          <p:cNvSpPr/>
          <p:nvPr/>
        </p:nvSpPr>
        <p:spPr>
          <a:xfrm>
            <a:off x="6078107" y="3878382"/>
            <a:ext cx="1021294" cy="1717476"/>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RUP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15" name="Rectangle 114"/>
          <p:cNvSpPr/>
          <p:nvPr/>
        </p:nvSpPr>
        <p:spPr>
          <a:xfrm>
            <a:off x="500273" y="3097711"/>
            <a:ext cx="2199709" cy="70260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Other</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16" name="Rectangle 115"/>
          <p:cNvSpPr/>
          <p:nvPr/>
        </p:nvSpPr>
        <p:spPr>
          <a:xfrm>
            <a:off x="2699981" y="3097711"/>
            <a:ext cx="707049" cy="70260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RUP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17" name="Rectangle 116"/>
          <p:cNvSpPr/>
          <p:nvPr/>
        </p:nvSpPr>
        <p:spPr>
          <a:xfrm>
            <a:off x="500271" y="1380236"/>
            <a:ext cx="2906759" cy="1639409"/>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Scrum / XP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18" name="TextBox 117"/>
          <p:cNvSpPr txBox="1"/>
          <p:nvPr/>
        </p:nvSpPr>
        <p:spPr>
          <a:xfrm>
            <a:off x="578832" y="1583536"/>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Release Plan</a:t>
            </a:r>
          </a:p>
        </p:txBody>
      </p:sp>
      <p:sp>
        <p:nvSpPr>
          <p:cNvPr id="119" name="TextBox 118"/>
          <p:cNvSpPr txBox="1"/>
          <p:nvPr/>
        </p:nvSpPr>
        <p:spPr>
          <a:xfrm>
            <a:off x="578832" y="2051938"/>
            <a:ext cx="659586"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Release Burndown Chart</a:t>
            </a:r>
          </a:p>
        </p:txBody>
      </p:sp>
      <p:sp>
        <p:nvSpPr>
          <p:cNvPr id="120" name="TextBox 119"/>
          <p:cNvSpPr txBox="1"/>
          <p:nvPr/>
        </p:nvSpPr>
        <p:spPr>
          <a:xfrm>
            <a:off x="578832" y="2520340"/>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Iteration Plan</a:t>
            </a:r>
          </a:p>
        </p:txBody>
      </p:sp>
      <p:sp>
        <p:nvSpPr>
          <p:cNvPr id="121" name="TextBox 120"/>
          <p:cNvSpPr txBox="1"/>
          <p:nvPr/>
        </p:nvSpPr>
        <p:spPr>
          <a:xfrm>
            <a:off x="1285882" y="2520340"/>
            <a:ext cx="659586"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Tasks</a:t>
            </a:r>
          </a:p>
        </p:txBody>
      </p:sp>
      <p:sp>
        <p:nvSpPr>
          <p:cNvPr id="122" name="TextBox 121"/>
          <p:cNvSpPr txBox="1"/>
          <p:nvPr/>
        </p:nvSpPr>
        <p:spPr>
          <a:xfrm>
            <a:off x="1997843" y="2520340"/>
            <a:ext cx="659585"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Retrospectives </a:t>
            </a:r>
          </a:p>
        </p:txBody>
      </p:sp>
      <p:sp>
        <p:nvSpPr>
          <p:cNvPr id="123" name="TextBox 122"/>
          <p:cNvSpPr txBox="1"/>
          <p:nvPr/>
        </p:nvSpPr>
        <p:spPr>
          <a:xfrm>
            <a:off x="2704892" y="2520340"/>
            <a:ext cx="659585"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Self-organizing Teams</a:t>
            </a:r>
          </a:p>
        </p:txBody>
      </p:sp>
      <p:sp>
        <p:nvSpPr>
          <p:cNvPr id="124" name="TextBox 123"/>
          <p:cNvSpPr txBox="1"/>
          <p:nvPr/>
        </p:nvSpPr>
        <p:spPr>
          <a:xfrm>
            <a:off x="1285882" y="2051938"/>
            <a:ext cx="659586"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Agile Work/Planning Board</a:t>
            </a:r>
          </a:p>
        </p:txBody>
      </p:sp>
      <p:sp>
        <p:nvSpPr>
          <p:cNvPr id="125" name="TextBox 124"/>
          <p:cNvSpPr txBox="1"/>
          <p:nvPr/>
        </p:nvSpPr>
        <p:spPr>
          <a:xfrm>
            <a:off x="1992931" y="2051938"/>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Blockers and Issues</a:t>
            </a:r>
          </a:p>
        </p:txBody>
      </p:sp>
      <p:sp>
        <p:nvSpPr>
          <p:cNvPr id="126" name="TextBox 125"/>
          <p:cNvSpPr txBox="1"/>
          <p:nvPr/>
        </p:nvSpPr>
        <p:spPr>
          <a:xfrm>
            <a:off x="2699980" y="2051938"/>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Daily Standups</a:t>
            </a:r>
          </a:p>
        </p:txBody>
      </p:sp>
      <p:sp>
        <p:nvSpPr>
          <p:cNvPr id="127" name="TextBox 126"/>
          <p:cNvSpPr txBox="1"/>
          <p:nvPr/>
        </p:nvSpPr>
        <p:spPr>
          <a:xfrm>
            <a:off x="1285882" y="1583536"/>
            <a:ext cx="659586"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Iteration Burndown Chart</a:t>
            </a:r>
          </a:p>
        </p:txBody>
      </p:sp>
      <p:sp>
        <p:nvSpPr>
          <p:cNvPr id="128" name="TextBox 127"/>
          <p:cNvSpPr txBox="1"/>
          <p:nvPr/>
        </p:nvSpPr>
        <p:spPr>
          <a:xfrm>
            <a:off x="1997843" y="1583536"/>
            <a:ext cx="659585"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Definition of Done</a:t>
            </a:r>
          </a:p>
        </p:txBody>
      </p:sp>
      <p:sp>
        <p:nvSpPr>
          <p:cNvPr id="129" name="TextBox 128"/>
          <p:cNvSpPr txBox="1"/>
          <p:nvPr/>
        </p:nvSpPr>
        <p:spPr>
          <a:xfrm>
            <a:off x="2704892" y="1583536"/>
            <a:ext cx="659585"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Planning Poker / Game</a:t>
            </a:r>
          </a:p>
        </p:txBody>
      </p:sp>
      <p:sp>
        <p:nvSpPr>
          <p:cNvPr id="130" name="TextBox 129"/>
          <p:cNvSpPr txBox="1"/>
          <p:nvPr/>
        </p:nvSpPr>
        <p:spPr>
          <a:xfrm>
            <a:off x="578832" y="3331913"/>
            <a:ext cx="659586"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Acceptance Test Driven Plans</a:t>
            </a:r>
          </a:p>
        </p:txBody>
      </p:sp>
      <p:sp>
        <p:nvSpPr>
          <p:cNvPr id="131" name="TextBox 130"/>
          <p:cNvSpPr txBox="1"/>
          <p:nvPr/>
        </p:nvSpPr>
        <p:spPr>
          <a:xfrm>
            <a:off x="1285882" y="3331913"/>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Information Radiators </a:t>
            </a:r>
          </a:p>
        </p:txBody>
      </p:sp>
      <p:sp>
        <p:nvSpPr>
          <p:cNvPr id="132" name="TextBox 131"/>
          <p:cNvSpPr txBox="1"/>
          <p:nvPr/>
        </p:nvSpPr>
        <p:spPr>
          <a:xfrm>
            <a:off x="1992931" y="3331911"/>
            <a:ext cx="659586" cy="276989"/>
          </a:xfrm>
          <a:prstGeom prst="rect">
            <a:avLst/>
          </a:prstGeom>
          <a:solidFill>
            <a:srgbClr val="1462FF"/>
          </a:solidFill>
          <a:ln>
            <a:noFill/>
          </a:ln>
        </p:spPr>
        <p:txBody>
          <a:bodyPr lIns="91429" tIns="45715" rIns="91429" bIns="45715">
            <a:spAutoFit/>
          </a:bodyPr>
          <a:lstStyle/>
          <a:p>
            <a:pPr>
              <a:defRPr/>
            </a:pPr>
            <a:r>
              <a:rPr lang="en-US" sz="600" dirty="0">
                <a:solidFill>
                  <a:schemeClr val="bg1"/>
                </a:solidFill>
              </a:rPr>
              <a:t>Collaborative Workspaces</a:t>
            </a:r>
          </a:p>
        </p:txBody>
      </p:sp>
      <p:sp>
        <p:nvSpPr>
          <p:cNvPr id="133" name="TextBox 132"/>
          <p:cNvSpPr txBox="1"/>
          <p:nvPr/>
        </p:nvSpPr>
        <p:spPr>
          <a:xfrm>
            <a:off x="2699980" y="3331913"/>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Product Lifecycle</a:t>
            </a:r>
          </a:p>
        </p:txBody>
      </p:sp>
      <p:sp>
        <p:nvSpPr>
          <p:cNvPr id="134" name="Rectangle 133"/>
          <p:cNvSpPr/>
          <p:nvPr/>
        </p:nvSpPr>
        <p:spPr>
          <a:xfrm>
            <a:off x="500271" y="3878383"/>
            <a:ext cx="2906759" cy="202974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Kanban</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35" name="TextBox 134"/>
          <p:cNvSpPr txBox="1"/>
          <p:nvPr/>
        </p:nvSpPr>
        <p:spPr>
          <a:xfrm>
            <a:off x="578832" y="4112584"/>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Kanban Workboard</a:t>
            </a:r>
          </a:p>
        </p:txBody>
      </p:sp>
      <p:sp>
        <p:nvSpPr>
          <p:cNvPr id="136" name="TextBox 135"/>
          <p:cNvSpPr txBox="1"/>
          <p:nvPr/>
        </p:nvSpPr>
        <p:spPr>
          <a:xfrm>
            <a:off x="578832" y="4750131"/>
            <a:ext cx="659586"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Policies</a:t>
            </a:r>
          </a:p>
        </p:txBody>
      </p:sp>
      <p:sp>
        <p:nvSpPr>
          <p:cNvPr id="137" name="TextBox 136"/>
          <p:cNvSpPr txBox="1"/>
          <p:nvPr/>
        </p:nvSpPr>
        <p:spPr>
          <a:xfrm>
            <a:off x="578832" y="5361657"/>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Operational Review</a:t>
            </a:r>
          </a:p>
        </p:txBody>
      </p:sp>
      <p:sp>
        <p:nvSpPr>
          <p:cNvPr id="138" name="TextBox 137"/>
          <p:cNvSpPr txBox="1"/>
          <p:nvPr/>
        </p:nvSpPr>
        <p:spPr>
          <a:xfrm>
            <a:off x="1285882" y="5361656"/>
            <a:ext cx="659586"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Work in Limit Policies</a:t>
            </a:r>
          </a:p>
        </p:txBody>
      </p:sp>
      <p:sp>
        <p:nvSpPr>
          <p:cNvPr id="139" name="TextBox 138"/>
          <p:cNvSpPr txBox="1"/>
          <p:nvPr/>
        </p:nvSpPr>
        <p:spPr>
          <a:xfrm>
            <a:off x="1992931" y="5361656"/>
            <a:ext cx="659586"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Other Lean Metrics Dashboard</a:t>
            </a:r>
          </a:p>
        </p:txBody>
      </p:sp>
      <p:sp>
        <p:nvSpPr>
          <p:cNvPr id="140" name="TextBox 139"/>
          <p:cNvSpPr txBox="1"/>
          <p:nvPr/>
        </p:nvSpPr>
        <p:spPr>
          <a:xfrm>
            <a:off x="2699980" y="5361657"/>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Portfolio Kanban</a:t>
            </a:r>
          </a:p>
        </p:txBody>
      </p:sp>
      <p:sp>
        <p:nvSpPr>
          <p:cNvPr id="141" name="TextBox 140"/>
          <p:cNvSpPr txBox="1"/>
          <p:nvPr/>
        </p:nvSpPr>
        <p:spPr>
          <a:xfrm>
            <a:off x="1285882" y="4750132"/>
            <a:ext cx="659586" cy="523210"/>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Classes of Service w/ Delivery Promise</a:t>
            </a:r>
          </a:p>
        </p:txBody>
      </p:sp>
      <p:sp>
        <p:nvSpPr>
          <p:cNvPr id="142" name="TextBox 141"/>
          <p:cNvSpPr txBox="1"/>
          <p:nvPr/>
        </p:nvSpPr>
        <p:spPr>
          <a:xfrm>
            <a:off x="1992931" y="4750132"/>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Cost of Delay</a:t>
            </a:r>
          </a:p>
        </p:txBody>
      </p:sp>
      <p:sp>
        <p:nvSpPr>
          <p:cNvPr id="143" name="TextBox 142"/>
          <p:cNvSpPr txBox="1"/>
          <p:nvPr/>
        </p:nvSpPr>
        <p:spPr>
          <a:xfrm>
            <a:off x="2699980" y="4750130"/>
            <a:ext cx="659586" cy="276989"/>
          </a:xfrm>
          <a:prstGeom prst="rect">
            <a:avLst/>
          </a:prstGeom>
          <a:solidFill>
            <a:srgbClr val="1462FF"/>
          </a:solidFill>
          <a:ln>
            <a:noFill/>
          </a:ln>
        </p:spPr>
        <p:txBody>
          <a:bodyPr lIns="91429" tIns="45715" rIns="91429" bIns="45715">
            <a:spAutoFit/>
          </a:bodyPr>
          <a:lstStyle/>
          <a:p>
            <a:pPr>
              <a:defRPr/>
            </a:pPr>
            <a:r>
              <a:rPr lang="en-US" sz="600" dirty="0">
                <a:solidFill>
                  <a:schemeClr val="bg1"/>
                </a:solidFill>
              </a:rPr>
              <a:t>Issue Management</a:t>
            </a:r>
          </a:p>
        </p:txBody>
      </p:sp>
      <p:sp>
        <p:nvSpPr>
          <p:cNvPr id="144" name="TextBox 143"/>
          <p:cNvSpPr txBox="1"/>
          <p:nvPr/>
        </p:nvSpPr>
        <p:spPr>
          <a:xfrm>
            <a:off x="1285882" y="4112584"/>
            <a:ext cx="659586"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Work Ticket Types</a:t>
            </a:r>
          </a:p>
        </p:txBody>
      </p:sp>
      <p:sp>
        <p:nvSpPr>
          <p:cNvPr id="145" name="TextBox 144"/>
          <p:cNvSpPr txBox="1"/>
          <p:nvPr/>
        </p:nvSpPr>
        <p:spPr>
          <a:xfrm>
            <a:off x="1992931" y="4112583"/>
            <a:ext cx="659586"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Cumulative Flow Diagram</a:t>
            </a:r>
          </a:p>
        </p:txBody>
      </p:sp>
      <p:sp>
        <p:nvSpPr>
          <p:cNvPr id="146" name="TextBox 145"/>
          <p:cNvSpPr txBox="1"/>
          <p:nvPr/>
        </p:nvSpPr>
        <p:spPr>
          <a:xfrm>
            <a:off x="2699980" y="4112584"/>
            <a:ext cx="659586" cy="523210"/>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Statistical Process Control Chart</a:t>
            </a:r>
          </a:p>
        </p:txBody>
      </p:sp>
      <p:sp>
        <p:nvSpPr>
          <p:cNvPr id="147" name="Rectangle 146"/>
          <p:cNvSpPr/>
          <p:nvPr/>
        </p:nvSpPr>
        <p:spPr>
          <a:xfrm>
            <a:off x="500271" y="5986194"/>
            <a:ext cx="2906759" cy="70260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Lean</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48" name="TextBox 147"/>
          <p:cNvSpPr txBox="1"/>
          <p:nvPr/>
        </p:nvSpPr>
        <p:spPr>
          <a:xfrm>
            <a:off x="578832" y="6220394"/>
            <a:ext cx="659586"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Kaizen</a:t>
            </a:r>
          </a:p>
        </p:txBody>
      </p:sp>
      <p:sp>
        <p:nvSpPr>
          <p:cNvPr id="149" name="TextBox 148"/>
          <p:cNvSpPr txBox="1"/>
          <p:nvPr/>
        </p:nvSpPr>
        <p:spPr>
          <a:xfrm>
            <a:off x="1285882" y="6220395"/>
            <a:ext cx="659586"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Value Stream Map</a:t>
            </a:r>
          </a:p>
        </p:txBody>
      </p:sp>
      <p:sp>
        <p:nvSpPr>
          <p:cNvPr id="150" name="TextBox 149"/>
          <p:cNvSpPr txBox="1"/>
          <p:nvPr/>
        </p:nvSpPr>
        <p:spPr>
          <a:xfrm>
            <a:off x="1992931" y="6220394"/>
            <a:ext cx="659586"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A3</a:t>
            </a:r>
          </a:p>
        </p:txBody>
      </p:sp>
      <p:sp>
        <p:nvSpPr>
          <p:cNvPr id="151" name="TextBox 150"/>
          <p:cNvSpPr txBox="1"/>
          <p:nvPr/>
        </p:nvSpPr>
        <p:spPr>
          <a:xfrm>
            <a:off x="2699980" y="6220394"/>
            <a:ext cx="659586"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5 Whys</a:t>
            </a:r>
          </a:p>
        </p:txBody>
      </p:sp>
      <p:sp>
        <p:nvSpPr>
          <p:cNvPr id="152" name="Rectangle 151"/>
          <p:cNvSpPr/>
          <p:nvPr/>
        </p:nvSpPr>
        <p:spPr>
          <a:xfrm>
            <a:off x="3485591" y="1380236"/>
            <a:ext cx="1649782" cy="1639409"/>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Scrum / XP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53" name="TextBox 152"/>
          <p:cNvSpPr txBox="1"/>
          <p:nvPr/>
        </p:nvSpPr>
        <p:spPr>
          <a:xfrm>
            <a:off x="3564153" y="1583535"/>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Backlog</a:t>
            </a:r>
          </a:p>
        </p:txBody>
      </p:sp>
      <p:sp>
        <p:nvSpPr>
          <p:cNvPr id="154" name="TextBox 153"/>
          <p:cNvSpPr txBox="1"/>
          <p:nvPr/>
        </p:nvSpPr>
        <p:spPr>
          <a:xfrm>
            <a:off x="3564153" y="2051937"/>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Story Map</a:t>
            </a:r>
          </a:p>
        </p:txBody>
      </p:sp>
      <p:sp>
        <p:nvSpPr>
          <p:cNvPr id="155" name="TextBox 154"/>
          <p:cNvSpPr txBox="1"/>
          <p:nvPr/>
        </p:nvSpPr>
        <p:spPr>
          <a:xfrm>
            <a:off x="3564153" y="2520340"/>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Epics/ Themes</a:t>
            </a:r>
          </a:p>
        </p:txBody>
      </p:sp>
      <p:sp>
        <p:nvSpPr>
          <p:cNvPr id="156" name="TextBox 155"/>
          <p:cNvSpPr txBox="1"/>
          <p:nvPr/>
        </p:nvSpPr>
        <p:spPr>
          <a:xfrm>
            <a:off x="4349763" y="2520340"/>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Acceptance Criteria </a:t>
            </a:r>
          </a:p>
        </p:txBody>
      </p:sp>
      <p:sp>
        <p:nvSpPr>
          <p:cNvPr id="157" name="TextBox 156"/>
          <p:cNvSpPr txBox="1"/>
          <p:nvPr/>
        </p:nvSpPr>
        <p:spPr>
          <a:xfrm>
            <a:off x="4349763" y="2051937"/>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Scenario </a:t>
            </a:r>
          </a:p>
        </p:txBody>
      </p:sp>
      <p:sp>
        <p:nvSpPr>
          <p:cNvPr id="158" name="TextBox 157"/>
          <p:cNvSpPr txBox="1"/>
          <p:nvPr/>
        </p:nvSpPr>
        <p:spPr>
          <a:xfrm>
            <a:off x="4344854" y="1583535"/>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Story</a:t>
            </a:r>
          </a:p>
        </p:txBody>
      </p:sp>
      <p:sp>
        <p:nvSpPr>
          <p:cNvPr id="159" name="Rectangle 158"/>
          <p:cNvSpPr/>
          <p:nvPr/>
        </p:nvSpPr>
        <p:spPr>
          <a:xfrm>
            <a:off x="3485591" y="3097711"/>
            <a:ext cx="1649782" cy="70260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a:solidFill>
                  <a:schemeClr val="bg1"/>
                </a:solidFill>
              </a:rPr>
              <a:t>Kanban</a:t>
            </a: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60" name="TextBox 159"/>
          <p:cNvSpPr txBox="1"/>
          <p:nvPr/>
        </p:nvSpPr>
        <p:spPr>
          <a:xfrm>
            <a:off x="3564153" y="3331913"/>
            <a:ext cx="707049"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Minimum / Marketable Feature Set</a:t>
            </a:r>
          </a:p>
        </p:txBody>
      </p:sp>
      <p:sp>
        <p:nvSpPr>
          <p:cNvPr id="161" name="TextBox 160"/>
          <p:cNvSpPr txBox="1"/>
          <p:nvPr/>
        </p:nvSpPr>
        <p:spPr>
          <a:xfrm>
            <a:off x="4349763" y="3331913"/>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Features</a:t>
            </a:r>
          </a:p>
        </p:txBody>
      </p:sp>
      <p:sp>
        <p:nvSpPr>
          <p:cNvPr id="162" name="Rectangle 161"/>
          <p:cNvSpPr/>
          <p:nvPr/>
        </p:nvSpPr>
        <p:spPr>
          <a:xfrm>
            <a:off x="3485591" y="3878383"/>
            <a:ext cx="1649782" cy="202974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Agile Modeling Method</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63" name="TextBox 162"/>
          <p:cNvSpPr txBox="1"/>
          <p:nvPr/>
        </p:nvSpPr>
        <p:spPr>
          <a:xfrm>
            <a:off x="3564153" y="4112583"/>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Backlog</a:t>
            </a:r>
          </a:p>
        </p:txBody>
      </p:sp>
      <p:sp>
        <p:nvSpPr>
          <p:cNvPr id="164" name="TextBox 163"/>
          <p:cNvSpPr txBox="1"/>
          <p:nvPr/>
        </p:nvSpPr>
        <p:spPr>
          <a:xfrm>
            <a:off x="3564153" y="4680196"/>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Story Map</a:t>
            </a:r>
          </a:p>
        </p:txBody>
      </p:sp>
      <p:sp>
        <p:nvSpPr>
          <p:cNvPr id="165" name="TextBox 164"/>
          <p:cNvSpPr txBox="1"/>
          <p:nvPr/>
        </p:nvSpPr>
        <p:spPr>
          <a:xfrm>
            <a:off x="3564153" y="5361657"/>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Epics/ Themes</a:t>
            </a:r>
          </a:p>
        </p:txBody>
      </p:sp>
      <p:sp>
        <p:nvSpPr>
          <p:cNvPr id="166" name="TextBox 165"/>
          <p:cNvSpPr txBox="1"/>
          <p:nvPr/>
        </p:nvSpPr>
        <p:spPr>
          <a:xfrm>
            <a:off x="4361221" y="5361657"/>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Acceptance Criteria </a:t>
            </a:r>
          </a:p>
        </p:txBody>
      </p:sp>
      <p:sp>
        <p:nvSpPr>
          <p:cNvPr id="167" name="TextBox 166"/>
          <p:cNvSpPr txBox="1"/>
          <p:nvPr/>
        </p:nvSpPr>
        <p:spPr>
          <a:xfrm>
            <a:off x="4349763" y="4680196"/>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Scenario </a:t>
            </a:r>
          </a:p>
        </p:txBody>
      </p:sp>
      <p:sp>
        <p:nvSpPr>
          <p:cNvPr id="168" name="TextBox 167"/>
          <p:cNvSpPr txBox="1"/>
          <p:nvPr/>
        </p:nvSpPr>
        <p:spPr>
          <a:xfrm>
            <a:off x="4349763" y="4112583"/>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Story</a:t>
            </a:r>
          </a:p>
        </p:txBody>
      </p:sp>
      <p:sp>
        <p:nvSpPr>
          <p:cNvPr id="169" name="Rectangle 168"/>
          <p:cNvSpPr/>
          <p:nvPr/>
        </p:nvSpPr>
        <p:spPr>
          <a:xfrm>
            <a:off x="3485591" y="5986194"/>
            <a:ext cx="1649782" cy="702604"/>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Agile Modeling Model</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70" name="TextBox 169"/>
          <p:cNvSpPr txBox="1"/>
          <p:nvPr/>
        </p:nvSpPr>
        <p:spPr>
          <a:xfrm>
            <a:off x="3564153" y="622039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Low fidelity  UI Mockup</a:t>
            </a:r>
          </a:p>
        </p:txBody>
      </p:sp>
      <p:sp>
        <p:nvSpPr>
          <p:cNvPr id="171" name="TextBox 170"/>
          <p:cNvSpPr txBox="1"/>
          <p:nvPr/>
        </p:nvSpPr>
        <p:spPr>
          <a:xfrm>
            <a:off x="4349763" y="6220394"/>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Features</a:t>
            </a:r>
          </a:p>
        </p:txBody>
      </p:sp>
      <p:sp>
        <p:nvSpPr>
          <p:cNvPr id="172" name="Rectangle 171"/>
          <p:cNvSpPr/>
          <p:nvPr/>
        </p:nvSpPr>
        <p:spPr>
          <a:xfrm>
            <a:off x="5213935" y="1380236"/>
            <a:ext cx="864172" cy="1639409"/>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XP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r>
              <a:rPr lang="en-US" sz="700" dirty="0">
                <a:solidFill>
                  <a:schemeClr val="bg1"/>
                </a:solidFill>
              </a:rPr>
              <a:t>XP</a:t>
            </a:r>
          </a:p>
        </p:txBody>
      </p:sp>
      <p:sp>
        <p:nvSpPr>
          <p:cNvPr id="173" name="TextBox 172"/>
          <p:cNvSpPr txBox="1"/>
          <p:nvPr/>
        </p:nvSpPr>
        <p:spPr>
          <a:xfrm>
            <a:off x="5292495" y="1583536"/>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System Metaphor</a:t>
            </a:r>
          </a:p>
        </p:txBody>
      </p:sp>
      <p:sp>
        <p:nvSpPr>
          <p:cNvPr id="174" name="TextBox 173"/>
          <p:cNvSpPr txBox="1"/>
          <p:nvPr/>
        </p:nvSpPr>
        <p:spPr>
          <a:xfrm>
            <a:off x="5292495" y="2051937"/>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Spike</a:t>
            </a:r>
          </a:p>
        </p:txBody>
      </p:sp>
      <p:sp>
        <p:nvSpPr>
          <p:cNvPr id="175" name="TextBox 174"/>
          <p:cNvSpPr txBox="1"/>
          <p:nvPr/>
        </p:nvSpPr>
        <p:spPr>
          <a:xfrm>
            <a:off x="5292495" y="2520340"/>
            <a:ext cx="707049" cy="369322"/>
          </a:xfrm>
          <a:prstGeom prst="rect">
            <a:avLst/>
          </a:prstGeom>
          <a:solidFill>
            <a:srgbClr val="1462FF"/>
          </a:solidFill>
          <a:ln>
            <a:noFill/>
          </a:ln>
        </p:spPr>
        <p:txBody>
          <a:bodyPr lIns="91429" tIns="45715" rIns="91429" bIns="45715">
            <a:spAutoFit/>
          </a:bodyPr>
          <a:lstStyle/>
          <a:p>
            <a:pPr>
              <a:defRPr/>
            </a:pPr>
            <a:r>
              <a:rPr lang="en-US" sz="600" dirty="0">
                <a:solidFill>
                  <a:schemeClr val="bg1"/>
                </a:solidFill>
              </a:rPr>
              <a:t>Class Responsibility Collaboration</a:t>
            </a:r>
          </a:p>
        </p:txBody>
      </p:sp>
      <p:sp>
        <p:nvSpPr>
          <p:cNvPr id="176" name="Rectangle 175"/>
          <p:cNvSpPr/>
          <p:nvPr/>
        </p:nvSpPr>
        <p:spPr>
          <a:xfrm>
            <a:off x="6078107" y="1380236"/>
            <a:ext cx="1021294" cy="1639409"/>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Agile Modeling</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r>
              <a:rPr lang="en-US" sz="700" dirty="0">
                <a:solidFill>
                  <a:schemeClr val="bg1"/>
                </a:solidFill>
              </a:rPr>
              <a:t>Agile Modeling</a:t>
            </a:r>
          </a:p>
        </p:txBody>
      </p:sp>
      <p:sp>
        <p:nvSpPr>
          <p:cNvPr id="177" name="TextBox 176"/>
          <p:cNvSpPr txBox="1"/>
          <p:nvPr/>
        </p:nvSpPr>
        <p:spPr>
          <a:xfrm>
            <a:off x="6156668" y="1583535"/>
            <a:ext cx="864172"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Model Storming</a:t>
            </a:r>
          </a:p>
        </p:txBody>
      </p:sp>
      <p:sp>
        <p:nvSpPr>
          <p:cNvPr id="178" name="TextBox 177"/>
          <p:cNvSpPr txBox="1"/>
          <p:nvPr/>
        </p:nvSpPr>
        <p:spPr>
          <a:xfrm>
            <a:off x="6156668" y="2051938"/>
            <a:ext cx="864172"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Agile Class and Sequence Diagrams</a:t>
            </a:r>
          </a:p>
        </p:txBody>
      </p:sp>
      <p:sp>
        <p:nvSpPr>
          <p:cNvPr id="179" name="TextBox 178"/>
          <p:cNvSpPr txBox="1"/>
          <p:nvPr/>
        </p:nvSpPr>
        <p:spPr>
          <a:xfrm>
            <a:off x="6156668" y="2520340"/>
            <a:ext cx="864172"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Other models as necessary </a:t>
            </a:r>
          </a:p>
        </p:txBody>
      </p:sp>
      <p:sp>
        <p:nvSpPr>
          <p:cNvPr id="180" name="Rectangle 179"/>
          <p:cNvSpPr/>
          <p:nvPr/>
        </p:nvSpPr>
        <p:spPr>
          <a:xfrm>
            <a:off x="5213935" y="3097711"/>
            <a:ext cx="864172" cy="1717476"/>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 Domain Driven Design</a:t>
            </a:r>
          </a:p>
        </p:txBody>
      </p:sp>
      <p:sp>
        <p:nvSpPr>
          <p:cNvPr id="181" name="TextBox 180"/>
          <p:cNvSpPr txBox="1"/>
          <p:nvPr/>
        </p:nvSpPr>
        <p:spPr>
          <a:xfrm>
            <a:off x="5292495" y="3409979"/>
            <a:ext cx="707049"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Domain / Service Model</a:t>
            </a:r>
          </a:p>
        </p:txBody>
      </p:sp>
      <p:sp>
        <p:nvSpPr>
          <p:cNvPr id="182" name="TextBox 181"/>
          <p:cNvSpPr txBox="1"/>
          <p:nvPr/>
        </p:nvSpPr>
        <p:spPr>
          <a:xfrm>
            <a:off x="5292495" y="3878383"/>
            <a:ext cx="707049"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Bounded Context Maps</a:t>
            </a:r>
          </a:p>
        </p:txBody>
      </p:sp>
      <p:sp>
        <p:nvSpPr>
          <p:cNvPr id="183" name="TextBox 182"/>
          <p:cNvSpPr txBox="1"/>
          <p:nvPr/>
        </p:nvSpPr>
        <p:spPr>
          <a:xfrm>
            <a:off x="5292495" y="434678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Ubiquitous Language</a:t>
            </a:r>
          </a:p>
        </p:txBody>
      </p:sp>
      <p:sp>
        <p:nvSpPr>
          <p:cNvPr id="184" name="Rectangle 183"/>
          <p:cNvSpPr/>
          <p:nvPr/>
        </p:nvSpPr>
        <p:spPr>
          <a:xfrm>
            <a:off x="5213935" y="4815188"/>
            <a:ext cx="864172" cy="7806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Other</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85" name="TextBox 184"/>
          <p:cNvSpPr txBox="1"/>
          <p:nvPr/>
        </p:nvSpPr>
        <p:spPr>
          <a:xfrm>
            <a:off x="5292495" y="5096554"/>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Wiki Project Repository</a:t>
            </a:r>
          </a:p>
        </p:txBody>
      </p:sp>
      <p:sp>
        <p:nvSpPr>
          <p:cNvPr id="186" name="Rectangle 185"/>
          <p:cNvSpPr/>
          <p:nvPr/>
        </p:nvSpPr>
        <p:spPr>
          <a:xfrm>
            <a:off x="6078107" y="3097712"/>
            <a:ext cx="1021294" cy="7806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Code Craftsmanship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87" name="TextBox 186"/>
          <p:cNvSpPr txBox="1"/>
          <p:nvPr/>
        </p:nvSpPr>
        <p:spPr>
          <a:xfrm>
            <a:off x="6156668" y="3409979"/>
            <a:ext cx="867445"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Emerging Design</a:t>
            </a:r>
          </a:p>
        </p:txBody>
      </p:sp>
      <p:sp>
        <p:nvSpPr>
          <p:cNvPr id="188" name="TextBox 187"/>
          <p:cNvSpPr txBox="1"/>
          <p:nvPr/>
        </p:nvSpPr>
        <p:spPr>
          <a:xfrm>
            <a:off x="6156668" y="4102824"/>
            <a:ext cx="867445"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Software Architecture Description</a:t>
            </a:r>
          </a:p>
        </p:txBody>
      </p:sp>
      <p:sp>
        <p:nvSpPr>
          <p:cNvPr id="189" name="TextBox 188"/>
          <p:cNvSpPr txBox="1"/>
          <p:nvPr/>
        </p:nvSpPr>
        <p:spPr>
          <a:xfrm>
            <a:off x="6156668" y="4580986"/>
            <a:ext cx="867445"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Architecture Key Mechanism </a:t>
            </a:r>
          </a:p>
        </p:txBody>
      </p:sp>
      <p:sp>
        <p:nvSpPr>
          <p:cNvPr id="190" name="TextBox 189"/>
          <p:cNvSpPr txBox="1"/>
          <p:nvPr/>
        </p:nvSpPr>
        <p:spPr>
          <a:xfrm>
            <a:off x="6156668" y="5049389"/>
            <a:ext cx="867445"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4 + 1 views</a:t>
            </a:r>
          </a:p>
        </p:txBody>
      </p:sp>
      <p:sp>
        <p:nvSpPr>
          <p:cNvPr id="191" name="Rectangle 190"/>
          <p:cNvSpPr/>
          <p:nvPr/>
        </p:nvSpPr>
        <p:spPr>
          <a:xfrm>
            <a:off x="7177961" y="1019177"/>
            <a:ext cx="2513954" cy="637222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1200" b="1" dirty="0">
                <a:solidFill>
                  <a:schemeClr val="tx1"/>
                </a:solidFill>
              </a:rPr>
              <a:t>Development and Testing</a:t>
            </a:r>
          </a:p>
        </p:txBody>
      </p:sp>
      <p:sp>
        <p:nvSpPr>
          <p:cNvPr id="193" name="Rectangle 192"/>
          <p:cNvSpPr/>
          <p:nvPr/>
        </p:nvSpPr>
        <p:spPr>
          <a:xfrm>
            <a:off x="7177960" y="5205523"/>
            <a:ext cx="1021294" cy="7806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RUP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94" name="Rectangle 193"/>
          <p:cNvSpPr/>
          <p:nvPr/>
        </p:nvSpPr>
        <p:spPr>
          <a:xfrm>
            <a:off x="8277815" y="5205523"/>
            <a:ext cx="1021294" cy="7806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BDD</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95" name="Rectangle 194"/>
          <p:cNvSpPr/>
          <p:nvPr/>
        </p:nvSpPr>
        <p:spPr>
          <a:xfrm>
            <a:off x="8277815" y="6064261"/>
            <a:ext cx="1021294" cy="7806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DevOps</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96" name="Rectangle 195"/>
          <p:cNvSpPr/>
          <p:nvPr/>
        </p:nvSpPr>
        <p:spPr>
          <a:xfrm>
            <a:off x="7177960" y="1380236"/>
            <a:ext cx="2435393" cy="1873610"/>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XP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97" name="TextBox 196"/>
          <p:cNvSpPr txBox="1"/>
          <p:nvPr/>
        </p:nvSpPr>
        <p:spPr>
          <a:xfrm>
            <a:off x="7256522" y="1588414"/>
            <a:ext cx="707049"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Self-documenting Code</a:t>
            </a:r>
          </a:p>
        </p:txBody>
      </p:sp>
      <p:sp>
        <p:nvSpPr>
          <p:cNvPr id="198" name="TextBox 197"/>
          <p:cNvSpPr txBox="1"/>
          <p:nvPr/>
        </p:nvSpPr>
        <p:spPr>
          <a:xfrm>
            <a:off x="7256522" y="2130005"/>
            <a:ext cx="707049"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Potentially Shippable Code</a:t>
            </a:r>
          </a:p>
        </p:txBody>
      </p:sp>
      <p:sp>
        <p:nvSpPr>
          <p:cNvPr id="199" name="TextBox 198"/>
          <p:cNvSpPr txBox="1"/>
          <p:nvPr/>
        </p:nvSpPr>
        <p:spPr>
          <a:xfrm>
            <a:off x="7256522" y="267647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Test-driven Development</a:t>
            </a:r>
          </a:p>
        </p:txBody>
      </p:sp>
      <p:sp>
        <p:nvSpPr>
          <p:cNvPr id="200" name="TextBox 199"/>
          <p:cNvSpPr txBox="1"/>
          <p:nvPr/>
        </p:nvSpPr>
        <p:spPr>
          <a:xfrm>
            <a:off x="8042132" y="267647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Iteration Review</a:t>
            </a:r>
          </a:p>
        </p:txBody>
      </p:sp>
      <p:sp>
        <p:nvSpPr>
          <p:cNvPr id="201" name="TextBox 200"/>
          <p:cNvSpPr txBox="1"/>
          <p:nvPr/>
        </p:nvSpPr>
        <p:spPr>
          <a:xfrm>
            <a:off x="8827742" y="2676475"/>
            <a:ext cx="707049" cy="42123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Collective Code Ownership</a:t>
            </a:r>
          </a:p>
        </p:txBody>
      </p:sp>
      <p:sp>
        <p:nvSpPr>
          <p:cNvPr id="202" name="TextBox 201"/>
          <p:cNvSpPr txBox="1"/>
          <p:nvPr/>
        </p:nvSpPr>
        <p:spPr>
          <a:xfrm>
            <a:off x="8042132" y="213000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Automated Builds</a:t>
            </a:r>
          </a:p>
        </p:txBody>
      </p:sp>
      <p:sp>
        <p:nvSpPr>
          <p:cNvPr id="203" name="TextBox 202"/>
          <p:cNvSpPr txBox="1"/>
          <p:nvPr/>
        </p:nvSpPr>
        <p:spPr>
          <a:xfrm>
            <a:off x="8827742" y="2130004"/>
            <a:ext cx="707049" cy="276989"/>
          </a:xfrm>
          <a:prstGeom prst="rect">
            <a:avLst/>
          </a:prstGeom>
          <a:solidFill>
            <a:srgbClr val="1462FF"/>
          </a:solidFill>
          <a:ln>
            <a:noFill/>
          </a:ln>
        </p:spPr>
        <p:txBody>
          <a:bodyPr lIns="91429" tIns="45715" rIns="91429" bIns="45715">
            <a:spAutoFit/>
          </a:bodyPr>
          <a:lstStyle/>
          <a:p>
            <a:pPr>
              <a:defRPr/>
            </a:pPr>
            <a:r>
              <a:rPr lang="en-US" sz="600" dirty="0">
                <a:solidFill>
                  <a:schemeClr val="bg1"/>
                </a:solidFill>
              </a:rPr>
              <a:t>Pair Programming</a:t>
            </a:r>
          </a:p>
        </p:txBody>
      </p:sp>
      <p:sp>
        <p:nvSpPr>
          <p:cNvPr id="204" name="TextBox 203"/>
          <p:cNvSpPr txBox="1"/>
          <p:nvPr/>
        </p:nvSpPr>
        <p:spPr>
          <a:xfrm>
            <a:off x="8042132" y="1588415"/>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Continuous Integration</a:t>
            </a:r>
          </a:p>
        </p:txBody>
      </p:sp>
      <p:sp>
        <p:nvSpPr>
          <p:cNvPr id="205" name="TextBox 204"/>
          <p:cNvSpPr txBox="1"/>
          <p:nvPr/>
        </p:nvSpPr>
        <p:spPr>
          <a:xfrm>
            <a:off x="8827742" y="1588414"/>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Refactoring</a:t>
            </a:r>
          </a:p>
        </p:txBody>
      </p:sp>
      <p:sp>
        <p:nvSpPr>
          <p:cNvPr id="206" name="TextBox 205"/>
          <p:cNvSpPr txBox="1"/>
          <p:nvPr/>
        </p:nvSpPr>
        <p:spPr>
          <a:xfrm>
            <a:off x="7256522" y="5439724"/>
            <a:ext cx="847805"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Architecture Reference</a:t>
            </a:r>
          </a:p>
        </p:txBody>
      </p:sp>
      <p:sp>
        <p:nvSpPr>
          <p:cNvPr id="207" name="TextBox 206"/>
          <p:cNvSpPr txBox="1"/>
          <p:nvPr/>
        </p:nvSpPr>
        <p:spPr>
          <a:xfrm>
            <a:off x="8372744" y="5439724"/>
            <a:ext cx="847805" cy="421237"/>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Acceptance Test Driven Development</a:t>
            </a:r>
          </a:p>
        </p:txBody>
      </p:sp>
      <p:sp>
        <p:nvSpPr>
          <p:cNvPr id="208" name="TextBox 207"/>
          <p:cNvSpPr txBox="1"/>
          <p:nvPr/>
        </p:nvSpPr>
        <p:spPr>
          <a:xfrm>
            <a:off x="8372744" y="6298462"/>
            <a:ext cx="847805"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Continuous Deployment</a:t>
            </a:r>
          </a:p>
        </p:txBody>
      </p:sp>
      <p:sp>
        <p:nvSpPr>
          <p:cNvPr id="209" name="Rectangle 208"/>
          <p:cNvSpPr/>
          <p:nvPr/>
        </p:nvSpPr>
        <p:spPr>
          <a:xfrm>
            <a:off x="7177960" y="6064260"/>
            <a:ext cx="1021294" cy="1327140"/>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Code Craftsmanship</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210" name="TextBox 209"/>
          <p:cNvSpPr txBox="1"/>
          <p:nvPr/>
        </p:nvSpPr>
        <p:spPr>
          <a:xfrm>
            <a:off x="7256522" y="6298461"/>
            <a:ext cx="847805"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Code Katas</a:t>
            </a:r>
          </a:p>
        </p:txBody>
      </p:sp>
      <p:sp>
        <p:nvSpPr>
          <p:cNvPr id="211" name="TextBox 210"/>
          <p:cNvSpPr txBox="1"/>
          <p:nvPr/>
        </p:nvSpPr>
        <p:spPr>
          <a:xfrm>
            <a:off x="7256521" y="6854689"/>
            <a:ext cx="849442"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SOLID Practices</a:t>
            </a:r>
          </a:p>
        </p:txBody>
      </p:sp>
      <p:sp>
        <p:nvSpPr>
          <p:cNvPr id="212" name="Rectangle 211"/>
          <p:cNvSpPr/>
          <p:nvPr/>
        </p:nvSpPr>
        <p:spPr>
          <a:xfrm>
            <a:off x="7177960" y="3331914"/>
            <a:ext cx="2435393" cy="179554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a:solidFill>
                  <a:schemeClr val="bg1"/>
                </a:solidFill>
              </a:rPr>
              <a:t>Other</a:t>
            </a: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213" name="TextBox 212"/>
          <p:cNvSpPr txBox="1"/>
          <p:nvPr/>
        </p:nvSpPr>
        <p:spPr>
          <a:xfrm>
            <a:off x="7256522" y="3566113"/>
            <a:ext cx="707049"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User Acceptance Tests</a:t>
            </a:r>
          </a:p>
        </p:txBody>
      </p:sp>
      <p:sp>
        <p:nvSpPr>
          <p:cNvPr id="214" name="TextBox 213"/>
          <p:cNvSpPr txBox="1"/>
          <p:nvPr/>
        </p:nvSpPr>
        <p:spPr>
          <a:xfrm>
            <a:off x="8042132" y="3566113"/>
            <a:ext cx="707049" cy="307766"/>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Exploratory Test</a:t>
            </a:r>
          </a:p>
        </p:txBody>
      </p:sp>
      <p:sp>
        <p:nvSpPr>
          <p:cNvPr id="215" name="TextBox 214"/>
          <p:cNvSpPr txBox="1"/>
          <p:nvPr/>
        </p:nvSpPr>
        <p:spPr>
          <a:xfrm>
            <a:off x="8827742" y="3566113"/>
            <a:ext cx="707049"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Application Lifecycle Management</a:t>
            </a:r>
          </a:p>
        </p:txBody>
      </p:sp>
      <p:sp>
        <p:nvSpPr>
          <p:cNvPr id="216" name="TextBox 215"/>
          <p:cNvSpPr txBox="1"/>
          <p:nvPr/>
        </p:nvSpPr>
        <p:spPr>
          <a:xfrm>
            <a:off x="7256522" y="4346783"/>
            <a:ext cx="707049" cy="461655"/>
          </a:xfrm>
          <a:prstGeom prst="rect">
            <a:avLst/>
          </a:prstGeom>
          <a:solidFill>
            <a:srgbClr val="1462FF"/>
          </a:solidFill>
          <a:ln>
            <a:noFill/>
          </a:ln>
        </p:spPr>
        <p:txBody>
          <a:bodyPr lIns="91429" tIns="45715" rIns="91429" bIns="45715">
            <a:spAutoFit/>
          </a:bodyPr>
          <a:lstStyle/>
          <a:p>
            <a:pPr>
              <a:defRPr/>
            </a:pPr>
            <a:r>
              <a:rPr lang="en-US" sz="600" dirty="0">
                <a:solidFill>
                  <a:schemeClr val="bg1"/>
                </a:solidFill>
              </a:rPr>
              <a:t>Technical Tests (e.g. Security, performance)</a:t>
            </a:r>
          </a:p>
        </p:txBody>
      </p:sp>
      <p:sp>
        <p:nvSpPr>
          <p:cNvPr id="217" name="TextBox 216"/>
          <p:cNvSpPr txBox="1"/>
          <p:nvPr/>
        </p:nvSpPr>
        <p:spPr>
          <a:xfrm>
            <a:off x="8042132" y="4346784"/>
            <a:ext cx="707049" cy="198551"/>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Defects</a:t>
            </a:r>
          </a:p>
        </p:txBody>
      </p:sp>
      <p:sp>
        <p:nvSpPr>
          <p:cNvPr id="218" name="TextBox 217"/>
          <p:cNvSpPr txBox="1"/>
          <p:nvPr/>
        </p:nvSpPr>
        <p:spPr>
          <a:xfrm>
            <a:off x="8827742" y="4346784"/>
            <a:ext cx="707049" cy="415488"/>
          </a:xfrm>
          <a:prstGeom prst="rect">
            <a:avLst/>
          </a:prstGeom>
          <a:solidFill>
            <a:srgbClr val="1462FF"/>
          </a:solidFill>
          <a:ln>
            <a:noFill/>
          </a:ln>
        </p:spPr>
        <p:txBody>
          <a:bodyPr lIns="91429" tIns="45715" rIns="91429" bIns="45715">
            <a:spAutoFit/>
          </a:bodyPr>
          <a:lstStyle/>
          <a:p>
            <a:pPr>
              <a:defRPr/>
            </a:pPr>
            <a:r>
              <a:rPr lang="en-US" sz="700" dirty="0">
                <a:solidFill>
                  <a:schemeClr val="bg1"/>
                </a:solidFill>
              </a:rPr>
              <a:t>Operations and Support Manual</a:t>
            </a:r>
          </a:p>
        </p:txBody>
      </p:sp>
    </p:spTree>
    <p:extLst>
      <p:ext uri="{BB962C8B-B14F-4D97-AF65-F5344CB8AC3E}">
        <p14:creationId xmlns:p14="http://schemas.microsoft.com/office/powerpoint/2010/main" val="32405251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gray">
          <a:xfrm>
            <a:off x="441804" y="2024"/>
            <a:ext cx="92271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r>
              <a:rPr lang="en-GB" sz="1800" b="1" dirty="0"/>
              <a:t>Every project has a different context, a useful playbook will provide a framework that allows you to select the practices that are appropriate , and refine the process over time using a measurable, continuous improvement approach</a:t>
            </a:r>
            <a:endParaRPr lang="en-US" sz="1800" b="1" dirty="0">
              <a:latin typeface="Arial" pitchFamily="34" charset="0"/>
            </a:endParaRPr>
          </a:p>
        </p:txBody>
      </p:sp>
      <p:sp>
        <p:nvSpPr>
          <p:cNvPr id="9" name="TextBox 8"/>
          <p:cNvSpPr txBox="1"/>
          <p:nvPr/>
        </p:nvSpPr>
        <p:spPr>
          <a:xfrm>
            <a:off x="307975" y="1362930"/>
            <a:ext cx="3879850" cy="298234"/>
          </a:xfrm>
          <a:prstGeom prst="rect">
            <a:avLst/>
          </a:prstGeom>
          <a:noFill/>
        </p:spPr>
        <p:txBody>
          <a:bodyPr lIns="81993" tIns="40995" rIns="81993" bIns="40995">
            <a:spAutoFit/>
          </a:bodyPr>
          <a:lstStyle/>
          <a:p>
            <a:pPr defTabSz="913544">
              <a:defRPr/>
            </a:pPr>
            <a:endParaRPr lang="en-US" sz="1400" dirty="0">
              <a:solidFill>
                <a:srgbClr val="000000"/>
              </a:solidFill>
              <a:latin typeface="Arial"/>
            </a:endParaRPr>
          </a:p>
        </p:txBody>
      </p:sp>
      <p:grpSp>
        <p:nvGrpSpPr>
          <p:cNvPr id="37" name="Group 36"/>
          <p:cNvGrpSpPr/>
          <p:nvPr/>
        </p:nvGrpSpPr>
        <p:grpSpPr>
          <a:xfrm>
            <a:off x="5109079" y="6010548"/>
            <a:ext cx="2935224" cy="1404938"/>
            <a:chOff x="6632956" y="4358254"/>
            <a:chExt cx="2935224" cy="1404938"/>
          </a:xfrm>
        </p:grpSpPr>
        <p:sp>
          <p:nvSpPr>
            <p:cNvPr id="14" name="Rectangle 13"/>
            <p:cNvSpPr/>
            <p:nvPr/>
          </p:nvSpPr>
          <p:spPr bwMode="auto">
            <a:xfrm>
              <a:off x="6632956" y="4360431"/>
              <a:ext cx="2935224" cy="439013"/>
            </a:xfrm>
            <a:prstGeom prst="rect">
              <a:avLst/>
            </a:prstGeom>
            <a:solidFill>
              <a:schemeClr val="bg1"/>
            </a:solidFill>
            <a:ln w="19050" cap="flat" cmpd="sng" algn="ctr">
              <a:noFill/>
              <a:prstDash val="solid"/>
              <a:round/>
              <a:headEnd type="none" w="med" len="med"/>
              <a:tailEnd type="triangle" w="med" len="med"/>
            </a:ln>
            <a:effectLst/>
            <a:extLst/>
          </p:spPr>
          <p:txBody>
            <a:bodyPr vert="horz" wrap="square" lIns="72000" tIns="72000" rIns="72000" bIns="72000" numCol="1" rtlCol="0" anchor="t" anchorCtr="1" compatLnSpc="1">
              <a:prstTxWarp prst="textNoShape">
                <a:avLst/>
              </a:prstTxWarp>
              <a:spAutoFit/>
            </a:bodyPr>
            <a:lstStyle/>
            <a:p>
              <a:pPr algn="ctr" defTabSz="914294" eaLnBrk="0" fontAlgn="base" hangingPunct="0">
                <a:lnSpc>
                  <a:spcPct val="106000"/>
                </a:lnSpc>
                <a:spcBef>
                  <a:spcPct val="50000"/>
                </a:spcBef>
                <a:spcAft>
                  <a:spcPct val="0"/>
                </a:spcAft>
              </a:pPr>
              <a:endParaRPr lang="en-US" sz="1800" b="1">
                <a:latin typeface="Arial" charset="0"/>
              </a:endParaRPr>
            </a:p>
          </p:txBody>
        </p:sp>
        <p:pic>
          <p:nvPicPr>
            <p:cNvPr id="1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7002" y="4358254"/>
              <a:ext cx="2907132" cy="140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1" name="Rectangle 3"/>
          <p:cNvSpPr txBox="1">
            <a:spLocks noChangeArrowheads="1"/>
          </p:cNvSpPr>
          <p:nvPr/>
        </p:nvSpPr>
        <p:spPr bwMode="gray">
          <a:xfrm>
            <a:off x="2257239" y="6004974"/>
            <a:ext cx="2724912"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544" eaLnBrk="1" hangingPunct="1">
              <a:spcBef>
                <a:spcPct val="0"/>
              </a:spcBef>
              <a:buClr>
                <a:srgbClr val="000000"/>
              </a:buClr>
              <a:buSzTx/>
              <a:defRPr/>
            </a:pPr>
            <a:r>
              <a:rPr lang="en-US" sz="1200" dirty="0">
                <a:solidFill>
                  <a:srgbClr val="000000"/>
                </a:solidFill>
              </a:rPr>
              <a:t>Operate your Agile transformation using Kanban.</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Kanban Card Wall</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Explicit Policies</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Blockers and Issues</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WIP Limits</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Etc..</a:t>
            </a:r>
            <a:endParaRPr lang="en-GB" sz="1200" dirty="0">
              <a:solidFill>
                <a:srgbClr val="000000"/>
              </a:solidFill>
            </a:endParaRPr>
          </a:p>
        </p:txBody>
      </p:sp>
      <p:sp>
        <p:nvSpPr>
          <p:cNvPr id="26" name="TextBox 25"/>
          <p:cNvSpPr txBox="1"/>
          <p:nvPr/>
        </p:nvSpPr>
        <p:spPr>
          <a:xfrm>
            <a:off x="1619137" y="6188626"/>
            <a:ext cx="609600" cy="923330"/>
          </a:xfrm>
          <a:prstGeom prst="rect">
            <a:avLst/>
          </a:prstGeom>
          <a:noFill/>
        </p:spPr>
        <p:txBody>
          <a:bodyPr wrap="square" lIns="91429" tIns="45715" rIns="91429" bIns="45715" rtlCol="0">
            <a:spAutoFit/>
          </a:bodyPr>
          <a:lstStyle/>
          <a:p>
            <a:pPr algn="ctr"/>
            <a:r>
              <a:rPr lang="en-US" sz="5300" dirty="0"/>
              <a:t>3</a:t>
            </a:r>
          </a:p>
        </p:txBody>
      </p:sp>
      <p:sp>
        <p:nvSpPr>
          <p:cNvPr id="22" name="Line 5"/>
          <p:cNvSpPr>
            <a:spLocks noChangeShapeType="1"/>
          </p:cNvSpPr>
          <p:nvPr/>
        </p:nvSpPr>
        <p:spPr bwMode="gray">
          <a:xfrm>
            <a:off x="2106363" y="5858923"/>
            <a:ext cx="3026664" cy="0"/>
          </a:xfrm>
          <a:prstGeom prst="line">
            <a:avLst/>
          </a:prstGeom>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ctr" anchorCtr="1"/>
          <a:lstStyle/>
          <a:p>
            <a:pPr defTabSz="913544">
              <a:defRPr/>
            </a:pPr>
            <a:endParaRPr lang="en-US" dirty="0">
              <a:solidFill>
                <a:srgbClr val="000000"/>
              </a:solidFill>
              <a:latin typeface="Arial"/>
              <a:cs typeface="+mn-cs"/>
            </a:endParaRPr>
          </a:p>
        </p:txBody>
      </p:sp>
      <p:sp>
        <p:nvSpPr>
          <p:cNvPr id="23" name="Rectangle 6"/>
          <p:cNvSpPr>
            <a:spLocks noChangeArrowheads="1"/>
          </p:cNvSpPr>
          <p:nvPr/>
        </p:nvSpPr>
        <p:spPr bwMode="gray">
          <a:xfrm>
            <a:off x="3231202" y="5760723"/>
            <a:ext cx="776973" cy="190052"/>
          </a:xfrm>
          <a:prstGeom prst="rect">
            <a:avLst/>
          </a:prstGeom>
          <a:solidFill>
            <a:srgbClr val="F4FAE9"/>
          </a:solidFill>
          <a:ln>
            <a:noFill/>
          </a:ln>
          <a:effectLst/>
          <a:extLst/>
        </p:spPr>
        <p:txBody>
          <a:bodyPr wrap="none" lIns="71992" tIns="0" rIns="71992" bIns="0" anchor="ctr" anchorCtr="1">
            <a:spAutoFit/>
          </a:bodyPr>
          <a:lstStyle/>
          <a:p>
            <a:pPr defTabSz="913544">
              <a:lnSpc>
                <a:spcPct val="95000"/>
              </a:lnSpc>
              <a:defRPr/>
            </a:pPr>
            <a:r>
              <a:rPr lang="en-GB" sz="1300" b="1" dirty="0">
                <a:solidFill>
                  <a:srgbClr val="000000"/>
                </a:solidFill>
                <a:latin typeface="Arial"/>
              </a:rPr>
              <a:t>Operate</a:t>
            </a:r>
          </a:p>
        </p:txBody>
      </p:sp>
      <p:sp>
        <p:nvSpPr>
          <p:cNvPr id="10" name="Rectangle 3"/>
          <p:cNvSpPr txBox="1">
            <a:spLocks noChangeArrowheads="1"/>
          </p:cNvSpPr>
          <p:nvPr/>
        </p:nvSpPr>
        <p:spPr bwMode="gray">
          <a:xfrm>
            <a:off x="1037400" y="1361345"/>
            <a:ext cx="2723980" cy="133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544" eaLnBrk="1" hangingPunct="1">
              <a:spcBef>
                <a:spcPct val="0"/>
              </a:spcBef>
              <a:buClr>
                <a:srgbClr val="000000"/>
              </a:buClr>
              <a:buSzTx/>
              <a:defRPr/>
            </a:pPr>
            <a:r>
              <a:rPr lang="en-US" sz="1200" dirty="0">
                <a:solidFill>
                  <a:srgbClr val="000000"/>
                </a:solidFill>
              </a:rPr>
              <a:t>Structure and visualize current processes to identify pain points and areas for improvements.</a:t>
            </a:r>
          </a:p>
          <a:p>
            <a:pPr marL="153733" indent="-153733" defTabSz="913544" eaLnBrk="1" hangingPunct="1">
              <a:spcBef>
                <a:spcPct val="0"/>
              </a:spcBef>
              <a:buClr>
                <a:srgbClr val="000000"/>
              </a:buClr>
              <a:buSzTx/>
              <a:buFont typeface="Wingdings" pitchFamily="2" charset="2"/>
              <a:buChar char="§"/>
              <a:defRPr/>
            </a:pPr>
            <a:r>
              <a:rPr lang="en-GB" sz="1200" dirty="0">
                <a:solidFill>
                  <a:srgbClr val="000000"/>
                </a:solidFill>
              </a:rPr>
              <a:t>Value Stream Mapping</a:t>
            </a:r>
          </a:p>
          <a:p>
            <a:pPr marL="153733" indent="-153733" defTabSz="913544" eaLnBrk="1" hangingPunct="1">
              <a:spcBef>
                <a:spcPct val="0"/>
              </a:spcBef>
              <a:buClr>
                <a:srgbClr val="000000"/>
              </a:buClr>
              <a:buSzTx/>
              <a:buFont typeface="Wingdings" pitchFamily="2" charset="2"/>
              <a:buChar char="§"/>
              <a:defRPr/>
            </a:pPr>
            <a:r>
              <a:rPr lang="en-GB" sz="1200" dirty="0">
                <a:solidFill>
                  <a:srgbClr val="000000"/>
                </a:solidFill>
              </a:rPr>
              <a:t>5 Whys</a:t>
            </a:r>
          </a:p>
          <a:p>
            <a:pPr marL="153733" indent="-153733" defTabSz="913544" eaLnBrk="1" hangingPunct="1">
              <a:spcBef>
                <a:spcPct val="0"/>
              </a:spcBef>
              <a:buClr>
                <a:srgbClr val="000000"/>
              </a:buClr>
              <a:buSzTx/>
              <a:buFont typeface="Wingdings" pitchFamily="2" charset="2"/>
              <a:buChar char="§"/>
              <a:defRPr/>
            </a:pPr>
            <a:r>
              <a:rPr lang="en-GB" sz="1200" dirty="0">
                <a:solidFill>
                  <a:srgbClr val="000000"/>
                </a:solidFill>
              </a:rPr>
              <a:t>Demand Analysis</a:t>
            </a:r>
          </a:p>
          <a:p>
            <a:pPr marL="153733" indent="-153733" defTabSz="913544" eaLnBrk="1" hangingPunct="1">
              <a:spcBef>
                <a:spcPct val="0"/>
              </a:spcBef>
              <a:buClr>
                <a:srgbClr val="000000"/>
              </a:buClr>
              <a:buSzTx/>
              <a:buFont typeface="Wingdings" pitchFamily="2" charset="2"/>
              <a:buChar char="§"/>
              <a:defRPr/>
            </a:pPr>
            <a:r>
              <a:rPr lang="en-GB" sz="1200" dirty="0">
                <a:solidFill>
                  <a:srgbClr val="000000"/>
                </a:solidFill>
              </a:rPr>
              <a:t>Etc..</a:t>
            </a:r>
          </a:p>
        </p:txBody>
      </p:sp>
      <p:sp>
        <p:nvSpPr>
          <p:cNvPr id="11" name="Line 5"/>
          <p:cNvSpPr>
            <a:spLocks noChangeShapeType="1"/>
          </p:cNvSpPr>
          <p:nvPr/>
        </p:nvSpPr>
        <p:spPr bwMode="gray">
          <a:xfrm>
            <a:off x="886058" y="1215293"/>
            <a:ext cx="3026664" cy="0"/>
          </a:xfrm>
          <a:prstGeom prst="line">
            <a:avLst/>
          </a:prstGeom>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ctr" anchorCtr="1"/>
          <a:lstStyle/>
          <a:p>
            <a:pPr defTabSz="913544">
              <a:defRPr/>
            </a:pPr>
            <a:endParaRPr lang="en-US" dirty="0">
              <a:solidFill>
                <a:srgbClr val="000000"/>
              </a:solidFill>
              <a:latin typeface="Arial"/>
              <a:cs typeface="+mn-cs"/>
            </a:endParaRPr>
          </a:p>
        </p:txBody>
      </p:sp>
      <p:sp>
        <p:nvSpPr>
          <p:cNvPr id="12" name="Rectangle 6"/>
          <p:cNvSpPr>
            <a:spLocks noChangeArrowheads="1"/>
          </p:cNvSpPr>
          <p:nvPr/>
        </p:nvSpPr>
        <p:spPr bwMode="gray">
          <a:xfrm>
            <a:off x="1476295" y="1117092"/>
            <a:ext cx="1894267" cy="190052"/>
          </a:xfrm>
          <a:prstGeom prst="rect">
            <a:avLst/>
          </a:prstGeom>
          <a:solidFill>
            <a:srgbClr val="F4FAE9"/>
          </a:solidFill>
          <a:ln>
            <a:noFill/>
          </a:ln>
          <a:effectLst/>
          <a:extLst/>
        </p:spPr>
        <p:txBody>
          <a:bodyPr wrap="none" lIns="71992" tIns="0" rIns="71992" bIns="0" anchor="ctr" anchorCtr="1">
            <a:spAutoFit/>
          </a:bodyPr>
          <a:lstStyle/>
          <a:p>
            <a:pPr defTabSz="913544">
              <a:lnSpc>
                <a:spcPct val="95000"/>
              </a:lnSpc>
              <a:defRPr/>
            </a:pPr>
            <a:r>
              <a:rPr lang="en-GB" sz="1300" b="1" dirty="0">
                <a:solidFill>
                  <a:srgbClr val="000000"/>
                </a:solidFill>
                <a:latin typeface="Arial"/>
              </a:rPr>
              <a:t>What is your context?</a:t>
            </a:r>
          </a:p>
        </p:txBody>
      </p:sp>
      <p:pic>
        <p:nvPicPr>
          <p:cNvPr id="16" name="Picture 399"/>
          <p:cNvPicPr>
            <a:picLocks noChangeAspect="1" noChangeArrowheads="1"/>
          </p:cNvPicPr>
          <p:nvPr/>
        </p:nvPicPr>
        <p:blipFill>
          <a:blip r:embed="rId3">
            <a:extLst>
              <a:ext uri="{28A0092B-C50C-407E-A947-70E740481C1C}">
                <a14:useLocalDpi xmlns:a14="http://schemas.microsoft.com/office/drawing/2010/main" val="0"/>
              </a:ext>
            </a:extLst>
          </a:blip>
          <a:srcRect r="52271" b="54675"/>
          <a:stretch>
            <a:fillRect/>
          </a:stretch>
        </p:blipFill>
        <p:spPr bwMode="auto">
          <a:xfrm>
            <a:off x="726241" y="2695008"/>
            <a:ext cx="2931088" cy="1572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4" name="TextBox 23"/>
          <p:cNvSpPr txBox="1"/>
          <p:nvPr/>
        </p:nvSpPr>
        <p:spPr>
          <a:xfrm>
            <a:off x="325664" y="1521307"/>
            <a:ext cx="683579" cy="923330"/>
          </a:xfrm>
          <a:prstGeom prst="rect">
            <a:avLst/>
          </a:prstGeom>
          <a:noFill/>
        </p:spPr>
        <p:txBody>
          <a:bodyPr wrap="square" lIns="91429" tIns="45715" rIns="91429" bIns="45715" rtlCol="0">
            <a:spAutoFit/>
          </a:bodyPr>
          <a:lstStyle/>
          <a:p>
            <a:pPr algn="ctr"/>
            <a:r>
              <a:rPr lang="en-US" sz="5300" dirty="0"/>
              <a:t>1</a:t>
            </a:r>
          </a:p>
        </p:txBody>
      </p:sp>
      <p:pic>
        <p:nvPicPr>
          <p:cNvPr id="17" name="Picture 50"/>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4833"/>
          <a:stretch/>
        </p:blipFill>
        <p:spPr bwMode="auto">
          <a:xfrm>
            <a:off x="6558340" y="2667001"/>
            <a:ext cx="2935224" cy="1646030"/>
          </a:xfrm>
          <a:prstGeom prst="rect">
            <a:avLst/>
          </a:prstGeom>
          <a:noFill/>
          <a:ln w="9525">
            <a:noFill/>
            <a:miter lim="800000"/>
            <a:headEnd/>
            <a:tailEnd/>
          </a:ln>
          <a:effectLst>
            <a:prstShdw prst="shdw17" dist="17961" dir="2700000">
              <a:schemeClr val="bg1"/>
            </a:prstShdw>
          </a:effectLst>
          <a:extLst>
            <a:ext uri="{909E8E84-426E-40DD-AFC4-6F175D3DCCD1}">
              <a14:hiddenFill xmlns:a14="http://schemas.microsoft.com/office/drawing/2010/main">
                <a:solidFill>
                  <a:schemeClr val="accent1"/>
                </a:solidFill>
              </a14:hiddenFill>
            </a:ext>
          </a:extLst>
        </p:spPr>
      </p:pic>
      <p:sp>
        <p:nvSpPr>
          <p:cNvPr id="18" name="Rectangle 3"/>
          <p:cNvSpPr txBox="1">
            <a:spLocks noChangeArrowheads="1"/>
          </p:cNvSpPr>
          <p:nvPr/>
        </p:nvSpPr>
        <p:spPr bwMode="gray">
          <a:xfrm>
            <a:off x="6515657" y="1358169"/>
            <a:ext cx="2724912"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82059" indent="-382059" algn="l" rtl="0" eaLnBrk="0" fontAlgn="base" hangingPunct="0">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52938" indent="-251169" algn="l" rtl="0" eaLnBrk="0" fontAlgn="base" hangingPunct="0">
              <a:lnSpc>
                <a:spcPct val="106000"/>
              </a:lnSpc>
              <a:spcBef>
                <a:spcPct val="40000"/>
              </a:spcBef>
              <a:spcAft>
                <a:spcPct val="0"/>
              </a:spcAft>
              <a:buClr>
                <a:schemeClr val="tx1"/>
              </a:buClr>
              <a:buFont typeface="Wingdings" pitchFamily="2" charset="2"/>
              <a:buChar char="§"/>
              <a:defRPr>
                <a:solidFill>
                  <a:schemeClr val="tx1"/>
                </a:solidFill>
                <a:latin typeface="+mn-lt"/>
              </a:defRPr>
            </a:lvl2pPr>
            <a:lvl3pPr marL="509412" indent="-254706" algn="l" rtl="0" eaLnBrk="0" fontAlgn="base" hangingPunct="0">
              <a:lnSpc>
                <a:spcPct val="106000"/>
              </a:lnSpc>
              <a:spcBef>
                <a:spcPct val="20000"/>
              </a:spcBef>
              <a:spcAft>
                <a:spcPct val="0"/>
              </a:spcAft>
              <a:buClr>
                <a:schemeClr val="tx1"/>
              </a:buClr>
              <a:buFont typeface="Arial" charset="0"/>
              <a:buChar char="–"/>
              <a:defRPr sz="1800">
                <a:solidFill>
                  <a:schemeClr val="tx1"/>
                </a:solidFill>
                <a:latin typeface="+mn-lt"/>
              </a:defRPr>
            </a:lvl3pPr>
            <a:lvl4pPr marL="758813" indent="-247631" algn="l" rtl="0" eaLnBrk="0" fontAlgn="base" hangingPunct="0">
              <a:lnSpc>
                <a:spcPct val="106000"/>
              </a:lnSpc>
              <a:spcBef>
                <a:spcPct val="20000"/>
              </a:spcBef>
              <a:spcAft>
                <a:spcPct val="0"/>
              </a:spcAft>
              <a:buClr>
                <a:schemeClr val="tx1"/>
              </a:buClr>
              <a:buChar char="•"/>
              <a:defRPr sz="1800">
                <a:solidFill>
                  <a:schemeClr val="tx1"/>
                </a:solidFill>
                <a:latin typeface="+mn-lt"/>
              </a:defRPr>
            </a:lvl4pPr>
            <a:lvl5pPr marL="1919140" indent="-263551" algn="l" rtl="0" eaLnBrk="0" fontAlgn="base" hangingPunct="0">
              <a:spcBef>
                <a:spcPct val="20000"/>
              </a:spcBef>
              <a:spcAft>
                <a:spcPct val="0"/>
              </a:spcAft>
              <a:buClr>
                <a:schemeClr val="tx1"/>
              </a:buClr>
              <a:buChar char="–"/>
              <a:defRPr sz="1300">
                <a:solidFill>
                  <a:schemeClr val="tx1"/>
                </a:solidFill>
                <a:latin typeface="+mn-lt"/>
              </a:defRPr>
            </a:lvl5pPr>
            <a:lvl6pPr marL="2428553" indent="-263551" algn="l" rtl="0" fontAlgn="base">
              <a:spcBef>
                <a:spcPct val="20000"/>
              </a:spcBef>
              <a:spcAft>
                <a:spcPct val="0"/>
              </a:spcAft>
              <a:buClr>
                <a:schemeClr val="tx1"/>
              </a:buClr>
              <a:buChar char="–"/>
              <a:defRPr sz="1300">
                <a:solidFill>
                  <a:schemeClr val="tx1"/>
                </a:solidFill>
                <a:latin typeface="+mn-lt"/>
              </a:defRPr>
            </a:lvl6pPr>
            <a:lvl7pPr marL="2937965" indent="-263551" algn="l" rtl="0" fontAlgn="base">
              <a:spcBef>
                <a:spcPct val="20000"/>
              </a:spcBef>
              <a:spcAft>
                <a:spcPct val="0"/>
              </a:spcAft>
              <a:buClr>
                <a:schemeClr val="tx1"/>
              </a:buClr>
              <a:buChar char="–"/>
              <a:defRPr sz="1300">
                <a:solidFill>
                  <a:schemeClr val="tx1"/>
                </a:solidFill>
                <a:latin typeface="+mn-lt"/>
              </a:defRPr>
            </a:lvl7pPr>
            <a:lvl8pPr marL="3447377" indent="-263551" algn="l" rtl="0" fontAlgn="base">
              <a:spcBef>
                <a:spcPct val="20000"/>
              </a:spcBef>
              <a:spcAft>
                <a:spcPct val="0"/>
              </a:spcAft>
              <a:buClr>
                <a:schemeClr val="tx1"/>
              </a:buClr>
              <a:buChar char="–"/>
              <a:defRPr sz="1300">
                <a:solidFill>
                  <a:schemeClr val="tx1"/>
                </a:solidFill>
                <a:latin typeface="+mn-lt"/>
              </a:defRPr>
            </a:lvl8pPr>
            <a:lvl9pPr marL="3956789" indent="-263551" algn="l" rtl="0" fontAlgn="base">
              <a:spcBef>
                <a:spcPct val="20000"/>
              </a:spcBef>
              <a:spcAft>
                <a:spcPct val="0"/>
              </a:spcAft>
              <a:buClr>
                <a:schemeClr val="tx1"/>
              </a:buClr>
              <a:buChar char="–"/>
              <a:defRPr sz="1300">
                <a:solidFill>
                  <a:schemeClr val="tx1"/>
                </a:solidFill>
                <a:latin typeface="+mn-lt"/>
              </a:defRPr>
            </a:lvl9pPr>
          </a:lstStyle>
          <a:p>
            <a:pPr marL="0" indent="0" defTabSz="913544" eaLnBrk="1" hangingPunct="1">
              <a:spcBef>
                <a:spcPct val="0"/>
              </a:spcBef>
              <a:buClr>
                <a:srgbClr val="000000"/>
              </a:buClr>
              <a:buSzTx/>
              <a:defRPr/>
            </a:pPr>
            <a:r>
              <a:rPr lang="en-US" sz="1200" dirty="0">
                <a:solidFill>
                  <a:srgbClr val="000000"/>
                </a:solidFill>
              </a:rPr>
              <a:t>Select an appropriate combination of Agile tools and practices to create a synergistic method.</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Kaizen</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A3</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Daily Standup</a:t>
            </a:r>
          </a:p>
          <a:p>
            <a:pPr marL="153733" indent="-153733" defTabSz="913544" eaLnBrk="1" hangingPunct="1">
              <a:spcBef>
                <a:spcPct val="0"/>
              </a:spcBef>
              <a:buClr>
                <a:srgbClr val="000000"/>
              </a:buClr>
              <a:buSzTx/>
              <a:buFont typeface="Wingdings" pitchFamily="2" charset="2"/>
              <a:buChar char="§"/>
              <a:defRPr/>
            </a:pPr>
            <a:r>
              <a:rPr lang="en-US" sz="1200" dirty="0">
                <a:solidFill>
                  <a:srgbClr val="000000"/>
                </a:solidFill>
              </a:rPr>
              <a:t>Etc..</a:t>
            </a:r>
          </a:p>
        </p:txBody>
      </p:sp>
      <p:sp>
        <p:nvSpPr>
          <p:cNvPr id="19" name="Line 5"/>
          <p:cNvSpPr>
            <a:spLocks noChangeShapeType="1"/>
          </p:cNvSpPr>
          <p:nvPr/>
        </p:nvSpPr>
        <p:spPr bwMode="gray">
          <a:xfrm>
            <a:off x="6364781" y="1212118"/>
            <a:ext cx="3026664" cy="0"/>
          </a:xfrm>
          <a:prstGeom prst="line">
            <a:avLst/>
          </a:prstGeom>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ctr" anchorCtr="1"/>
          <a:lstStyle/>
          <a:p>
            <a:pPr defTabSz="913544">
              <a:defRPr/>
            </a:pPr>
            <a:endParaRPr lang="en-US" dirty="0">
              <a:solidFill>
                <a:srgbClr val="000000"/>
              </a:solidFill>
              <a:latin typeface="Arial"/>
              <a:cs typeface="+mn-cs"/>
            </a:endParaRPr>
          </a:p>
        </p:txBody>
      </p:sp>
      <p:sp>
        <p:nvSpPr>
          <p:cNvPr id="20" name="Rectangle 6"/>
          <p:cNvSpPr>
            <a:spLocks noChangeArrowheads="1"/>
          </p:cNvSpPr>
          <p:nvPr/>
        </p:nvSpPr>
        <p:spPr bwMode="gray">
          <a:xfrm>
            <a:off x="7047991" y="1113918"/>
            <a:ext cx="1660228" cy="190052"/>
          </a:xfrm>
          <a:prstGeom prst="rect">
            <a:avLst/>
          </a:prstGeom>
          <a:solidFill>
            <a:srgbClr val="F4FAE9"/>
          </a:solidFill>
          <a:ln>
            <a:noFill/>
          </a:ln>
          <a:effectLst/>
          <a:extLst>
            <a:ext uri="{91240B29-F687-4F45-9708-019B960494DF}">
              <a14:hiddenLine xmlns:a14="http://schemas.microsoft.com/office/drawing/2010/main" w="12700" cap="rnd"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92" tIns="0" rIns="71992" bIns="0" anchor="ctr" anchorCtr="1">
            <a:spAutoFit/>
          </a:bodyPr>
          <a:lstStyle/>
          <a:p>
            <a:pPr defTabSz="913544">
              <a:lnSpc>
                <a:spcPct val="95000"/>
              </a:lnSpc>
              <a:defRPr/>
            </a:pPr>
            <a:r>
              <a:rPr lang="en-GB" sz="1300" b="1" dirty="0">
                <a:solidFill>
                  <a:srgbClr val="000000"/>
                </a:solidFill>
                <a:latin typeface="Arial"/>
              </a:rPr>
              <a:t>Select your tools…</a:t>
            </a:r>
          </a:p>
        </p:txBody>
      </p:sp>
      <p:sp>
        <p:nvSpPr>
          <p:cNvPr id="25" name="TextBox 24"/>
          <p:cNvSpPr txBox="1"/>
          <p:nvPr/>
        </p:nvSpPr>
        <p:spPr>
          <a:xfrm>
            <a:off x="5773687" y="1533151"/>
            <a:ext cx="708080" cy="923330"/>
          </a:xfrm>
          <a:prstGeom prst="rect">
            <a:avLst/>
          </a:prstGeom>
          <a:noFill/>
        </p:spPr>
        <p:txBody>
          <a:bodyPr wrap="square" lIns="91429" tIns="45715" rIns="91429" bIns="45715" rtlCol="0">
            <a:spAutoFit/>
          </a:bodyPr>
          <a:lstStyle/>
          <a:p>
            <a:pPr algn="ctr"/>
            <a:r>
              <a:rPr lang="en-US" sz="5300" dirty="0"/>
              <a:t>2</a:t>
            </a:r>
          </a:p>
        </p:txBody>
      </p:sp>
      <p:grpSp>
        <p:nvGrpSpPr>
          <p:cNvPr id="2" name="Group 1"/>
          <p:cNvGrpSpPr/>
          <p:nvPr/>
        </p:nvGrpSpPr>
        <p:grpSpPr>
          <a:xfrm rot="18747642">
            <a:off x="2420665" y="1487718"/>
            <a:ext cx="5394358" cy="5509449"/>
            <a:chOff x="6157913" y="1328738"/>
            <a:chExt cx="2376487" cy="2217737"/>
          </a:xfrm>
          <a:solidFill>
            <a:schemeClr val="accent2">
              <a:alpha val="32000"/>
            </a:schemeClr>
          </a:solidFill>
        </p:grpSpPr>
        <p:sp>
          <p:nvSpPr>
            <p:cNvPr id="32" name="Freeform 106"/>
            <p:cNvSpPr>
              <a:spLocks/>
            </p:cNvSpPr>
            <p:nvPr/>
          </p:nvSpPr>
          <p:spPr bwMode="blackWhite">
            <a:xfrm>
              <a:off x="6335713" y="1328738"/>
              <a:ext cx="1976437" cy="939800"/>
            </a:xfrm>
            <a:custGeom>
              <a:avLst/>
              <a:gdLst>
                <a:gd name="T0" fmla="*/ 1251022 w 1553"/>
                <a:gd name="T1" fmla="*/ 728875 h 753"/>
                <a:gd name="T2" fmla="*/ 1803356 w 1553"/>
                <a:gd name="T3" fmla="*/ 675208 h 753"/>
                <a:gd name="T4" fmla="*/ 1975164 w 1553"/>
                <a:gd name="T5" fmla="*/ 187211 h 753"/>
                <a:gd name="T6" fmla="*/ 1841535 w 1553"/>
                <a:gd name="T7" fmla="*/ 283313 h 753"/>
                <a:gd name="T8" fmla="*/ 1779175 w 1553"/>
                <a:gd name="T9" fmla="*/ 232142 h 753"/>
                <a:gd name="T10" fmla="*/ 1714270 w 1553"/>
                <a:gd name="T11" fmla="*/ 185963 h 753"/>
                <a:gd name="T12" fmla="*/ 1646819 w 1553"/>
                <a:gd name="T13" fmla="*/ 144777 h 753"/>
                <a:gd name="T14" fmla="*/ 1575550 w 1553"/>
                <a:gd name="T15" fmla="*/ 108582 h 753"/>
                <a:gd name="T16" fmla="*/ 1503008 w 1553"/>
                <a:gd name="T17" fmla="*/ 76133 h 753"/>
                <a:gd name="T18" fmla="*/ 1427922 w 1553"/>
                <a:gd name="T19" fmla="*/ 51171 h 753"/>
                <a:gd name="T20" fmla="*/ 1349017 w 1553"/>
                <a:gd name="T21" fmla="*/ 28706 h 753"/>
                <a:gd name="T22" fmla="*/ 1271385 w 1553"/>
                <a:gd name="T23" fmla="*/ 14977 h 753"/>
                <a:gd name="T24" fmla="*/ 1191207 w 1553"/>
                <a:gd name="T25" fmla="*/ 4992 h 753"/>
                <a:gd name="T26" fmla="*/ 1111030 w 1553"/>
                <a:gd name="T27" fmla="*/ 0 h 753"/>
                <a:gd name="T28" fmla="*/ 1030853 w 1553"/>
                <a:gd name="T29" fmla="*/ 2496 h 753"/>
                <a:gd name="T30" fmla="*/ 951948 w 1553"/>
                <a:gd name="T31" fmla="*/ 9985 h 753"/>
                <a:gd name="T32" fmla="*/ 871770 w 1553"/>
                <a:gd name="T33" fmla="*/ 23713 h 753"/>
                <a:gd name="T34" fmla="*/ 794138 w 1553"/>
                <a:gd name="T35" fmla="*/ 42435 h 753"/>
                <a:gd name="T36" fmla="*/ 717779 w 1553"/>
                <a:gd name="T37" fmla="*/ 66148 h 753"/>
                <a:gd name="T38" fmla="*/ 643965 w 1553"/>
                <a:gd name="T39" fmla="*/ 94854 h 753"/>
                <a:gd name="T40" fmla="*/ 571423 w 1553"/>
                <a:gd name="T41" fmla="*/ 129800 h 753"/>
                <a:gd name="T42" fmla="*/ 502700 w 1553"/>
                <a:gd name="T43" fmla="*/ 170986 h 753"/>
                <a:gd name="T44" fmla="*/ 435249 w 1553"/>
                <a:gd name="T45" fmla="*/ 214669 h 753"/>
                <a:gd name="T46" fmla="*/ 374161 w 1553"/>
                <a:gd name="T47" fmla="*/ 264592 h 753"/>
                <a:gd name="T48" fmla="*/ 315619 w 1553"/>
                <a:gd name="T49" fmla="*/ 317011 h 753"/>
                <a:gd name="T50" fmla="*/ 260895 w 1553"/>
                <a:gd name="T51" fmla="*/ 375670 h 753"/>
                <a:gd name="T52" fmla="*/ 209988 w 1553"/>
                <a:gd name="T53" fmla="*/ 436826 h 753"/>
                <a:gd name="T54" fmla="*/ 165445 w 1553"/>
                <a:gd name="T55" fmla="*/ 500478 h 753"/>
                <a:gd name="T56" fmla="*/ 124720 w 1553"/>
                <a:gd name="T57" fmla="*/ 569122 h 753"/>
                <a:gd name="T58" fmla="*/ 90359 w 1553"/>
                <a:gd name="T59" fmla="*/ 639014 h 753"/>
                <a:gd name="T60" fmla="*/ 58542 w 1553"/>
                <a:gd name="T61" fmla="*/ 711402 h 753"/>
                <a:gd name="T62" fmla="*/ 34362 w 1553"/>
                <a:gd name="T63" fmla="*/ 787535 h 753"/>
                <a:gd name="T64" fmla="*/ 13999 w 1553"/>
                <a:gd name="T65" fmla="*/ 863667 h 753"/>
                <a:gd name="T66" fmla="*/ 0 w 1553"/>
                <a:gd name="T67" fmla="*/ 938552 h 753"/>
                <a:gd name="T68" fmla="*/ 282530 w 1553"/>
                <a:gd name="T69" fmla="*/ 758829 h 753"/>
                <a:gd name="T70" fmla="*/ 559969 w 1553"/>
                <a:gd name="T71" fmla="*/ 934808 h 753"/>
                <a:gd name="T72" fmla="*/ 579059 w 1553"/>
                <a:gd name="T73" fmla="*/ 886133 h 753"/>
                <a:gd name="T74" fmla="*/ 603240 w 1553"/>
                <a:gd name="T75" fmla="*/ 836210 h 753"/>
                <a:gd name="T76" fmla="*/ 633783 w 1553"/>
                <a:gd name="T77" fmla="*/ 788783 h 753"/>
                <a:gd name="T78" fmla="*/ 668145 w 1553"/>
                <a:gd name="T79" fmla="*/ 743852 h 753"/>
                <a:gd name="T80" fmla="*/ 707598 w 1553"/>
                <a:gd name="T81" fmla="*/ 702666 h 753"/>
                <a:gd name="T82" fmla="*/ 749595 w 1553"/>
                <a:gd name="T83" fmla="*/ 665224 h 753"/>
                <a:gd name="T84" fmla="*/ 796684 w 1553"/>
                <a:gd name="T85" fmla="*/ 632774 h 753"/>
                <a:gd name="T86" fmla="*/ 846317 w 1553"/>
                <a:gd name="T87" fmla="*/ 605316 h 753"/>
                <a:gd name="T88" fmla="*/ 898496 w 1553"/>
                <a:gd name="T89" fmla="*/ 582851 h 753"/>
                <a:gd name="T90" fmla="*/ 953220 w 1553"/>
                <a:gd name="T91" fmla="*/ 565378 h 753"/>
                <a:gd name="T92" fmla="*/ 1009217 w 1553"/>
                <a:gd name="T93" fmla="*/ 552897 h 753"/>
                <a:gd name="T94" fmla="*/ 1065214 w 1553"/>
                <a:gd name="T95" fmla="*/ 546657 h 753"/>
                <a:gd name="T96" fmla="*/ 1122484 w 1553"/>
                <a:gd name="T97" fmla="*/ 546657 h 753"/>
                <a:gd name="T98" fmla="*/ 1179753 w 1553"/>
                <a:gd name="T99" fmla="*/ 551649 h 753"/>
                <a:gd name="T100" fmla="*/ 1235750 w 1553"/>
                <a:gd name="T101" fmla="*/ 561633 h 753"/>
                <a:gd name="T102" fmla="*/ 1290475 w 1553"/>
                <a:gd name="T103" fmla="*/ 579107 h 753"/>
                <a:gd name="T104" fmla="*/ 1342654 w 1553"/>
                <a:gd name="T105" fmla="*/ 599076 h 753"/>
                <a:gd name="T106" fmla="*/ 1393560 w 1553"/>
                <a:gd name="T107" fmla="*/ 626533 h 753"/>
                <a:gd name="T108" fmla="*/ 1251022 w 1553"/>
                <a:gd name="T109" fmla="*/ 728875 h 7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553" h="753">
                  <a:moveTo>
                    <a:pt x="983" y="584"/>
                  </a:moveTo>
                  <a:lnTo>
                    <a:pt x="1417" y="541"/>
                  </a:lnTo>
                  <a:lnTo>
                    <a:pt x="1552" y="150"/>
                  </a:lnTo>
                  <a:lnTo>
                    <a:pt x="1447" y="227"/>
                  </a:lnTo>
                  <a:lnTo>
                    <a:pt x="1398" y="186"/>
                  </a:lnTo>
                  <a:lnTo>
                    <a:pt x="1347" y="149"/>
                  </a:lnTo>
                  <a:lnTo>
                    <a:pt x="1294" y="116"/>
                  </a:lnTo>
                  <a:lnTo>
                    <a:pt x="1238" y="87"/>
                  </a:lnTo>
                  <a:lnTo>
                    <a:pt x="1181" y="61"/>
                  </a:lnTo>
                  <a:lnTo>
                    <a:pt x="1122" y="41"/>
                  </a:lnTo>
                  <a:lnTo>
                    <a:pt x="1060" y="23"/>
                  </a:lnTo>
                  <a:lnTo>
                    <a:pt x="999" y="12"/>
                  </a:lnTo>
                  <a:lnTo>
                    <a:pt x="936" y="4"/>
                  </a:lnTo>
                  <a:lnTo>
                    <a:pt x="873" y="0"/>
                  </a:lnTo>
                  <a:lnTo>
                    <a:pt x="810" y="2"/>
                  </a:lnTo>
                  <a:lnTo>
                    <a:pt x="748" y="8"/>
                  </a:lnTo>
                  <a:lnTo>
                    <a:pt x="685" y="19"/>
                  </a:lnTo>
                  <a:lnTo>
                    <a:pt x="624" y="34"/>
                  </a:lnTo>
                  <a:lnTo>
                    <a:pt x="564" y="53"/>
                  </a:lnTo>
                  <a:lnTo>
                    <a:pt x="506" y="76"/>
                  </a:lnTo>
                  <a:lnTo>
                    <a:pt x="449" y="104"/>
                  </a:lnTo>
                  <a:lnTo>
                    <a:pt x="395" y="137"/>
                  </a:lnTo>
                  <a:lnTo>
                    <a:pt x="342" y="172"/>
                  </a:lnTo>
                  <a:lnTo>
                    <a:pt x="294" y="212"/>
                  </a:lnTo>
                  <a:lnTo>
                    <a:pt x="248" y="254"/>
                  </a:lnTo>
                  <a:lnTo>
                    <a:pt x="205" y="301"/>
                  </a:lnTo>
                  <a:lnTo>
                    <a:pt x="165" y="350"/>
                  </a:lnTo>
                  <a:lnTo>
                    <a:pt x="130" y="401"/>
                  </a:lnTo>
                  <a:lnTo>
                    <a:pt x="98" y="456"/>
                  </a:lnTo>
                  <a:lnTo>
                    <a:pt x="71" y="512"/>
                  </a:lnTo>
                  <a:lnTo>
                    <a:pt x="46" y="570"/>
                  </a:lnTo>
                  <a:lnTo>
                    <a:pt x="27" y="631"/>
                  </a:lnTo>
                  <a:lnTo>
                    <a:pt x="11" y="692"/>
                  </a:lnTo>
                  <a:lnTo>
                    <a:pt x="0" y="752"/>
                  </a:lnTo>
                  <a:lnTo>
                    <a:pt x="222" y="608"/>
                  </a:lnTo>
                  <a:lnTo>
                    <a:pt x="440" y="749"/>
                  </a:lnTo>
                  <a:lnTo>
                    <a:pt x="455" y="710"/>
                  </a:lnTo>
                  <a:lnTo>
                    <a:pt x="474" y="670"/>
                  </a:lnTo>
                  <a:lnTo>
                    <a:pt x="498" y="632"/>
                  </a:lnTo>
                  <a:lnTo>
                    <a:pt x="525" y="596"/>
                  </a:lnTo>
                  <a:lnTo>
                    <a:pt x="556" y="563"/>
                  </a:lnTo>
                  <a:lnTo>
                    <a:pt x="589" y="533"/>
                  </a:lnTo>
                  <a:lnTo>
                    <a:pt x="626" y="507"/>
                  </a:lnTo>
                  <a:lnTo>
                    <a:pt x="665" y="485"/>
                  </a:lnTo>
                  <a:lnTo>
                    <a:pt x="706" y="467"/>
                  </a:lnTo>
                  <a:lnTo>
                    <a:pt x="749" y="453"/>
                  </a:lnTo>
                  <a:lnTo>
                    <a:pt x="793" y="443"/>
                  </a:lnTo>
                  <a:lnTo>
                    <a:pt x="837" y="438"/>
                  </a:lnTo>
                  <a:lnTo>
                    <a:pt x="882" y="438"/>
                  </a:lnTo>
                  <a:lnTo>
                    <a:pt x="927" y="442"/>
                  </a:lnTo>
                  <a:lnTo>
                    <a:pt x="971" y="450"/>
                  </a:lnTo>
                  <a:lnTo>
                    <a:pt x="1014" y="464"/>
                  </a:lnTo>
                  <a:lnTo>
                    <a:pt x="1055" y="480"/>
                  </a:lnTo>
                  <a:lnTo>
                    <a:pt x="1095" y="502"/>
                  </a:lnTo>
                  <a:lnTo>
                    <a:pt x="983" y="584"/>
                  </a:lnTo>
                </a:path>
              </a:pathLst>
            </a:custGeom>
            <a:grpFill/>
            <a:ln>
              <a:noFill/>
            </a:ln>
            <a:effectLst/>
          </p:spPr>
          <p:txBody>
            <a:bodyPr/>
            <a:lstStyle/>
            <a:p>
              <a:endParaRPr lang="en-US"/>
            </a:p>
          </p:txBody>
        </p:sp>
        <p:sp>
          <p:nvSpPr>
            <p:cNvPr id="33" name="Freeform 107"/>
            <p:cNvSpPr>
              <a:spLocks/>
            </p:cNvSpPr>
            <p:nvPr/>
          </p:nvSpPr>
          <p:spPr bwMode="blackWhite">
            <a:xfrm>
              <a:off x="6157913" y="2157413"/>
              <a:ext cx="1554162" cy="1336675"/>
            </a:xfrm>
            <a:custGeom>
              <a:avLst/>
              <a:gdLst>
                <a:gd name="T0" fmla="*/ 1552889 w 1221"/>
                <a:gd name="T1" fmla="*/ 1300481 h 1071"/>
                <a:gd name="T2" fmla="*/ 1275406 w 1221"/>
                <a:gd name="T3" fmla="*/ 1057109 h 1071"/>
                <a:gd name="T4" fmla="*/ 1375962 w 1221"/>
                <a:gd name="T5" fmla="*/ 786279 h 1071"/>
                <a:gd name="T6" fmla="*/ 1321229 w 1221"/>
                <a:gd name="T7" fmla="*/ 792520 h 1071"/>
                <a:gd name="T8" fmla="*/ 1265223 w 1221"/>
                <a:gd name="T9" fmla="*/ 793768 h 1071"/>
                <a:gd name="T10" fmla="*/ 1209217 w 1221"/>
                <a:gd name="T11" fmla="*/ 791272 h 1071"/>
                <a:gd name="T12" fmla="*/ 1153211 w 1221"/>
                <a:gd name="T13" fmla="*/ 781287 h 1071"/>
                <a:gd name="T14" fmla="*/ 1101024 w 1221"/>
                <a:gd name="T15" fmla="*/ 766310 h 1071"/>
                <a:gd name="T16" fmla="*/ 1047564 w 1221"/>
                <a:gd name="T17" fmla="*/ 747589 h 1071"/>
                <a:gd name="T18" fmla="*/ 997922 w 1221"/>
                <a:gd name="T19" fmla="*/ 722628 h 1071"/>
                <a:gd name="T20" fmla="*/ 950826 w 1221"/>
                <a:gd name="T21" fmla="*/ 693923 h 1071"/>
                <a:gd name="T22" fmla="*/ 907549 w 1221"/>
                <a:gd name="T23" fmla="*/ 658977 h 1071"/>
                <a:gd name="T24" fmla="*/ 868090 w 1221"/>
                <a:gd name="T25" fmla="*/ 619039 h 1071"/>
                <a:gd name="T26" fmla="*/ 831178 w 1221"/>
                <a:gd name="T27" fmla="*/ 577853 h 1071"/>
                <a:gd name="T28" fmla="*/ 800629 w 1221"/>
                <a:gd name="T29" fmla="*/ 532923 h 1071"/>
                <a:gd name="T30" fmla="*/ 775172 w 1221"/>
                <a:gd name="T31" fmla="*/ 486744 h 1071"/>
                <a:gd name="T32" fmla="*/ 756079 w 1221"/>
                <a:gd name="T33" fmla="*/ 439318 h 1071"/>
                <a:gd name="T34" fmla="*/ 739532 w 1221"/>
                <a:gd name="T35" fmla="*/ 391892 h 1071"/>
                <a:gd name="T36" fmla="*/ 729349 w 1221"/>
                <a:gd name="T37" fmla="*/ 340721 h 1071"/>
                <a:gd name="T38" fmla="*/ 722984 w 1221"/>
                <a:gd name="T39" fmla="*/ 289551 h 1071"/>
                <a:gd name="T40" fmla="*/ 906276 w 1221"/>
                <a:gd name="T41" fmla="*/ 289551 h 1071"/>
                <a:gd name="T42" fmla="*/ 468412 w 1221"/>
                <a:gd name="T43" fmla="*/ 0 h 1071"/>
                <a:gd name="T44" fmla="*/ 0 w 1221"/>
                <a:gd name="T45" fmla="*/ 293295 h 1071"/>
                <a:gd name="T46" fmla="*/ 170563 w 1221"/>
                <a:gd name="T47" fmla="*/ 292047 h 1071"/>
                <a:gd name="T48" fmla="*/ 176928 w 1221"/>
                <a:gd name="T49" fmla="*/ 369427 h 1071"/>
                <a:gd name="T50" fmla="*/ 188383 w 1221"/>
                <a:gd name="T51" fmla="*/ 446806 h 1071"/>
                <a:gd name="T52" fmla="*/ 204930 w 1221"/>
                <a:gd name="T53" fmla="*/ 522938 h 1071"/>
                <a:gd name="T54" fmla="*/ 226569 w 1221"/>
                <a:gd name="T55" fmla="*/ 597822 h 1071"/>
                <a:gd name="T56" fmla="*/ 254572 w 1221"/>
                <a:gd name="T57" fmla="*/ 671458 h 1071"/>
                <a:gd name="T58" fmla="*/ 288939 w 1221"/>
                <a:gd name="T59" fmla="*/ 742597 h 1071"/>
                <a:gd name="T60" fmla="*/ 327125 w 1221"/>
                <a:gd name="T61" fmla="*/ 811241 h 1071"/>
                <a:gd name="T62" fmla="*/ 370402 w 1221"/>
                <a:gd name="T63" fmla="*/ 876140 h 1071"/>
                <a:gd name="T64" fmla="*/ 417498 w 1221"/>
                <a:gd name="T65" fmla="*/ 937295 h 1071"/>
                <a:gd name="T66" fmla="*/ 469685 w 1221"/>
                <a:gd name="T67" fmla="*/ 994706 h 1071"/>
                <a:gd name="T68" fmla="*/ 525691 w 1221"/>
                <a:gd name="T69" fmla="*/ 1049621 h 1071"/>
                <a:gd name="T70" fmla="*/ 584243 w 1221"/>
                <a:gd name="T71" fmla="*/ 1100791 h 1071"/>
                <a:gd name="T72" fmla="*/ 647886 w 1221"/>
                <a:gd name="T73" fmla="*/ 1146969 h 1071"/>
                <a:gd name="T74" fmla="*/ 715347 w 1221"/>
                <a:gd name="T75" fmla="*/ 1186907 h 1071"/>
                <a:gd name="T76" fmla="*/ 785355 w 1221"/>
                <a:gd name="T77" fmla="*/ 1224349 h 1071"/>
                <a:gd name="T78" fmla="*/ 856635 w 1221"/>
                <a:gd name="T79" fmla="*/ 1256799 h 1071"/>
                <a:gd name="T80" fmla="*/ 931733 w 1221"/>
                <a:gd name="T81" fmla="*/ 1281760 h 1071"/>
                <a:gd name="T82" fmla="*/ 1006832 w 1221"/>
                <a:gd name="T83" fmla="*/ 1304225 h 1071"/>
                <a:gd name="T84" fmla="*/ 1084477 w 1221"/>
                <a:gd name="T85" fmla="*/ 1319202 h 1071"/>
                <a:gd name="T86" fmla="*/ 1162121 w 1221"/>
                <a:gd name="T87" fmla="*/ 1331683 h 1071"/>
                <a:gd name="T88" fmla="*/ 1241038 w 1221"/>
                <a:gd name="T89" fmla="*/ 1335427 h 1071"/>
                <a:gd name="T90" fmla="*/ 1319956 w 1221"/>
                <a:gd name="T91" fmla="*/ 1335427 h 1071"/>
                <a:gd name="T92" fmla="*/ 1397600 w 1221"/>
                <a:gd name="T93" fmla="*/ 1330435 h 1071"/>
                <a:gd name="T94" fmla="*/ 1476518 w 1221"/>
                <a:gd name="T95" fmla="*/ 1317954 h 1071"/>
                <a:gd name="T96" fmla="*/ 1552889 w 1221"/>
                <a:gd name="T97" fmla="*/ 1300481 h 107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221" h="1071">
                  <a:moveTo>
                    <a:pt x="1220" y="1042"/>
                  </a:moveTo>
                  <a:lnTo>
                    <a:pt x="1002" y="847"/>
                  </a:lnTo>
                  <a:lnTo>
                    <a:pt x="1081" y="630"/>
                  </a:lnTo>
                  <a:lnTo>
                    <a:pt x="1038" y="635"/>
                  </a:lnTo>
                  <a:lnTo>
                    <a:pt x="994" y="636"/>
                  </a:lnTo>
                  <a:lnTo>
                    <a:pt x="950" y="634"/>
                  </a:lnTo>
                  <a:lnTo>
                    <a:pt x="906" y="626"/>
                  </a:lnTo>
                  <a:lnTo>
                    <a:pt x="865" y="614"/>
                  </a:lnTo>
                  <a:lnTo>
                    <a:pt x="823" y="599"/>
                  </a:lnTo>
                  <a:lnTo>
                    <a:pt x="784" y="579"/>
                  </a:lnTo>
                  <a:lnTo>
                    <a:pt x="747" y="556"/>
                  </a:lnTo>
                  <a:lnTo>
                    <a:pt x="713" y="528"/>
                  </a:lnTo>
                  <a:lnTo>
                    <a:pt x="682" y="496"/>
                  </a:lnTo>
                  <a:lnTo>
                    <a:pt x="653" y="463"/>
                  </a:lnTo>
                  <a:lnTo>
                    <a:pt x="629" y="427"/>
                  </a:lnTo>
                  <a:lnTo>
                    <a:pt x="609" y="390"/>
                  </a:lnTo>
                  <a:lnTo>
                    <a:pt x="594" y="352"/>
                  </a:lnTo>
                  <a:lnTo>
                    <a:pt x="581" y="314"/>
                  </a:lnTo>
                  <a:lnTo>
                    <a:pt x="573" y="273"/>
                  </a:lnTo>
                  <a:lnTo>
                    <a:pt x="568" y="232"/>
                  </a:lnTo>
                  <a:lnTo>
                    <a:pt x="712" y="232"/>
                  </a:lnTo>
                  <a:lnTo>
                    <a:pt x="368" y="0"/>
                  </a:lnTo>
                  <a:lnTo>
                    <a:pt x="0" y="235"/>
                  </a:lnTo>
                  <a:lnTo>
                    <a:pt x="134" y="234"/>
                  </a:lnTo>
                  <a:lnTo>
                    <a:pt x="139" y="296"/>
                  </a:lnTo>
                  <a:lnTo>
                    <a:pt x="148" y="358"/>
                  </a:lnTo>
                  <a:lnTo>
                    <a:pt x="161" y="419"/>
                  </a:lnTo>
                  <a:lnTo>
                    <a:pt x="178" y="479"/>
                  </a:lnTo>
                  <a:lnTo>
                    <a:pt x="200" y="538"/>
                  </a:lnTo>
                  <a:lnTo>
                    <a:pt x="227" y="595"/>
                  </a:lnTo>
                  <a:lnTo>
                    <a:pt x="257" y="650"/>
                  </a:lnTo>
                  <a:lnTo>
                    <a:pt x="291" y="702"/>
                  </a:lnTo>
                  <a:lnTo>
                    <a:pt x="328" y="751"/>
                  </a:lnTo>
                  <a:lnTo>
                    <a:pt x="369" y="797"/>
                  </a:lnTo>
                  <a:lnTo>
                    <a:pt x="413" y="841"/>
                  </a:lnTo>
                  <a:lnTo>
                    <a:pt x="459" y="882"/>
                  </a:lnTo>
                  <a:lnTo>
                    <a:pt x="509" y="919"/>
                  </a:lnTo>
                  <a:lnTo>
                    <a:pt x="562" y="951"/>
                  </a:lnTo>
                  <a:lnTo>
                    <a:pt x="617" y="981"/>
                  </a:lnTo>
                  <a:lnTo>
                    <a:pt x="673" y="1007"/>
                  </a:lnTo>
                  <a:lnTo>
                    <a:pt x="732" y="1027"/>
                  </a:lnTo>
                  <a:lnTo>
                    <a:pt x="791" y="1045"/>
                  </a:lnTo>
                  <a:lnTo>
                    <a:pt x="852" y="1057"/>
                  </a:lnTo>
                  <a:lnTo>
                    <a:pt x="913" y="1067"/>
                  </a:lnTo>
                  <a:lnTo>
                    <a:pt x="975" y="1070"/>
                  </a:lnTo>
                  <a:lnTo>
                    <a:pt x="1037" y="1070"/>
                  </a:lnTo>
                  <a:lnTo>
                    <a:pt x="1098" y="1066"/>
                  </a:lnTo>
                  <a:lnTo>
                    <a:pt x="1160" y="1056"/>
                  </a:lnTo>
                  <a:lnTo>
                    <a:pt x="1220" y="1042"/>
                  </a:lnTo>
                </a:path>
              </a:pathLst>
            </a:custGeom>
            <a:grpFill/>
            <a:ln>
              <a:noFill/>
            </a:ln>
            <a:effectLst/>
          </p:spPr>
          <p:txBody>
            <a:bodyPr/>
            <a:lstStyle/>
            <a:p>
              <a:endParaRPr lang="en-US"/>
            </a:p>
          </p:txBody>
        </p:sp>
        <p:sp>
          <p:nvSpPr>
            <p:cNvPr id="34" name="Freeform 108"/>
            <p:cNvSpPr>
              <a:spLocks/>
            </p:cNvSpPr>
            <p:nvPr/>
          </p:nvSpPr>
          <p:spPr bwMode="blackWhite">
            <a:xfrm>
              <a:off x="7524750" y="1749425"/>
              <a:ext cx="1009650" cy="1797050"/>
            </a:xfrm>
            <a:custGeom>
              <a:avLst/>
              <a:gdLst>
                <a:gd name="T0" fmla="*/ 364136 w 793"/>
                <a:gd name="T1" fmla="*/ 1642304 h 1440"/>
                <a:gd name="T2" fmla="*/ 432889 w 793"/>
                <a:gd name="T3" fmla="*/ 1609857 h 1440"/>
                <a:gd name="T4" fmla="*/ 499096 w 793"/>
                <a:gd name="T5" fmla="*/ 1572419 h 1440"/>
                <a:gd name="T6" fmla="*/ 562756 w 793"/>
                <a:gd name="T7" fmla="*/ 1528740 h 1440"/>
                <a:gd name="T8" fmla="*/ 623869 w 793"/>
                <a:gd name="T9" fmla="*/ 1481318 h 1440"/>
                <a:gd name="T10" fmla="*/ 681164 w 793"/>
                <a:gd name="T11" fmla="*/ 1430152 h 1440"/>
                <a:gd name="T12" fmla="*/ 733365 w 793"/>
                <a:gd name="T13" fmla="*/ 1375242 h 1440"/>
                <a:gd name="T14" fmla="*/ 784293 w 793"/>
                <a:gd name="T15" fmla="*/ 1316589 h 1440"/>
                <a:gd name="T16" fmla="*/ 827582 w 793"/>
                <a:gd name="T17" fmla="*/ 1254191 h 1440"/>
                <a:gd name="T18" fmla="*/ 868324 w 793"/>
                <a:gd name="T19" fmla="*/ 1189298 h 1440"/>
                <a:gd name="T20" fmla="*/ 902701 w 793"/>
                <a:gd name="T21" fmla="*/ 1123156 h 1440"/>
                <a:gd name="T22" fmla="*/ 934531 w 793"/>
                <a:gd name="T23" fmla="*/ 1053271 h 1440"/>
                <a:gd name="T24" fmla="*/ 958722 w 793"/>
                <a:gd name="T25" fmla="*/ 980890 h 1440"/>
                <a:gd name="T26" fmla="*/ 980366 w 793"/>
                <a:gd name="T27" fmla="*/ 907261 h 1440"/>
                <a:gd name="T28" fmla="*/ 994372 w 793"/>
                <a:gd name="T29" fmla="*/ 833632 h 1440"/>
                <a:gd name="T30" fmla="*/ 1004557 w 793"/>
                <a:gd name="T31" fmla="*/ 758754 h 1440"/>
                <a:gd name="T32" fmla="*/ 1008377 w 793"/>
                <a:gd name="T33" fmla="*/ 682629 h 1440"/>
                <a:gd name="T34" fmla="*/ 1005830 w 793"/>
                <a:gd name="T35" fmla="*/ 607752 h 1440"/>
                <a:gd name="T36" fmla="*/ 1000738 w 793"/>
                <a:gd name="T37" fmla="*/ 532875 h 1440"/>
                <a:gd name="T38" fmla="*/ 986732 w 793"/>
                <a:gd name="T39" fmla="*/ 457998 h 1440"/>
                <a:gd name="T40" fmla="*/ 970181 w 793"/>
                <a:gd name="T41" fmla="*/ 384369 h 1440"/>
                <a:gd name="T42" fmla="*/ 947263 w 793"/>
                <a:gd name="T43" fmla="*/ 310740 h 1440"/>
                <a:gd name="T44" fmla="*/ 919253 w 793"/>
                <a:gd name="T45" fmla="*/ 240855 h 1440"/>
                <a:gd name="T46" fmla="*/ 887423 w 793"/>
                <a:gd name="T47" fmla="*/ 170969 h 1440"/>
                <a:gd name="T48" fmla="*/ 849226 w 793"/>
                <a:gd name="T49" fmla="*/ 104828 h 1440"/>
                <a:gd name="T50" fmla="*/ 813577 w 793"/>
                <a:gd name="T51" fmla="*/ 51166 h 1440"/>
                <a:gd name="T52" fmla="*/ 775381 w 793"/>
                <a:gd name="T53" fmla="*/ 0 h 1440"/>
                <a:gd name="T54" fmla="*/ 663339 w 793"/>
                <a:gd name="T55" fmla="*/ 308244 h 1440"/>
                <a:gd name="T56" fmla="*/ 352677 w 793"/>
                <a:gd name="T57" fmla="*/ 349426 h 1440"/>
                <a:gd name="T58" fmla="*/ 374322 w 793"/>
                <a:gd name="T59" fmla="*/ 384369 h 1440"/>
                <a:gd name="T60" fmla="*/ 402332 w 793"/>
                <a:gd name="T61" fmla="*/ 433039 h 1440"/>
                <a:gd name="T62" fmla="*/ 422703 w 793"/>
                <a:gd name="T63" fmla="*/ 485453 h 1440"/>
                <a:gd name="T64" fmla="*/ 439255 w 793"/>
                <a:gd name="T65" fmla="*/ 537867 h 1440"/>
                <a:gd name="T66" fmla="*/ 449441 w 793"/>
                <a:gd name="T67" fmla="*/ 592777 h 1440"/>
                <a:gd name="T68" fmla="*/ 454533 w 793"/>
                <a:gd name="T69" fmla="*/ 647687 h 1440"/>
                <a:gd name="T70" fmla="*/ 451987 w 793"/>
                <a:gd name="T71" fmla="*/ 703845 h 1440"/>
                <a:gd name="T72" fmla="*/ 445621 w 793"/>
                <a:gd name="T73" fmla="*/ 758754 h 1440"/>
                <a:gd name="T74" fmla="*/ 431616 w 793"/>
                <a:gd name="T75" fmla="*/ 813664 h 1440"/>
                <a:gd name="T76" fmla="*/ 413791 w 793"/>
                <a:gd name="T77" fmla="*/ 866078 h 1440"/>
                <a:gd name="T78" fmla="*/ 389600 w 793"/>
                <a:gd name="T79" fmla="*/ 915996 h 1440"/>
                <a:gd name="T80" fmla="*/ 361590 w 793"/>
                <a:gd name="T81" fmla="*/ 963418 h 1440"/>
                <a:gd name="T82" fmla="*/ 327213 w 793"/>
                <a:gd name="T83" fmla="*/ 1008345 h 1440"/>
                <a:gd name="T84" fmla="*/ 289017 w 793"/>
                <a:gd name="T85" fmla="*/ 1049527 h 1440"/>
                <a:gd name="T86" fmla="*/ 245728 w 793"/>
                <a:gd name="T87" fmla="*/ 1086966 h 1440"/>
                <a:gd name="T88" fmla="*/ 198620 w 793"/>
                <a:gd name="T89" fmla="*/ 1118164 h 1440"/>
                <a:gd name="T90" fmla="*/ 143872 w 793"/>
                <a:gd name="T91" fmla="*/ 949691 h 1440"/>
                <a:gd name="T92" fmla="*/ 0 w 793"/>
                <a:gd name="T93" fmla="*/ 1458855 h 1440"/>
                <a:gd name="T94" fmla="*/ 408698 w 793"/>
                <a:gd name="T95" fmla="*/ 1795802 h 1440"/>
                <a:gd name="T96" fmla="*/ 364136 w 793"/>
                <a:gd name="T97" fmla="*/ 1642304 h 14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3" h="1440">
                  <a:moveTo>
                    <a:pt x="286" y="1316"/>
                  </a:moveTo>
                  <a:lnTo>
                    <a:pt x="340" y="1290"/>
                  </a:lnTo>
                  <a:lnTo>
                    <a:pt x="392" y="1260"/>
                  </a:lnTo>
                  <a:lnTo>
                    <a:pt x="442" y="1225"/>
                  </a:lnTo>
                  <a:lnTo>
                    <a:pt x="490" y="1187"/>
                  </a:lnTo>
                  <a:lnTo>
                    <a:pt x="535" y="1146"/>
                  </a:lnTo>
                  <a:lnTo>
                    <a:pt x="576" y="1102"/>
                  </a:lnTo>
                  <a:lnTo>
                    <a:pt x="616" y="1055"/>
                  </a:lnTo>
                  <a:lnTo>
                    <a:pt x="650" y="1005"/>
                  </a:lnTo>
                  <a:lnTo>
                    <a:pt x="682" y="953"/>
                  </a:lnTo>
                  <a:lnTo>
                    <a:pt x="709" y="900"/>
                  </a:lnTo>
                  <a:lnTo>
                    <a:pt x="734" y="844"/>
                  </a:lnTo>
                  <a:lnTo>
                    <a:pt x="753" y="786"/>
                  </a:lnTo>
                  <a:lnTo>
                    <a:pt x="770" y="727"/>
                  </a:lnTo>
                  <a:lnTo>
                    <a:pt x="781" y="668"/>
                  </a:lnTo>
                  <a:lnTo>
                    <a:pt x="789" y="608"/>
                  </a:lnTo>
                  <a:lnTo>
                    <a:pt x="792" y="547"/>
                  </a:lnTo>
                  <a:lnTo>
                    <a:pt x="790" y="487"/>
                  </a:lnTo>
                  <a:lnTo>
                    <a:pt x="786" y="427"/>
                  </a:lnTo>
                  <a:lnTo>
                    <a:pt x="775" y="367"/>
                  </a:lnTo>
                  <a:lnTo>
                    <a:pt x="762" y="308"/>
                  </a:lnTo>
                  <a:lnTo>
                    <a:pt x="744" y="249"/>
                  </a:lnTo>
                  <a:lnTo>
                    <a:pt x="722" y="193"/>
                  </a:lnTo>
                  <a:lnTo>
                    <a:pt x="697" y="137"/>
                  </a:lnTo>
                  <a:lnTo>
                    <a:pt x="667" y="84"/>
                  </a:lnTo>
                  <a:lnTo>
                    <a:pt x="639" y="41"/>
                  </a:lnTo>
                  <a:lnTo>
                    <a:pt x="609" y="0"/>
                  </a:lnTo>
                  <a:lnTo>
                    <a:pt x="521" y="247"/>
                  </a:lnTo>
                  <a:lnTo>
                    <a:pt x="277" y="280"/>
                  </a:lnTo>
                  <a:lnTo>
                    <a:pt x="294" y="308"/>
                  </a:lnTo>
                  <a:lnTo>
                    <a:pt x="316" y="347"/>
                  </a:lnTo>
                  <a:lnTo>
                    <a:pt x="332" y="389"/>
                  </a:lnTo>
                  <a:lnTo>
                    <a:pt x="345" y="431"/>
                  </a:lnTo>
                  <a:lnTo>
                    <a:pt x="353" y="475"/>
                  </a:lnTo>
                  <a:lnTo>
                    <a:pt x="357" y="519"/>
                  </a:lnTo>
                  <a:lnTo>
                    <a:pt x="355" y="564"/>
                  </a:lnTo>
                  <a:lnTo>
                    <a:pt x="350" y="608"/>
                  </a:lnTo>
                  <a:lnTo>
                    <a:pt x="339" y="652"/>
                  </a:lnTo>
                  <a:lnTo>
                    <a:pt x="325" y="694"/>
                  </a:lnTo>
                  <a:lnTo>
                    <a:pt x="306" y="734"/>
                  </a:lnTo>
                  <a:lnTo>
                    <a:pt x="284" y="772"/>
                  </a:lnTo>
                  <a:lnTo>
                    <a:pt x="257" y="808"/>
                  </a:lnTo>
                  <a:lnTo>
                    <a:pt x="227" y="841"/>
                  </a:lnTo>
                  <a:lnTo>
                    <a:pt x="193" y="871"/>
                  </a:lnTo>
                  <a:lnTo>
                    <a:pt x="156" y="896"/>
                  </a:lnTo>
                  <a:lnTo>
                    <a:pt x="113" y="761"/>
                  </a:lnTo>
                  <a:lnTo>
                    <a:pt x="0" y="1169"/>
                  </a:lnTo>
                  <a:lnTo>
                    <a:pt x="321" y="1439"/>
                  </a:lnTo>
                  <a:lnTo>
                    <a:pt x="286" y="1316"/>
                  </a:lnTo>
                </a:path>
              </a:pathLst>
            </a:custGeom>
            <a:grpFill/>
            <a:ln>
              <a:noFill/>
            </a:ln>
            <a:effectLst/>
          </p:spPr>
          <p:txBody>
            <a:bodyPr/>
            <a:lstStyle/>
            <a:p>
              <a:endParaRPr lang="en-US"/>
            </a:p>
          </p:txBody>
        </p:sp>
      </p:grpSp>
    </p:spTree>
    <p:extLst>
      <p:ext uri="{BB962C8B-B14F-4D97-AF65-F5344CB8AC3E}">
        <p14:creationId xmlns:p14="http://schemas.microsoft.com/office/powerpoint/2010/main" val="24446706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gray">
          <a:xfrm>
            <a:off x="441804" y="251323"/>
            <a:ext cx="9227185"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defTabSz="912706" eaLnBrk="0" hangingPunct="0">
              <a:lnSpc>
                <a:spcPct val="105000"/>
              </a:lnSpc>
              <a:defRPr/>
            </a:pPr>
            <a:r>
              <a:rPr lang="en-US" sz="1800" b="1" dirty="0">
                <a:latin typeface="Arial" pitchFamily="34" charset="0"/>
                <a:cs typeface="Arial" pitchFamily="34" charset="0"/>
                <a:sym typeface="Arial" pitchFamily="34" charset="0"/>
              </a:rPr>
              <a:t>Start by evaluating your current process, identifying top pain points, getting to root cause, and agreeing on the activities and interactions across all project participants</a:t>
            </a:r>
            <a:endParaRPr lang="en-US" sz="1200" dirty="0">
              <a:latin typeface="Arial" pitchFamily="34" charset="0"/>
            </a:endParaRPr>
          </a:p>
        </p:txBody>
      </p:sp>
      <p:pic>
        <p:nvPicPr>
          <p:cNvPr id="3" name="Picture 2" descr="C:\Users\alhui\Desktop\april-2010 083.JPG"/>
          <p:cNvPicPr>
            <a:picLocks noChangeAspect="1" noChangeArrowheads="1"/>
          </p:cNvPicPr>
          <p:nvPr/>
        </p:nvPicPr>
        <p:blipFill>
          <a:blip r:embed="rId2">
            <a:extLst>
              <a:ext uri="{28A0092B-C50C-407E-A947-70E740481C1C}">
                <a14:useLocalDpi xmlns:a14="http://schemas.microsoft.com/office/drawing/2010/main" val="0"/>
              </a:ext>
            </a:extLst>
          </a:blip>
          <a:srcRect t="41629" r="24591" b="16914"/>
          <a:stretch>
            <a:fillRect/>
          </a:stretch>
        </p:blipFill>
        <p:spPr bwMode="auto">
          <a:xfrm>
            <a:off x="5111352" y="1054572"/>
            <a:ext cx="4507993" cy="2012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99"/>
          <p:cNvPicPr>
            <a:picLocks noChangeAspect="1" noChangeArrowheads="1"/>
          </p:cNvPicPr>
          <p:nvPr/>
        </p:nvPicPr>
        <p:blipFill>
          <a:blip r:embed="rId3">
            <a:extLst>
              <a:ext uri="{28A0092B-C50C-407E-A947-70E740481C1C}">
                <a14:useLocalDpi xmlns:a14="http://schemas.microsoft.com/office/drawing/2010/main" val="0"/>
              </a:ext>
            </a:extLst>
          </a:blip>
          <a:srcRect r="52271" b="54675"/>
          <a:stretch>
            <a:fillRect/>
          </a:stretch>
        </p:blipFill>
        <p:spPr bwMode="auto">
          <a:xfrm>
            <a:off x="441804" y="1054571"/>
            <a:ext cx="4511196" cy="1701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 name="TextBox 8"/>
          <p:cNvSpPr txBox="1">
            <a:spLocks noChangeArrowheads="1"/>
          </p:cNvSpPr>
          <p:nvPr/>
        </p:nvSpPr>
        <p:spPr bwMode="auto">
          <a:xfrm>
            <a:off x="581026" y="3928904"/>
            <a:ext cx="9049864" cy="1639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51" tIns="45676" rIns="91351" bIns="45676">
            <a:spAutoFit/>
          </a:bodyPr>
          <a:lstStyle>
            <a:lvl1pPr marL="107950" indent="-10795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342859" indent="-342859">
              <a:lnSpc>
                <a:spcPct val="106000"/>
              </a:lnSpc>
              <a:buFont typeface="Wingdings" pitchFamily="2" charset="2"/>
              <a:buChar char="§"/>
            </a:pPr>
            <a:r>
              <a:rPr lang="en-US" altLang="zh-CN" sz="1600" dirty="0">
                <a:solidFill>
                  <a:srgbClr val="000000"/>
                </a:solidFill>
                <a:latin typeface="+mn-lt"/>
                <a:cs typeface="+mn-cs"/>
              </a:rPr>
              <a:t>Gain agreement on existing and ideal handoffs, interactions, and how work passes between knowledge workers</a:t>
            </a:r>
          </a:p>
          <a:p>
            <a:pPr marL="342859" indent="-342859">
              <a:lnSpc>
                <a:spcPct val="106000"/>
              </a:lnSpc>
              <a:buFont typeface="Wingdings" pitchFamily="2" charset="2"/>
              <a:buChar char="§"/>
            </a:pPr>
            <a:r>
              <a:rPr lang="en-US" sz="1600" dirty="0">
                <a:solidFill>
                  <a:srgbClr val="000000"/>
                </a:solidFill>
                <a:latin typeface="+mn-lt"/>
                <a:cs typeface="+mn-cs"/>
              </a:rPr>
              <a:t>Collaboratively, build the design that matches your capability and your current environment</a:t>
            </a:r>
          </a:p>
          <a:p>
            <a:pPr marL="342859" indent="-342859">
              <a:lnSpc>
                <a:spcPct val="106000"/>
              </a:lnSpc>
              <a:buFont typeface="Wingdings" pitchFamily="2" charset="2"/>
              <a:buChar char="§"/>
            </a:pPr>
            <a:r>
              <a:rPr lang="en-US" sz="1600" dirty="0">
                <a:solidFill>
                  <a:srgbClr val="000000"/>
                </a:solidFill>
                <a:latin typeface="+mn-lt"/>
                <a:cs typeface="+mn-cs"/>
              </a:rPr>
              <a:t>Use a lightweight approach, design quickly, and be ready to change on-demand</a:t>
            </a:r>
          </a:p>
          <a:p>
            <a:pPr marL="342859" indent="-342859">
              <a:lnSpc>
                <a:spcPct val="106000"/>
              </a:lnSpc>
              <a:buFont typeface="Wingdings" pitchFamily="2" charset="2"/>
              <a:buChar char="§"/>
            </a:pPr>
            <a:r>
              <a:rPr lang="en-US" sz="1600" dirty="0">
                <a:solidFill>
                  <a:srgbClr val="000000"/>
                </a:solidFill>
                <a:latin typeface="+mn-lt"/>
                <a:cs typeface="+mn-cs"/>
              </a:rPr>
              <a:t>Agree on top pain points and quick hits solutions</a:t>
            </a:r>
          </a:p>
          <a:p>
            <a:pPr marL="342859" indent="-342859">
              <a:lnSpc>
                <a:spcPct val="106000"/>
              </a:lnSpc>
              <a:buFont typeface="Wingdings" pitchFamily="2" charset="2"/>
              <a:buChar char="§"/>
            </a:pPr>
            <a:r>
              <a:rPr lang="en-US" sz="1600" dirty="0">
                <a:solidFill>
                  <a:srgbClr val="000000"/>
                </a:solidFill>
                <a:latin typeface="+mn-lt"/>
                <a:cs typeface="+mn-cs"/>
              </a:rPr>
              <a:t>Determine where agile can support, and where traditional approaches make more sense</a:t>
            </a:r>
          </a:p>
        </p:txBody>
      </p:sp>
      <p:sp>
        <p:nvSpPr>
          <p:cNvPr id="7" name="Line 30"/>
          <p:cNvSpPr>
            <a:spLocks noChangeShapeType="1"/>
          </p:cNvSpPr>
          <p:nvPr/>
        </p:nvSpPr>
        <p:spPr bwMode="gray">
          <a:xfrm flipV="1">
            <a:off x="441805" y="3545478"/>
            <a:ext cx="9153144" cy="0"/>
          </a:xfrm>
          <a:prstGeom prst="line">
            <a:avLst/>
          </a:prstGeom>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ctr"/>
          <a:lstStyle/>
          <a:p>
            <a:pPr algn="ctr" eaLnBrk="0" hangingPunct="0">
              <a:lnSpc>
                <a:spcPct val="106000"/>
              </a:lnSpc>
              <a:defRPr/>
            </a:pPr>
            <a:endParaRPr lang="en-US">
              <a:solidFill>
                <a:srgbClr val="FFFFFF"/>
              </a:solidFill>
              <a:latin typeface="Arial" pitchFamily="34" charset="0"/>
              <a:cs typeface="+mn-cs"/>
            </a:endParaRPr>
          </a:p>
        </p:txBody>
      </p:sp>
      <p:sp>
        <p:nvSpPr>
          <p:cNvPr id="8" name="Rectangle 31"/>
          <p:cNvSpPr>
            <a:spLocks noChangeArrowheads="1"/>
          </p:cNvSpPr>
          <p:nvPr/>
        </p:nvSpPr>
        <p:spPr bwMode="gray">
          <a:xfrm>
            <a:off x="2693248" y="3443142"/>
            <a:ext cx="4705100" cy="204671"/>
          </a:xfrm>
          <a:prstGeom prst="rect">
            <a:avLst/>
          </a:prstGeom>
          <a:solidFill>
            <a:schemeClr val="bg1"/>
          </a:solidFill>
          <a:ln>
            <a:noFill/>
          </a:ln>
          <a:effectLst/>
          <a:extLst>
            <a:ext uri="{91240B29-F687-4F45-9708-019B960494DF}">
              <a14:hiddenLine xmlns:a14="http://schemas.microsoft.com/office/drawing/2010/main" w="12700" cap="rnd"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92" tIns="0" rIns="71992" bIns="0" anchor="ctr" anchorCtr="1">
            <a:spAutoFit/>
          </a:bodyPr>
          <a:lstStyle/>
          <a:p>
            <a:pPr algn="ctr" eaLnBrk="0" hangingPunct="0">
              <a:lnSpc>
                <a:spcPct val="95000"/>
              </a:lnSpc>
            </a:pPr>
            <a:r>
              <a:rPr lang="en-US" altLang="zh-CN" sz="1400" b="1" dirty="0">
                <a:solidFill>
                  <a:srgbClr val="000000"/>
                </a:solidFill>
                <a:ea typeface="SimSun" pitchFamily="2" charset="-122"/>
              </a:rPr>
              <a:t>Value Stream Mapping – Understanding Your Process</a:t>
            </a:r>
            <a:endParaRPr lang="en-US" sz="1400" dirty="0">
              <a:solidFill>
                <a:srgbClr val="FFFFFF"/>
              </a:solidFill>
              <a:ea typeface="SimSun" pitchFamily="2" charset="-122"/>
            </a:endParaRPr>
          </a:p>
        </p:txBody>
      </p:sp>
    </p:spTree>
    <p:extLst>
      <p:ext uri="{BB962C8B-B14F-4D97-AF65-F5344CB8AC3E}">
        <p14:creationId xmlns:p14="http://schemas.microsoft.com/office/powerpoint/2010/main" val="11902930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gray">
          <a:xfrm>
            <a:off x="441804" y="537256"/>
            <a:ext cx="9227185" cy="29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a:lnSpc>
                <a:spcPct val="106000"/>
              </a:lnSpc>
              <a:defRPr/>
            </a:pPr>
            <a:r>
              <a:rPr lang="en-US" sz="1800" b="1" kern="0" dirty="0">
                <a:solidFill>
                  <a:srgbClr val="000000"/>
                </a:solidFill>
              </a:rPr>
              <a:t>Select which agile practices to adopt, being mindful of problems and root cause</a:t>
            </a:r>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t="2560" b="2109"/>
          <a:stretch>
            <a:fillRect/>
          </a:stretch>
        </p:blipFill>
        <p:spPr bwMode="auto">
          <a:xfrm>
            <a:off x="1997075" y="1219201"/>
            <a:ext cx="7108825" cy="629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4"/>
          <p:cNvSpPr>
            <a:spLocks noChangeArrowheads="1"/>
          </p:cNvSpPr>
          <p:nvPr/>
        </p:nvSpPr>
        <p:spPr bwMode="auto">
          <a:xfrm>
            <a:off x="441806" y="990600"/>
            <a:ext cx="9227184" cy="477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p>
            <a:r>
              <a:rPr lang="en-US" sz="1200" i="1" dirty="0"/>
              <a:t>Agile practices are synergistic; choosing multiple, interacting practices provide a magnitude of order extra benefit than separate practices alone</a:t>
            </a:r>
          </a:p>
        </p:txBody>
      </p:sp>
      <p:sp>
        <p:nvSpPr>
          <p:cNvPr id="5" name="Up-Down Arrow 4"/>
          <p:cNvSpPr/>
          <p:nvPr/>
        </p:nvSpPr>
        <p:spPr bwMode="auto">
          <a:xfrm>
            <a:off x="800101" y="1893889"/>
            <a:ext cx="735013" cy="5153025"/>
          </a:xfrm>
          <a:prstGeom prst="upDownArrow">
            <a:avLst/>
          </a:prstGeom>
          <a:gradFill flip="none" rotWithShape="1">
            <a:gsLst>
              <a:gs pos="47500">
                <a:schemeClr val="bg1">
                  <a:lumMod val="94000"/>
                </a:schemeClr>
              </a:gs>
              <a:gs pos="100000">
                <a:srgbClr val="80CCCC"/>
              </a:gs>
              <a:gs pos="0">
                <a:srgbClr val="6691C6"/>
              </a:gs>
            </a:gsLst>
            <a:lin ang="16200000" scaled="1"/>
            <a:tileRect/>
          </a:gradFill>
          <a:ln w="19050" cap="flat" cmpd="sng" algn="ctr">
            <a:noFill/>
            <a:prstDash val="solid"/>
            <a:round/>
            <a:headEnd type="none" w="med" len="med"/>
            <a:tailEnd type="triangle" w="med" len="med"/>
          </a:ln>
          <a:effectLst/>
          <a:extLst/>
        </p:spPr>
        <p:txBody>
          <a:bodyPr lIns="71992" tIns="71992" rIns="71992" bIns="71992" anchorCtr="1"/>
          <a:lstStyle/>
          <a:p>
            <a:pPr algn="ctr" eaLnBrk="0" hangingPunct="0">
              <a:lnSpc>
                <a:spcPct val="106000"/>
              </a:lnSpc>
              <a:spcBef>
                <a:spcPct val="50000"/>
              </a:spcBef>
              <a:defRPr/>
            </a:pPr>
            <a:endParaRPr lang="en-US" b="1" dirty="0"/>
          </a:p>
        </p:txBody>
      </p:sp>
      <p:sp>
        <p:nvSpPr>
          <p:cNvPr id="6" name="Rectangle 10"/>
          <p:cNvSpPr>
            <a:spLocks noChangeArrowheads="1"/>
          </p:cNvSpPr>
          <p:nvPr/>
        </p:nvSpPr>
        <p:spPr bwMode="auto">
          <a:xfrm>
            <a:off x="639763" y="1528764"/>
            <a:ext cx="1093787" cy="40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p>
            <a:pPr algn="ctr"/>
            <a:r>
              <a:rPr lang="en-US" sz="1000" i="1" dirty="0"/>
              <a:t>Management Practices</a:t>
            </a:r>
          </a:p>
        </p:txBody>
      </p:sp>
      <p:sp>
        <p:nvSpPr>
          <p:cNvPr id="7" name="Rectangle 11"/>
          <p:cNvSpPr>
            <a:spLocks noChangeArrowheads="1"/>
          </p:cNvSpPr>
          <p:nvPr/>
        </p:nvSpPr>
        <p:spPr bwMode="auto">
          <a:xfrm>
            <a:off x="746125" y="7046914"/>
            <a:ext cx="865189" cy="40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p>
            <a:r>
              <a:rPr lang="en-US" sz="1000" i="1"/>
              <a:t>Technical</a:t>
            </a:r>
          </a:p>
          <a:p>
            <a:r>
              <a:rPr lang="en-US" sz="1000" i="1"/>
              <a:t>Practices</a:t>
            </a:r>
          </a:p>
        </p:txBody>
      </p:sp>
    </p:spTree>
    <p:extLst>
      <p:ext uri="{BB962C8B-B14F-4D97-AF65-F5344CB8AC3E}">
        <p14:creationId xmlns:p14="http://schemas.microsoft.com/office/powerpoint/2010/main" val="15099640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gray">
          <a:xfrm>
            <a:off x="441804" y="247014"/>
            <a:ext cx="9227185" cy="586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defTabSz="912706" eaLnBrk="0" hangingPunct="0">
              <a:lnSpc>
                <a:spcPct val="105000"/>
              </a:lnSpc>
              <a:defRPr/>
            </a:pPr>
            <a:r>
              <a:rPr lang="en-US" sz="1800" b="1" dirty="0">
                <a:latin typeface="Arial" pitchFamily="34" charset="0"/>
                <a:cs typeface="Arial" pitchFamily="34" charset="0"/>
                <a:sym typeface="Arial" pitchFamily="34" charset="0"/>
              </a:rPr>
              <a:t>Leverage Kanban to design and operationalize your target method, visualize work, limit working in progress, and incrementally improve</a:t>
            </a:r>
            <a:endParaRPr lang="en-US" sz="1200" dirty="0">
              <a:latin typeface="Arial" pitchFamily="34" charset="0"/>
            </a:endParaRPr>
          </a:p>
        </p:txBody>
      </p:sp>
      <p:sp>
        <p:nvSpPr>
          <p:cNvPr id="5" name="TextBox 8"/>
          <p:cNvSpPr txBox="1">
            <a:spLocks noChangeArrowheads="1"/>
          </p:cNvSpPr>
          <p:nvPr/>
        </p:nvSpPr>
        <p:spPr bwMode="auto">
          <a:xfrm>
            <a:off x="581026" y="4026548"/>
            <a:ext cx="9049864" cy="216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51" tIns="45676" rIns="91351" bIns="45676">
            <a:spAutoFit/>
          </a:bodyPr>
          <a:lstStyle>
            <a:lvl1pPr marL="107950" indent="-10795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342859" indent="-342859">
              <a:lnSpc>
                <a:spcPct val="106000"/>
              </a:lnSpc>
              <a:buFont typeface="Wingdings" pitchFamily="2" charset="2"/>
              <a:buChar char="§"/>
            </a:pPr>
            <a:r>
              <a:rPr lang="en-US" altLang="zh-CN" sz="1600" dirty="0">
                <a:solidFill>
                  <a:srgbClr val="000000"/>
                </a:solidFill>
                <a:latin typeface="+mn-lt"/>
                <a:cs typeface="+mn-cs"/>
              </a:rPr>
              <a:t>Visualize the way you are working using agile techniques like card walls</a:t>
            </a:r>
          </a:p>
          <a:p>
            <a:pPr marL="342859" indent="-342859">
              <a:lnSpc>
                <a:spcPct val="106000"/>
              </a:lnSpc>
              <a:buFont typeface="Wingdings" pitchFamily="2" charset="2"/>
              <a:buChar char="§"/>
            </a:pPr>
            <a:r>
              <a:rPr lang="en-US" altLang="zh-CN" sz="1600" dirty="0">
                <a:solidFill>
                  <a:srgbClr val="000000"/>
                </a:solidFill>
                <a:latin typeface="+mn-lt"/>
                <a:cs typeface="+mn-cs"/>
              </a:rPr>
              <a:t>Gradually enforce limits to demand, equivalent to capacity</a:t>
            </a:r>
          </a:p>
          <a:p>
            <a:pPr marL="342859" indent="-342859">
              <a:lnSpc>
                <a:spcPct val="106000"/>
              </a:lnSpc>
              <a:buFont typeface="Wingdings" pitchFamily="2" charset="2"/>
              <a:buChar char="§"/>
            </a:pPr>
            <a:r>
              <a:rPr lang="en-US" altLang="zh-CN" sz="1600" dirty="0">
                <a:solidFill>
                  <a:srgbClr val="000000"/>
                </a:solidFill>
                <a:latin typeface="+mn-lt"/>
                <a:cs typeface="+mn-cs"/>
              </a:rPr>
              <a:t>Incrementally change work policies, handoff agreements between teams, adoption of new agile practices, and other “micro” improvements</a:t>
            </a:r>
          </a:p>
          <a:p>
            <a:pPr marL="342859" indent="-342859">
              <a:lnSpc>
                <a:spcPct val="106000"/>
              </a:lnSpc>
              <a:buFont typeface="Wingdings" pitchFamily="2" charset="2"/>
              <a:buChar char="§"/>
            </a:pPr>
            <a:r>
              <a:rPr lang="en-US" altLang="zh-CN" sz="1600" dirty="0">
                <a:solidFill>
                  <a:srgbClr val="000000"/>
                </a:solidFill>
                <a:latin typeface="+mn-lt"/>
                <a:cs typeface="+mn-cs"/>
              </a:rPr>
              <a:t>Identify bottlenecks, blockers, and performance outliers and adjust system of work to prevent them from happening again</a:t>
            </a:r>
          </a:p>
          <a:p>
            <a:pPr marL="342859" indent="-342859">
              <a:lnSpc>
                <a:spcPct val="106000"/>
              </a:lnSpc>
              <a:buFont typeface="Wingdings" pitchFamily="2" charset="2"/>
              <a:buChar char="§"/>
            </a:pPr>
            <a:r>
              <a:rPr lang="en-US" altLang="zh-CN" sz="1600" dirty="0">
                <a:solidFill>
                  <a:srgbClr val="000000"/>
                </a:solidFill>
                <a:latin typeface="+mn-lt"/>
                <a:cs typeface="+mn-cs"/>
              </a:rPr>
              <a:t>Enabling agile continuous improvement culture, further paving the way for adopting other agile practices</a:t>
            </a:r>
          </a:p>
        </p:txBody>
      </p:sp>
      <p:sp>
        <p:nvSpPr>
          <p:cNvPr id="7" name="Line 30"/>
          <p:cNvSpPr>
            <a:spLocks noChangeShapeType="1"/>
          </p:cNvSpPr>
          <p:nvPr/>
        </p:nvSpPr>
        <p:spPr bwMode="gray">
          <a:xfrm flipV="1">
            <a:off x="441805" y="3805308"/>
            <a:ext cx="9153144" cy="0"/>
          </a:xfrm>
          <a:prstGeom prst="line">
            <a:avLst/>
          </a:prstGeom>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ctr"/>
          <a:lstStyle/>
          <a:p>
            <a:pPr algn="ctr" eaLnBrk="0" hangingPunct="0">
              <a:lnSpc>
                <a:spcPct val="106000"/>
              </a:lnSpc>
              <a:defRPr/>
            </a:pPr>
            <a:endParaRPr lang="en-US">
              <a:solidFill>
                <a:srgbClr val="FFFFFF"/>
              </a:solidFill>
              <a:latin typeface="Arial" pitchFamily="34" charset="0"/>
              <a:cs typeface="+mn-cs"/>
            </a:endParaRPr>
          </a:p>
        </p:txBody>
      </p:sp>
      <p:sp>
        <p:nvSpPr>
          <p:cNvPr id="8" name="Rectangle 31"/>
          <p:cNvSpPr>
            <a:spLocks noChangeArrowheads="1"/>
          </p:cNvSpPr>
          <p:nvPr/>
        </p:nvSpPr>
        <p:spPr bwMode="gray">
          <a:xfrm>
            <a:off x="1779752" y="3702972"/>
            <a:ext cx="6477252" cy="204671"/>
          </a:xfrm>
          <a:prstGeom prst="rect">
            <a:avLst/>
          </a:prstGeom>
          <a:solidFill>
            <a:schemeClr val="bg1"/>
          </a:solidFill>
          <a:ln>
            <a:noFill/>
          </a:ln>
          <a:effectLst/>
          <a:extLst>
            <a:ext uri="{91240B29-F687-4F45-9708-019B960494DF}">
              <a14:hiddenLine xmlns:a14="http://schemas.microsoft.com/office/drawing/2010/main" w="12700" cap="rnd"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92" tIns="0" rIns="71992" bIns="0" anchor="ctr" anchorCtr="1">
            <a:spAutoFit/>
          </a:bodyPr>
          <a:lstStyle/>
          <a:p>
            <a:pPr algn="ctr" eaLnBrk="0" hangingPunct="0">
              <a:lnSpc>
                <a:spcPct val="95000"/>
              </a:lnSpc>
            </a:pPr>
            <a:r>
              <a:rPr lang="en-US" altLang="zh-CN" sz="1400" b="1" dirty="0">
                <a:solidFill>
                  <a:srgbClr val="000000"/>
                </a:solidFill>
                <a:ea typeface="SimSun" pitchFamily="2" charset="-122"/>
              </a:rPr>
              <a:t>Incremental change will maximize your chances at adopting a new method</a:t>
            </a:r>
            <a:endParaRPr lang="en-US" sz="1400" dirty="0">
              <a:solidFill>
                <a:srgbClr val="FFFFFF"/>
              </a:solidFill>
              <a:ea typeface="SimSun" pitchFamily="2" charset="-122"/>
            </a:endParaRPr>
          </a:p>
        </p:txBody>
      </p:sp>
      <p:pic>
        <p:nvPicPr>
          <p:cNvPr id="9" name="Picture 2"/>
          <p:cNvPicPr>
            <a:picLocks noChangeAspect="1"/>
          </p:cNvPicPr>
          <p:nvPr/>
        </p:nvPicPr>
        <p:blipFill>
          <a:blip r:embed="rId2">
            <a:extLst>
              <a:ext uri="{28A0092B-C50C-407E-A947-70E740481C1C}">
                <a14:useLocalDpi xmlns:a14="http://schemas.microsoft.com/office/drawing/2010/main" val="0"/>
              </a:ext>
            </a:extLst>
          </a:blip>
          <a:srcRect r="30952"/>
          <a:stretch>
            <a:fillRect/>
          </a:stretch>
        </p:blipFill>
        <p:spPr bwMode="auto">
          <a:xfrm>
            <a:off x="428172" y="1071563"/>
            <a:ext cx="4002087" cy="2281237"/>
          </a:xfrm>
          <a:prstGeom prst="rect">
            <a:avLst/>
          </a:prstGeom>
          <a:solidFill>
            <a:schemeClr val="bg1"/>
          </a:solidFill>
          <a:ln>
            <a:noFill/>
          </a:ln>
          <a:extLst>
            <a:ext uri="{91240B29-F687-4F45-9708-019B960494DF}">
              <a14:hiddenLine xmlns:a14="http://schemas.microsoft.com/office/drawing/2010/main" w="12700">
                <a:solidFill>
                  <a:srgbClr val="000000"/>
                </a:solidFill>
                <a:miter lim="0"/>
                <a:headEnd/>
                <a:tailEnd/>
              </a14:hiddenLine>
            </a:ext>
          </a:extLst>
        </p:spPr>
      </p:pic>
      <p:pic>
        <p:nvPicPr>
          <p:cNvPr id="10" name="Picture 2" descr="f02a3bdf-bb80-499c-8e8e-15deb0cd1065@deloitte"/>
          <p:cNvPicPr>
            <a:picLocks noChangeAspect="1" noChangeArrowheads="1"/>
          </p:cNvPicPr>
          <p:nvPr/>
        </p:nvPicPr>
        <p:blipFill>
          <a:blip r:embed="rId3">
            <a:extLst>
              <a:ext uri="{28A0092B-C50C-407E-A947-70E740481C1C}">
                <a14:useLocalDpi xmlns:a14="http://schemas.microsoft.com/office/drawing/2010/main" val="0"/>
              </a:ext>
            </a:extLst>
          </a:blip>
          <a:srcRect l="22517" t="22585" r="15141" b="34940"/>
          <a:stretch>
            <a:fillRect/>
          </a:stretch>
        </p:blipFill>
        <p:spPr bwMode="auto">
          <a:xfrm>
            <a:off x="4459288" y="1071563"/>
            <a:ext cx="5141913"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63032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629" y="3213531"/>
            <a:ext cx="8964899" cy="758669"/>
          </a:xfrm>
        </p:spPr>
        <p:txBody>
          <a:bodyPr/>
          <a:lstStyle/>
          <a:p>
            <a:r>
              <a:rPr lang="en-US" dirty="0"/>
              <a:t>Agile </a:t>
            </a:r>
            <a:r>
              <a:rPr lang="en-US" dirty="0" smtClean="0"/>
              <a:t>Methods</a:t>
            </a:r>
            <a:endParaRPr lang="en-US" dirty="0"/>
          </a:p>
        </p:txBody>
      </p:sp>
    </p:spTree>
    <p:extLst>
      <p:ext uri="{BB962C8B-B14F-4D97-AF65-F5344CB8AC3E}">
        <p14:creationId xmlns:p14="http://schemas.microsoft.com/office/powerpoint/2010/main" val="283557063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762000" y="2362200"/>
            <a:ext cx="9048688" cy="4931202"/>
            <a:chOff x="304800" y="1757250"/>
            <a:chExt cx="8226080" cy="4351061"/>
          </a:xfrm>
        </p:grpSpPr>
        <p:sp>
          <p:nvSpPr>
            <p:cNvPr id="93" name="Down Arrow 92"/>
            <p:cNvSpPr/>
            <p:nvPr/>
          </p:nvSpPr>
          <p:spPr bwMode="auto">
            <a:xfrm rot="16200000">
              <a:off x="2624166" y="4555202"/>
              <a:ext cx="997674" cy="583369"/>
            </a:xfrm>
            <a:prstGeom prst="downArrow">
              <a:avLst/>
            </a:prstGeom>
            <a:solidFill>
              <a:srgbClr val="009999"/>
            </a:solidFill>
            <a:ln w="19050" cap="flat" cmpd="sng" algn="ctr">
              <a:noFill/>
              <a:prstDash val="solid"/>
              <a:round/>
              <a:headEnd type="none" w="med" len="med"/>
              <a:tailEnd type="triangle" w="med" len="med"/>
            </a:ln>
            <a:effectLst/>
            <a:extLst/>
          </p:spPr>
          <p:txBody>
            <a:bodyPr wrap="square" lIns="72000" tIns="72000" rIns="72000" bIns="72000" anchorCtr="1">
              <a:spAutoFit/>
            </a:bodyPr>
            <a:lstStyle/>
            <a:p>
              <a:pPr algn="ctr" defTabSz="1016342" eaLnBrk="0" fontAlgn="base" hangingPunct="0">
                <a:lnSpc>
                  <a:spcPct val="106000"/>
                </a:lnSpc>
                <a:spcBef>
                  <a:spcPct val="50000"/>
                </a:spcBef>
                <a:spcAft>
                  <a:spcPct val="0"/>
                </a:spcAft>
                <a:defRPr/>
              </a:pPr>
              <a:endParaRPr lang="en-US" b="1">
                <a:solidFill>
                  <a:prstClr val="black"/>
                </a:solidFill>
                <a:latin typeface="Arial" charset="0"/>
                <a:cs typeface="Arial" charset="0"/>
              </a:endParaRPr>
            </a:p>
          </p:txBody>
        </p:sp>
        <p:sp>
          <p:nvSpPr>
            <p:cNvPr id="20" name="Arc 19"/>
            <p:cNvSpPr/>
            <p:nvPr/>
          </p:nvSpPr>
          <p:spPr bwMode="auto">
            <a:xfrm flipH="1">
              <a:off x="5146318" y="2920672"/>
              <a:ext cx="2027252" cy="1888052"/>
            </a:xfrm>
            <a:prstGeom prst="arc">
              <a:avLst>
                <a:gd name="adj1" fmla="val 6610535"/>
                <a:gd name="adj2" fmla="val 1474233"/>
              </a:avLst>
            </a:prstGeom>
            <a:noFill/>
            <a:ln w="254000" cap="flat" cmpd="sng" algn="ctr">
              <a:solidFill>
                <a:srgbClr val="009999"/>
              </a:solidFill>
              <a:prstDash val="solid"/>
              <a:round/>
              <a:headEnd type="none" w="med" len="med"/>
              <a:tailEnd type="triangle"/>
            </a:ln>
            <a:effectLst/>
            <a:extLst/>
          </p:spPr>
          <p:txBody>
            <a:bodyPr anchor="ctr"/>
            <a:lstStyle/>
            <a:p>
              <a:pPr algn="ctr" defTabSz="1018705" fontAlgn="base">
                <a:spcBef>
                  <a:spcPct val="0"/>
                </a:spcBef>
                <a:spcAft>
                  <a:spcPct val="0"/>
                </a:spcAft>
              </a:pPr>
              <a:endParaRPr lang="en-US" dirty="0">
                <a:solidFill>
                  <a:prstClr val="black"/>
                </a:solidFill>
                <a:latin typeface="Arial" charset="0"/>
                <a:cs typeface="Arial" charset="0"/>
              </a:endParaRPr>
            </a:p>
          </p:txBody>
        </p:sp>
        <p:sp>
          <p:nvSpPr>
            <p:cNvPr id="21" name="Down Arrow 20"/>
            <p:cNvSpPr/>
            <p:nvPr/>
          </p:nvSpPr>
          <p:spPr bwMode="auto">
            <a:xfrm rot="16200000">
              <a:off x="6549313" y="4580866"/>
              <a:ext cx="1006639" cy="583369"/>
            </a:xfrm>
            <a:prstGeom prst="downArrow">
              <a:avLst/>
            </a:prstGeom>
            <a:solidFill>
              <a:srgbClr val="009999"/>
            </a:solidFill>
            <a:ln w="19050" cap="flat" cmpd="sng" algn="ctr">
              <a:noFill/>
              <a:prstDash val="solid"/>
              <a:round/>
              <a:headEnd type="none" w="med" len="med"/>
              <a:tailEnd type="triangle" w="med" len="med"/>
            </a:ln>
            <a:effectLst/>
            <a:extLst/>
          </p:spPr>
          <p:txBody>
            <a:bodyPr wrap="square" lIns="72000" tIns="72000" rIns="72000" bIns="72000" anchorCtr="1">
              <a:spAutoFit/>
            </a:bodyPr>
            <a:lstStyle/>
            <a:p>
              <a:pPr algn="ctr" defTabSz="1016342" eaLnBrk="0" fontAlgn="base" hangingPunct="0">
                <a:lnSpc>
                  <a:spcPct val="106000"/>
                </a:lnSpc>
                <a:spcBef>
                  <a:spcPct val="50000"/>
                </a:spcBef>
                <a:spcAft>
                  <a:spcPct val="0"/>
                </a:spcAft>
                <a:defRPr/>
              </a:pPr>
              <a:endParaRPr lang="en-US" b="1">
                <a:solidFill>
                  <a:prstClr val="black"/>
                </a:solidFill>
                <a:latin typeface="Arial" charset="0"/>
                <a:cs typeface="Arial" charset="0"/>
              </a:endParaRPr>
            </a:p>
          </p:txBody>
        </p:sp>
        <p:sp>
          <p:nvSpPr>
            <p:cNvPr id="22" name="Arc 21"/>
            <p:cNvSpPr/>
            <p:nvPr/>
          </p:nvSpPr>
          <p:spPr bwMode="auto">
            <a:xfrm>
              <a:off x="4563842" y="2094496"/>
              <a:ext cx="1232904" cy="1152490"/>
            </a:xfrm>
            <a:prstGeom prst="arc">
              <a:avLst>
                <a:gd name="adj1" fmla="val 3427050"/>
                <a:gd name="adj2" fmla="val 21447511"/>
              </a:avLst>
            </a:prstGeom>
            <a:noFill/>
            <a:ln w="254000" cap="flat" cmpd="sng" algn="ctr">
              <a:solidFill>
                <a:srgbClr val="009999"/>
              </a:solidFill>
              <a:prstDash val="solid"/>
              <a:round/>
              <a:headEnd type="none" w="med" len="med"/>
              <a:tailEnd type="triangle"/>
            </a:ln>
            <a:effectLst/>
            <a:extLst/>
          </p:spPr>
          <p:txBody>
            <a:bodyPr anchor="ctr">
              <a:noAutofit/>
            </a:bodyPr>
            <a:lstStyle/>
            <a:p>
              <a:pPr algn="ctr" defTabSz="1018705" fontAlgn="base">
                <a:spcBef>
                  <a:spcPct val="0"/>
                </a:spcBef>
                <a:spcAft>
                  <a:spcPct val="0"/>
                </a:spcAft>
                <a:defRPr/>
              </a:pPr>
              <a:endParaRPr lang="en-US" dirty="0">
                <a:solidFill>
                  <a:prstClr val="black"/>
                </a:solidFill>
                <a:latin typeface="Arial" charset="0"/>
                <a:cs typeface="Arial" charset="0"/>
              </a:endParaRPr>
            </a:p>
          </p:txBody>
        </p:sp>
        <p:sp>
          <p:nvSpPr>
            <p:cNvPr id="4116" name="TextBox 22"/>
            <p:cNvSpPr txBox="1">
              <a:spLocks noChangeArrowheads="1"/>
            </p:cNvSpPr>
            <p:nvPr/>
          </p:nvSpPr>
          <p:spPr bwMode="auto">
            <a:xfrm>
              <a:off x="4872975" y="2436528"/>
              <a:ext cx="545488" cy="33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defTabSz="1018705" eaLnBrk="1" fontAlgn="base" hangingPunct="1">
                <a:spcBef>
                  <a:spcPct val="0"/>
                </a:spcBef>
                <a:spcAft>
                  <a:spcPct val="0"/>
                </a:spcAft>
              </a:pPr>
              <a:r>
                <a:rPr lang="en-US" b="1" dirty="0">
                  <a:solidFill>
                    <a:prstClr val="black"/>
                  </a:solidFill>
                  <a:latin typeface="Calibri" pitchFamily="34" charset="0"/>
                  <a:cs typeface="Calibri" pitchFamily="34" charset="0"/>
                </a:rPr>
                <a:t>24 H</a:t>
              </a:r>
            </a:p>
          </p:txBody>
        </p:sp>
        <p:sp>
          <p:nvSpPr>
            <p:cNvPr id="4117" name="TextBox 23"/>
            <p:cNvSpPr txBox="1">
              <a:spLocks noChangeArrowheads="1"/>
            </p:cNvSpPr>
            <p:nvPr/>
          </p:nvSpPr>
          <p:spPr bwMode="auto">
            <a:xfrm>
              <a:off x="5714249" y="3715109"/>
              <a:ext cx="824352" cy="4068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txBody>
            <a:bodyPr anchor="ctr">
              <a:noAutofit/>
            </a:bodyPr>
            <a:lstStyle>
              <a:defPPr>
                <a:defRPr lang="en-US"/>
              </a:defPPr>
              <a:lvl1pPr algn="ctr">
                <a:defRPr>
                  <a:latin typeface="Arial" charset="0"/>
                  <a:cs typeface="Arial" charset="0"/>
                </a:defRPr>
              </a:lvl1pPr>
            </a:lstStyle>
            <a:p>
              <a:pPr defTabSz="1018705" fontAlgn="base">
                <a:spcBef>
                  <a:spcPct val="0"/>
                </a:spcBef>
                <a:spcAft>
                  <a:spcPct val="0"/>
                </a:spcAft>
              </a:pPr>
              <a:r>
                <a:rPr lang="en-US" b="1" dirty="0">
                  <a:solidFill>
                    <a:prstClr val="black"/>
                  </a:solidFill>
                  <a:latin typeface="Calibri"/>
                </a:rPr>
                <a:t>2-4 </a:t>
              </a:r>
            </a:p>
            <a:p>
              <a:pPr defTabSz="1018705" fontAlgn="base">
                <a:spcBef>
                  <a:spcPct val="0"/>
                </a:spcBef>
                <a:spcAft>
                  <a:spcPct val="0"/>
                </a:spcAft>
              </a:pPr>
              <a:r>
                <a:rPr lang="en-US" b="1" dirty="0">
                  <a:solidFill>
                    <a:prstClr val="black"/>
                  </a:solidFill>
                  <a:latin typeface="Calibri"/>
                </a:rPr>
                <a:t>Weeks</a:t>
              </a:r>
            </a:p>
          </p:txBody>
        </p:sp>
        <p:grpSp>
          <p:nvGrpSpPr>
            <p:cNvPr id="2" name="Group 1"/>
            <p:cNvGrpSpPr/>
            <p:nvPr/>
          </p:nvGrpSpPr>
          <p:grpSpPr>
            <a:xfrm>
              <a:off x="4330184" y="4183689"/>
              <a:ext cx="1047953" cy="840943"/>
              <a:chOff x="3431518" y="4570945"/>
              <a:chExt cx="1195500" cy="1078781"/>
            </a:xfrm>
          </p:grpSpPr>
          <p:sp>
            <p:nvSpPr>
              <p:cNvPr id="4131" name="Rectangle 37"/>
              <p:cNvSpPr>
                <a:spLocks noChangeArrowheads="1"/>
              </p:cNvSpPr>
              <p:nvPr/>
            </p:nvSpPr>
            <p:spPr bwMode="auto">
              <a:xfrm>
                <a:off x="3431518" y="4570945"/>
                <a:ext cx="652091" cy="533860"/>
              </a:xfrm>
              <a:prstGeom prst="rect">
                <a:avLst/>
              </a:prstGeom>
              <a:solidFill>
                <a:srgbClr val="003399"/>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32" name="Rectangle 38"/>
              <p:cNvSpPr>
                <a:spLocks noChangeArrowheads="1"/>
              </p:cNvSpPr>
              <p:nvPr/>
            </p:nvSpPr>
            <p:spPr bwMode="auto">
              <a:xfrm>
                <a:off x="3703224" y="4875283"/>
                <a:ext cx="652091" cy="533860"/>
              </a:xfrm>
              <a:prstGeom prst="rect">
                <a:avLst/>
              </a:prstGeom>
              <a:solidFill>
                <a:srgbClr val="0000FF"/>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33" name="Rectangle 39"/>
              <p:cNvSpPr>
                <a:spLocks noChangeArrowheads="1"/>
              </p:cNvSpPr>
              <p:nvPr/>
            </p:nvSpPr>
            <p:spPr bwMode="auto">
              <a:xfrm>
                <a:off x="3974927" y="5115866"/>
                <a:ext cx="652091" cy="533860"/>
              </a:xfrm>
              <a:prstGeom prst="rect">
                <a:avLst/>
              </a:prstGeom>
              <a:solidFill>
                <a:srgbClr val="80CCCC"/>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grpSp>
        <p:grpSp>
          <p:nvGrpSpPr>
            <p:cNvPr id="3" name="Group 2"/>
            <p:cNvGrpSpPr/>
            <p:nvPr/>
          </p:nvGrpSpPr>
          <p:grpSpPr>
            <a:xfrm>
              <a:off x="304800" y="4240420"/>
              <a:ext cx="1273163" cy="1099642"/>
              <a:chOff x="-1143067" y="4719742"/>
              <a:chExt cx="1494375" cy="1398612"/>
            </a:xfrm>
          </p:grpSpPr>
          <p:sp>
            <p:nvSpPr>
              <p:cNvPr id="4126" name="Rectangle 32"/>
              <p:cNvSpPr>
                <a:spLocks noChangeArrowheads="1"/>
              </p:cNvSpPr>
              <p:nvPr/>
            </p:nvSpPr>
            <p:spPr bwMode="auto">
              <a:xfrm>
                <a:off x="-1007215" y="4813835"/>
                <a:ext cx="652091" cy="529306"/>
              </a:xfrm>
              <a:prstGeom prst="rect">
                <a:avLst/>
              </a:prstGeom>
              <a:solidFill>
                <a:srgbClr val="0000FF"/>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27" name="Rectangle 33"/>
              <p:cNvSpPr>
                <a:spLocks noChangeArrowheads="1"/>
              </p:cNvSpPr>
              <p:nvPr/>
            </p:nvSpPr>
            <p:spPr bwMode="auto">
              <a:xfrm>
                <a:off x="-749095" y="4719742"/>
                <a:ext cx="652091" cy="529306"/>
              </a:xfrm>
              <a:prstGeom prst="rect">
                <a:avLst/>
              </a:prstGeom>
              <a:solidFill>
                <a:srgbClr val="003399"/>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28" name="Rectangle 34"/>
              <p:cNvSpPr>
                <a:spLocks noChangeArrowheads="1"/>
              </p:cNvSpPr>
              <p:nvPr/>
            </p:nvSpPr>
            <p:spPr bwMode="auto">
              <a:xfrm>
                <a:off x="-1143067" y="5081149"/>
                <a:ext cx="652091" cy="529306"/>
              </a:xfrm>
              <a:prstGeom prst="rect">
                <a:avLst/>
              </a:prstGeom>
              <a:solidFill>
                <a:srgbClr val="800080"/>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29" name="Rectangle 35"/>
              <p:cNvSpPr>
                <a:spLocks noChangeArrowheads="1"/>
              </p:cNvSpPr>
              <p:nvPr/>
            </p:nvSpPr>
            <p:spPr bwMode="auto">
              <a:xfrm>
                <a:off x="-749095" y="5589048"/>
                <a:ext cx="652091" cy="529306"/>
              </a:xfrm>
              <a:prstGeom prst="rect">
                <a:avLst/>
              </a:prstGeom>
              <a:solidFill>
                <a:srgbClr val="80CCCC"/>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sp>
            <p:nvSpPr>
              <p:cNvPr id="4130" name="Rectangle 36"/>
              <p:cNvSpPr>
                <a:spLocks noChangeArrowheads="1"/>
              </p:cNvSpPr>
              <p:nvPr/>
            </p:nvSpPr>
            <p:spPr bwMode="auto">
              <a:xfrm>
                <a:off x="-300783" y="5081152"/>
                <a:ext cx="652091" cy="529306"/>
              </a:xfrm>
              <a:prstGeom prst="rect">
                <a:avLst/>
              </a:prstGeom>
              <a:solidFill>
                <a:srgbClr val="80CCCC"/>
              </a:solidFill>
              <a:ln w="19050" algn="ctr">
                <a:solidFill>
                  <a:schemeClr val="bg1"/>
                </a:solidFill>
                <a:round/>
                <a:headEnd/>
                <a:tailEnd type="triangle" w="med" len="med"/>
              </a:ln>
            </p:spPr>
            <p:txBody>
              <a:bodyPr lIns="72000" tIns="72000" rIns="72000" bIns="72000" anchorCtr="1">
                <a:spAutoFit/>
              </a:bodyPr>
              <a:lstStyle/>
              <a:p>
                <a:pPr algn="ctr" defTabSz="1016342" eaLnBrk="0" fontAlgn="base" hangingPunct="0">
                  <a:lnSpc>
                    <a:spcPct val="106000"/>
                  </a:lnSpc>
                  <a:spcBef>
                    <a:spcPct val="50000"/>
                  </a:spcBef>
                  <a:spcAft>
                    <a:spcPct val="0"/>
                  </a:spcAft>
                </a:pPr>
                <a:endParaRPr lang="en-US" b="1">
                  <a:solidFill>
                    <a:prstClr val="black"/>
                  </a:solidFill>
                  <a:latin typeface="Arial" pitchFamily="34" charset="0"/>
                  <a:cs typeface="Arial" pitchFamily="34" charset="0"/>
                </a:endParaRPr>
              </a:p>
            </p:txBody>
          </p:sp>
        </p:grpSp>
        <p:sp>
          <p:nvSpPr>
            <p:cNvPr id="41" name="TextBox 40"/>
            <p:cNvSpPr txBox="1"/>
            <p:nvPr/>
          </p:nvSpPr>
          <p:spPr>
            <a:xfrm>
              <a:off x="3446000" y="4691844"/>
              <a:ext cx="680312" cy="345194"/>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Release Plan</a:t>
              </a:r>
            </a:p>
          </p:txBody>
        </p:sp>
        <p:sp>
          <p:nvSpPr>
            <p:cNvPr id="42" name="TextBox 41"/>
            <p:cNvSpPr txBox="1"/>
            <p:nvPr/>
          </p:nvSpPr>
          <p:spPr>
            <a:xfrm>
              <a:off x="6493396" y="4713359"/>
              <a:ext cx="1050404" cy="345195"/>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Release Burndown Chart</a:t>
              </a:r>
            </a:p>
          </p:txBody>
        </p:sp>
        <p:sp>
          <p:nvSpPr>
            <p:cNvPr id="43" name="TextBox 42"/>
            <p:cNvSpPr txBox="1"/>
            <p:nvPr/>
          </p:nvSpPr>
          <p:spPr>
            <a:xfrm>
              <a:off x="3240187" y="4045786"/>
              <a:ext cx="1390980" cy="332410"/>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Iteration Plan/Sprint Backlog</a:t>
              </a:r>
            </a:p>
          </p:txBody>
        </p:sp>
        <p:sp>
          <p:nvSpPr>
            <p:cNvPr id="44" name="TextBox 43"/>
            <p:cNvSpPr txBox="1"/>
            <p:nvPr/>
          </p:nvSpPr>
          <p:spPr>
            <a:xfrm>
              <a:off x="5819788" y="2671878"/>
              <a:ext cx="680312" cy="285008"/>
            </a:xfrm>
            <a:prstGeom prst="rect">
              <a:avLst/>
            </a:prstGeom>
            <a:solidFill>
              <a:srgbClr val="8099CC"/>
            </a:solidFill>
            <a:ln>
              <a:noFill/>
            </a:ln>
          </p:spPr>
          <p:txBody>
            <a:bodyPr wrap="square">
              <a:noAutofit/>
            </a:bodyPr>
            <a:lstStyle/>
            <a:p>
              <a:pPr algn="ctr" defTabSz="1018705">
                <a:defRPr/>
              </a:pPr>
              <a:r>
                <a:rPr lang="en-US" sz="1000" dirty="0">
                  <a:solidFill>
                    <a:srgbClr val="000000"/>
                  </a:solidFill>
                  <a:latin typeface="Arial" pitchFamily="34" charset="0"/>
                  <a:cs typeface="Arial" pitchFamily="34" charset="0"/>
                </a:rPr>
                <a:t>Tasks</a:t>
              </a:r>
            </a:p>
          </p:txBody>
        </p:sp>
        <p:sp>
          <p:nvSpPr>
            <p:cNvPr id="45" name="TextBox 44"/>
            <p:cNvSpPr txBox="1"/>
            <p:nvPr/>
          </p:nvSpPr>
          <p:spPr>
            <a:xfrm>
              <a:off x="4131547" y="3641917"/>
              <a:ext cx="968884" cy="318753"/>
            </a:xfrm>
            <a:prstGeom prst="rect">
              <a:avLst/>
            </a:prstGeom>
            <a:solidFill>
              <a:srgbClr val="8099CC"/>
            </a:solidFill>
            <a:ln>
              <a:noFill/>
            </a:ln>
          </p:spPr>
          <p:txBody>
            <a:bodyPr wrap="square">
              <a:noAutofit/>
            </a:bodyPr>
            <a:lstStyle>
              <a:defPPr>
                <a:defRPr lang="en-US"/>
              </a:defPPr>
              <a:lvl1pPr fontAlgn="auto">
                <a:spcBef>
                  <a:spcPts val="0"/>
                </a:spcBef>
                <a:spcAft>
                  <a:spcPts val="0"/>
                </a:spcAft>
                <a:defRPr sz="700">
                  <a:solidFill>
                    <a:schemeClr val="bg1"/>
                  </a:solidFill>
                  <a:latin typeface="+mn-lt"/>
                  <a:cs typeface="+mn-cs"/>
                </a:defRPr>
              </a:lvl1pPr>
            </a:lstStyle>
            <a:p>
              <a:pPr algn="ctr" defTabSz="1018705"/>
              <a:r>
                <a:rPr lang="en-US" sz="1000" dirty="0">
                  <a:solidFill>
                    <a:srgbClr val="000000"/>
                  </a:solidFill>
                  <a:latin typeface="Arial" pitchFamily="34" charset="0"/>
                  <a:cs typeface="Arial" pitchFamily="34" charset="0"/>
                </a:rPr>
                <a:t>Retrospectives</a:t>
              </a:r>
            </a:p>
          </p:txBody>
        </p:sp>
        <p:sp>
          <p:nvSpPr>
            <p:cNvPr id="46" name="TextBox 45"/>
            <p:cNvSpPr txBox="1"/>
            <p:nvPr/>
          </p:nvSpPr>
          <p:spPr>
            <a:xfrm>
              <a:off x="2197180" y="5783244"/>
              <a:ext cx="6333699" cy="325067"/>
            </a:xfrm>
            <a:prstGeom prst="rect">
              <a:avLst/>
            </a:prstGeom>
            <a:solidFill>
              <a:srgbClr val="8099CC"/>
            </a:solidFill>
            <a:ln>
              <a:noFill/>
            </a:ln>
          </p:spPr>
          <p:txBody>
            <a:bodyPr wrap="square" anchor="ctr" anchorCtr="0">
              <a:noAutofit/>
            </a:bodyPr>
            <a:lstStyle>
              <a:defPPr>
                <a:defRPr lang="en-US"/>
              </a:defPPr>
              <a:lvl1pPr algn="ctr" fontAlgn="auto">
                <a:spcBef>
                  <a:spcPts val="0"/>
                </a:spcBef>
                <a:spcAft>
                  <a:spcPts val="0"/>
                </a:spcAft>
                <a:defRPr sz="1000">
                  <a:solidFill>
                    <a:srgbClr val="000000"/>
                  </a:solidFill>
                </a:defRPr>
              </a:lvl1pPr>
            </a:lstStyle>
            <a:p>
              <a:pPr defTabSz="1018705"/>
              <a:r>
                <a:rPr lang="en-US" dirty="0">
                  <a:latin typeface="Arial" pitchFamily="34" charset="0"/>
                  <a:cs typeface="Arial" pitchFamily="34" charset="0"/>
                </a:rPr>
                <a:t>Self-organizing Teams</a:t>
              </a:r>
            </a:p>
          </p:txBody>
        </p:sp>
        <p:sp>
          <p:nvSpPr>
            <p:cNvPr id="47" name="TextBox 46"/>
            <p:cNvSpPr txBox="1"/>
            <p:nvPr/>
          </p:nvSpPr>
          <p:spPr>
            <a:xfrm>
              <a:off x="2197181" y="5375873"/>
              <a:ext cx="6333699" cy="332410"/>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Agile Work/</a:t>
              </a:r>
            </a:p>
            <a:p>
              <a:pPr algn="ctr" defTabSz="1018705">
                <a:defRPr/>
              </a:pPr>
              <a:r>
                <a:rPr lang="en-US" sz="1000" dirty="0">
                  <a:solidFill>
                    <a:srgbClr val="000000"/>
                  </a:solidFill>
                  <a:latin typeface="Arial" pitchFamily="34" charset="0"/>
                  <a:cs typeface="Arial" pitchFamily="34" charset="0"/>
                </a:rPr>
                <a:t>Planning Board</a:t>
              </a:r>
            </a:p>
          </p:txBody>
        </p:sp>
        <p:sp>
          <p:nvSpPr>
            <p:cNvPr id="48" name="TextBox 47"/>
            <p:cNvSpPr txBox="1"/>
            <p:nvPr/>
          </p:nvSpPr>
          <p:spPr>
            <a:xfrm>
              <a:off x="3645106" y="2405818"/>
              <a:ext cx="926894" cy="342032"/>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Blockers and Issues</a:t>
              </a:r>
            </a:p>
          </p:txBody>
        </p:sp>
        <p:sp>
          <p:nvSpPr>
            <p:cNvPr id="49" name="TextBox 48"/>
            <p:cNvSpPr txBox="1"/>
            <p:nvPr/>
          </p:nvSpPr>
          <p:spPr>
            <a:xfrm>
              <a:off x="4044088" y="3052650"/>
              <a:ext cx="680312" cy="345194"/>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Daily Standups</a:t>
              </a:r>
            </a:p>
          </p:txBody>
        </p:sp>
        <p:sp>
          <p:nvSpPr>
            <p:cNvPr id="50" name="TextBox 49"/>
            <p:cNvSpPr txBox="1"/>
            <p:nvPr/>
          </p:nvSpPr>
          <p:spPr>
            <a:xfrm>
              <a:off x="3810000" y="1757250"/>
              <a:ext cx="1131352" cy="320250"/>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Iteration Burndown Chart</a:t>
              </a:r>
            </a:p>
          </p:txBody>
        </p:sp>
        <p:sp>
          <p:nvSpPr>
            <p:cNvPr id="51" name="TextBox 50"/>
            <p:cNvSpPr txBox="1"/>
            <p:nvPr/>
          </p:nvSpPr>
          <p:spPr>
            <a:xfrm>
              <a:off x="7093598" y="4183687"/>
              <a:ext cx="739897" cy="345194"/>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Definition of Done</a:t>
              </a:r>
            </a:p>
          </p:txBody>
        </p:sp>
        <p:sp>
          <p:nvSpPr>
            <p:cNvPr id="52" name="TextBox 51"/>
            <p:cNvSpPr txBox="1"/>
            <p:nvPr/>
          </p:nvSpPr>
          <p:spPr>
            <a:xfrm>
              <a:off x="7034013" y="3116019"/>
              <a:ext cx="1119387" cy="332410"/>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Planning Poker / Game</a:t>
              </a:r>
            </a:p>
          </p:txBody>
        </p:sp>
        <p:sp>
          <p:nvSpPr>
            <p:cNvPr id="54" name="TextBox 53"/>
            <p:cNvSpPr txBox="1"/>
            <p:nvPr/>
          </p:nvSpPr>
          <p:spPr>
            <a:xfrm>
              <a:off x="1059573" y="5221667"/>
              <a:ext cx="729268" cy="327589"/>
            </a:xfrm>
            <a:prstGeom prst="rect">
              <a:avLst/>
            </a:prstGeom>
            <a:solidFill>
              <a:srgbClr val="8099CC"/>
            </a:solidFill>
            <a:ln>
              <a:noFill/>
            </a:ln>
          </p:spPr>
          <p:txBody>
            <a:bodyPr wrap="square" anchor="ctr" anchorCtr="0">
              <a:noAutofit/>
            </a:bodyPr>
            <a:lstStyle/>
            <a:p>
              <a:pPr algn="ctr" defTabSz="1018705">
                <a:defRPr/>
              </a:pPr>
              <a:r>
                <a:rPr lang="en-US" sz="1100" dirty="0">
                  <a:solidFill>
                    <a:srgbClr val="000000"/>
                  </a:solidFill>
                  <a:latin typeface="Arial" pitchFamily="34" charset="0"/>
                  <a:cs typeface="Arial" pitchFamily="34" charset="0"/>
                </a:rPr>
                <a:t>Product Backlog</a:t>
              </a:r>
            </a:p>
          </p:txBody>
        </p:sp>
        <p:sp>
          <p:nvSpPr>
            <p:cNvPr id="55" name="TextBox 54"/>
            <p:cNvSpPr txBox="1"/>
            <p:nvPr/>
          </p:nvSpPr>
          <p:spPr>
            <a:xfrm>
              <a:off x="2607566" y="4691844"/>
              <a:ext cx="729268" cy="345194"/>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User Story Map</a:t>
              </a:r>
            </a:p>
          </p:txBody>
        </p:sp>
        <p:sp>
          <p:nvSpPr>
            <p:cNvPr id="56" name="TextBox 55"/>
            <p:cNvSpPr txBox="1"/>
            <p:nvPr/>
          </p:nvSpPr>
          <p:spPr>
            <a:xfrm>
              <a:off x="1808121" y="4693039"/>
              <a:ext cx="729268" cy="345194"/>
            </a:xfrm>
            <a:prstGeom prst="rect">
              <a:avLst/>
            </a:prstGeom>
            <a:solidFill>
              <a:srgbClr val="8099CC"/>
            </a:solidFill>
            <a:ln>
              <a:noFill/>
            </a:ln>
          </p:spPr>
          <p:txBody>
            <a:bodyPr wrap="square" anchor="ctr" anchorCtr="0">
              <a:noAutofit/>
            </a:bodyPr>
            <a:lstStyle>
              <a:defPPr>
                <a:defRPr lang="en-US"/>
              </a:defPPr>
              <a:lvl1pPr fontAlgn="auto">
                <a:spcBef>
                  <a:spcPts val="0"/>
                </a:spcBef>
                <a:spcAft>
                  <a:spcPts val="0"/>
                </a:spcAft>
                <a:defRPr sz="700">
                  <a:solidFill>
                    <a:schemeClr val="bg1"/>
                  </a:solidFill>
                  <a:latin typeface="+mn-lt"/>
                  <a:cs typeface="+mn-cs"/>
                </a:defRPr>
              </a:lvl1pPr>
            </a:lstStyle>
            <a:p>
              <a:pPr algn="ctr" defTabSz="1018705"/>
              <a:r>
                <a:rPr lang="en-US" sz="1000" dirty="0">
                  <a:solidFill>
                    <a:srgbClr val="000000"/>
                  </a:solidFill>
                  <a:latin typeface="Arial" pitchFamily="34" charset="0"/>
                  <a:cs typeface="Arial" pitchFamily="34" charset="0"/>
                </a:rPr>
                <a:t>Epics/ Themes</a:t>
              </a:r>
            </a:p>
          </p:txBody>
        </p:sp>
        <p:sp>
          <p:nvSpPr>
            <p:cNvPr id="59" name="TextBox 58"/>
            <p:cNvSpPr txBox="1"/>
            <p:nvPr/>
          </p:nvSpPr>
          <p:spPr>
            <a:xfrm>
              <a:off x="5638800" y="4729050"/>
              <a:ext cx="729268" cy="323864"/>
            </a:xfrm>
            <a:prstGeom prst="rect">
              <a:avLst/>
            </a:prstGeom>
            <a:solidFill>
              <a:srgbClr val="8099CC"/>
            </a:solidFill>
            <a:ln>
              <a:noFill/>
            </a:ln>
          </p:spPr>
          <p:txBody>
            <a:bodyPr wrap="square" anchor="ctr" anchorCtr="0">
              <a:noAutofit/>
            </a:bodyPr>
            <a:lstStyle/>
            <a:p>
              <a:pPr algn="ctr" defTabSz="1018705">
                <a:defRPr/>
              </a:pPr>
              <a:r>
                <a:rPr lang="en-US" sz="1000" dirty="0">
                  <a:solidFill>
                    <a:srgbClr val="000000"/>
                  </a:solidFill>
                  <a:latin typeface="Arial" pitchFamily="34" charset="0"/>
                  <a:cs typeface="Arial" pitchFamily="34" charset="0"/>
                </a:rPr>
                <a:t>User Story</a:t>
              </a:r>
            </a:p>
          </p:txBody>
        </p:sp>
        <p:sp>
          <p:nvSpPr>
            <p:cNvPr id="60" name="TextBox 59"/>
            <p:cNvSpPr txBox="1"/>
            <p:nvPr/>
          </p:nvSpPr>
          <p:spPr>
            <a:xfrm>
              <a:off x="7652732" y="4729050"/>
              <a:ext cx="729268" cy="323864"/>
            </a:xfrm>
            <a:prstGeom prst="rect">
              <a:avLst/>
            </a:prstGeom>
            <a:solidFill>
              <a:srgbClr val="8099CC"/>
            </a:solidFill>
            <a:ln>
              <a:noFill/>
            </a:ln>
          </p:spPr>
          <p:txBody>
            <a:bodyPr anchor="ctr" anchorCtr="0">
              <a:noAutofit/>
            </a:bodyPr>
            <a:lstStyle>
              <a:defPPr>
                <a:defRPr lang="en-US"/>
              </a:defPPr>
              <a:lvl1pPr fontAlgn="auto">
                <a:spcBef>
                  <a:spcPts val="0"/>
                </a:spcBef>
                <a:spcAft>
                  <a:spcPts val="0"/>
                </a:spcAft>
                <a:defRPr sz="700">
                  <a:solidFill>
                    <a:schemeClr val="bg1"/>
                  </a:solidFill>
                  <a:latin typeface="+mn-lt"/>
                  <a:cs typeface="+mn-cs"/>
                </a:defRPr>
              </a:lvl1pPr>
            </a:lstStyle>
            <a:p>
              <a:pPr algn="ctr" defTabSz="1018705"/>
              <a:r>
                <a:rPr lang="en-US" sz="1000" dirty="0">
                  <a:solidFill>
                    <a:srgbClr val="000000"/>
                  </a:solidFill>
                  <a:latin typeface="Arial" pitchFamily="34" charset="0"/>
                  <a:cs typeface="Arial" pitchFamily="34" charset="0"/>
                </a:rPr>
                <a:t>Release</a:t>
              </a:r>
            </a:p>
            <a:p>
              <a:pPr algn="ctr" defTabSz="1018705"/>
              <a:endParaRPr lang="en-US" sz="1000" dirty="0">
                <a:solidFill>
                  <a:srgbClr val="000000"/>
                </a:solidFill>
                <a:latin typeface="Arial" pitchFamily="34" charset="0"/>
                <a:cs typeface="Arial" pitchFamily="34" charset="0"/>
              </a:endParaRPr>
            </a:p>
          </p:txBody>
        </p:sp>
      </p:grpSp>
      <p:sp>
        <p:nvSpPr>
          <p:cNvPr id="118" name="Rectangle 2"/>
          <p:cNvSpPr txBox="1">
            <a:spLocks noChangeArrowheads="1"/>
          </p:cNvSpPr>
          <p:nvPr/>
        </p:nvSpPr>
        <p:spPr bwMode="gray">
          <a:xfrm>
            <a:off x="436563" y="172694"/>
            <a:ext cx="9120664" cy="66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1018705" eaLnBrk="1" fontAlgn="base" hangingPunct="1">
              <a:lnSpc>
                <a:spcPct val="106000"/>
              </a:lnSpc>
              <a:spcBef>
                <a:spcPct val="0"/>
              </a:spcBef>
              <a:spcAft>
                <a:spcPct val="0"/>
              </a:spcAft>
            </a:pPr>
            <a:r>
              <a:rPr lang="en-US" altLang="zh-CN" b="1" dirty="0">
                <a:solidFill>
                  <a:prstClr val="black"/>
                </a:solidFill>
              </a:rPr>
              <a:t>Scrum focuses on recommending a few simple practices to enable a highly iterative, cross functional, collaborative approach to agile delivery</a:t>
            </a:r>
          </a:p>
        </p:txBody>
      </p:sp>
      <p:sp>
        <p:nvSpPr>
          <p:cNvPr id="5" name="Rectangle 4"/>
          <p:cNvSpPr/>
          <p:nvPr/>
        </p:nvSpPr>
        <p:spPr>
          <a:xfrm>
            <a:off x="336432" y="1553028"/>
            <a:ext cx="4311768" cy="2462202"/>
          </a:xfrm>
          <a:prstGeom prst="rect">
            <a:avLst/>
          </a:prstGeom>
        </p:spPr>
        <p:txBody>
          <a:bodyPr wrap="square" lIns="91429" tIns="45715" rIns="91429" bIns="45715">
            <a:spAutoFit/>
          </a:bodyPr>
          <a:lstStyle/>
          <a:p>
            <a:pPr marL="228574" indent="-228574">
              <a:buFont typeface="+mj-lt"/>
              <a:buAutoNum type="arabicPeriod" startAt="4"/>
            </a:pPr>
            <a:r>
              <a:rPr lang="en-US" sz="1400" dirty="0">
                <a:solidFill>
                  <a:srgbClr val="000000"/>
                </a:solidFill>
                <a:latin typeface="Arial"/>
              </a:rPr>
              <a:t>Work is completed within a </a:t>
            </a:r>
            <a:r>
              <a:rPr lang="en-US" sz="1400" b="1" dirty="0">
                <a:solidFill>
                  <a:srgbClr val="000000"/>
                </a:solidFill>
                <a:latin typeface="Arial"/>
              </a:rPr>
              <a:t>iteration</a:t>
            </a:r>
            <a:endParaRPr lang="en-US" sz="1400" dirty="0">
              <a:solidFill>
                <a:srgbClr val="000000"/>
              </a:solidFill>
              <a:latin typeface="Arial"/>
            </a:endParaRPr>
          </a:p>
          <a:p>
            <a:pPr marL="228574" indent="-228574">
              <a:buFontTx/>
              <a:buAutoNum type="arabicPeriod" startAt="4"/>
            </a:pPr>
            <a:r>
              <a:rPr lang="en-US" sz="1400" dirty="0">
                <a:solidFill>
                  <a:srgbClr val="000000"/>
                </a:solidFill>
                <a:latin typeface="Arial"/>
              </a:rPr>
              <a:t>Progress is assessed with </a:t>
            </a:r>
            <a:r>
              <a:rPr lang="en-US" sz="1400" b="1" dirty="0">
                <a:solidFill>
                  <a:srgbClr val="000000"/>
                </a:solidFill>
                <a:latin typeface="Arial"/>
              </a:rPr>
              <a:t>daily standups</a:t>
            </a:r>
          </a:p>
          <a:p>
            <a:pPr marL="228574" indent="-228574">
              <a:buFontTx/>
              <a:buAutoNum type="arabicPeriod" startAt="4"/>
            </a:pPr>
            <a:r>
              <a:rPr lang="en-US" sz="1400" dirty="0">
                <a:solidFill>
                  <a:srgbClr val="000000"/>
                </a:solidFill>
                <a:latin typeface="Arial"/>
              </a:rPr>
              <a:t>Progress maybe may be tracked on a </a:t>
            </a:r>
            <a:r>
              <a:rPr lang="en-US" sz="1400" b="1" dirty="0">
                <a:solidFill>
                  <a:srgbClr val="000000"/>
                </a:solidFill>
                <a:latin typeface="Arial"/>
              </a:rPr>
              <a:t>agile work board</a:t>
            </a:r>
          </a:p>
          <a:p>
            <a:pPr marL="228574" indent="-228574">
              <a:buFontTx/>
              <a:buAutoNum type="arabicPeriod" startAt="4"/>
            </a:pPr>
            <a:r>
              <a:rPr lang="en-US" sz="1400" dirty="0">
                <a:solidFill>
                  <a:srgbClr val="000000"/>
                </a:solidFill>
                <a:latin typeface="Arial"/>
              </a:rPr>
              <a:t>At the end of the iteration , the work should be </a:t>
            </a:r>
            <a:r>
              <a:rPr lang="en-US" sz="1400" b="1" dirty="0">
                <a:solidFill>
                  <a:srgbClr val="000000"/>
                </a:solidFill>
                <a:latin typeface="Arial"/>
              </a:rPr>
              <a:t>potentially shippable</a:t>
            </a:r>
          </a:p>
          <a:p>
            <a:pPr marL="228574" indent="-228574">
              <a:buFontTx/>
              <a:buAutoNum type="arabicPeriod" startAt="4"/>
            </a:pPr>
            <a:r>
              <a:rPr lang="en-US" sz="1400" dirty="0">
                <a:solidFill>
                  <a:srgbClr val="000000"/>
                </a:solidFill>
                <a:latin typeface="Arial"/>
              </a:rPr>
              <a:t>The iteration ends with </a:t>
            </a:r>
            <a:r>
              <a:rPr lang="en-US" sz="1400" b="1" dirty="0">
                <a:solidFill>
                  <a:srgbClr val="000000"/>
                </a:solidFill>
                <a:latin typeface="Arial"/>
              </a:rPr>
              <a:t>review</a:t>
            </a:r>
            <a:r>
              <a:rPr lang="en-US" sz="1400" dirty="0">
                <a:solidFill>
                  <a:srgbClr val="000000"/>
                </a:solidFill>
                <a:latin typeface="Arial"/>
              </a:rPr>
              <a:t> and </a:t>
            </a:r>
            <a:r>
              <a:rPr lang="en-US" sz="1400" b="1" dirty="0">
                <a:solidFill>
                  <a:srgbClr val="000000"/>
                </a:solidFill>
                <a:latin typeface="Arial"/>
              </a:rPr>
              <a:t>retrospective</a:t>
            </a:r>
            <a:r>
              <a:rPr lang="en-US" sz="1400" dirty="0">
                <a:solidFill>
                  <a:srgbClr val="000000"/>
                </a:solidFill>
                <a:latin typeface="Arial"/>
              </a:rPr>
              <a:t>.</a:t>
            </a:r>
          </a:p>
          <a:p>
            <a:pPr marL="228574" indent="-228574">
              <a:buFontTx/>
              <a:buAutoNum type="arabicPeriod" startAt="4"/>
            </a:pPr>
            <a:r>
              <a:rPr lang="en-US" sz="1400" dirty="0">
                <a:solidFill>
                  <a:srgbClr val="000000"/>
                </a:solidFill>
                <a:latin typeface="Arial"/>
              </a:rPr>
              <a:t>The iteration ends with a </a:t>
            </a:r>
            <a:r>
              <a:rPr lang="en-US" sz="1400" b="1" dirty="0">
                <a:solidFill>
                  <a:srgbClr val="000000"/>
                </a:solidFill>
                <a:latin typeface="Arial"/>
              </a:rPr>
              <a:t>review</a:t>
            </a:r>
            <a:r>
              <a:rPr lang="en-US" sz="1400" dirty="0">
                <a:solidFill>
                  <a:srgbClr val="000000"/>
                </a:solidFill>
                <a:latin typeface="Arial"/>
              </a:rPr>
              <a:t> and </a:t>
            </a:r>
            <a:r>
              <a:rPr lang="en-US" sz="1400" b="1" dirty="0">
                <a:solidFill>
                  <a:srgbClr val="000000"/>
                </a:solidFill>
                <a:latin typeface="Arial"/>
              </a:rPr>
              <a:t>retrospective</a:t>
            </a:r>
            <a:r>
              <a:rPr lang="en-US" sz="1400" dirty="0">
                <a:solidFill>
                  <a:srgbClr val="000000"/>
                </a:solidFill>
                <a:latin typeface="Arial"/>
              </a:rPr>
              <a:t>.</a:t>
            </a:r>
          </a:p>
          <a:p>
            <a:pPr marL="228574" indent="-228574">
              <a:buFontTx/>
              <a:buAutoNum type="arabicPeriod" startAt="4"/>
            </a:pPr>
            <a:r>
              <a:rPr lang="en-US" sz="1400" dirty="0">
                <a:solidFill>
                  <a:srgbClr val="000000"/>
                </a:solidFill>
                <a:latin typeface="Arial"/>
              </a:rPr>
              <a:t>As the next </a:t>
            </a:r>
            <a:r>
              <a:rPr lang="en-US" sz="1400" b="1" dirty="0">
                <a:solidFill>
                  <a:srgbClr val="000000"/>
                </a:solidFill>
                <a:latin typeface="Arial"/>
              </a:rPr>
              <a:t>iteration</a:t>
            </a:r>
            <a:r>
              <a:rPr lang="en-US" sz="1400" dirty="0">
                <a:solidFill>
                  <a:srgbClr val="000000"/>
                </a:solidFill>
                <a:latin typeface="Arial"/>
              </a:rPr>
              <a:t> begins, the process repeats</a:t>
            </a:r>
          </a:p>
        </p:txBody>
      </p:sp>
      <p:sp>
        <p:nvSpPr>
          <p:cNvPr id="8" name="Rectangle 7"/>
          <p:cNvSpPr/>
          <p:nvPr/>
        </p:nvSpPr>
        <p:spPr>
          <a:xfrm>
            <a:off x="337449" y="914401"/>
            <a:ext cx="9416153" cy="738654"/>
          </a:xfrm>
          <a:prstGeom prst="rect">
            <a:avLst/>
          </a:prstGeom>
        </p:spPr>
        <p:txBody>
          <a:bodyPr wrap="square" lIns="91429" tIns="45715" rIns="91429" bIns="45715">
            <a:spAutoFit/>
          </a:bodyPr>
          <a:lstStyle/>
          <a:p>
            <a:pPr marL="228574" indent="-228574">
              <a:buFontTx/>
              <a:buAutoNum type="arabicPeriod"/>
            </a:pPr>
            <a:r>
              <a:rPr lang="en-US" sz="1400" dirty="0">
                <a:solidFill>
                  <a:srgbClr val="000000"/>
                </a:solidFill>
                <a:latin typeface="Arial"/>
              </a:rPr>
              <a:t>Product owner creates a prioritized wish list called a </a:t>
            </a:r>
            <a:r>
              <a:rPr lang="en-US" sz="1400" b="1" dirty="0">
                <a:solidFill>
                  <a:srgbClr val="000000"/>
                </a:solidFill>
                <a:latin typeface="Arial"/>
              </a:rPr>
              <a:t>product backlog</a:t>
            </a:r>
          </a:p>
          <a:p>
            <a:pPr marL="228574" indent="-228574">
              <a:buFontTx/>
              <a:buAutoNum type="arabicPeriod"/>
            </a:pPr>
            <a:r>
              <a:rPr lang="en-US" sz="1400" dirty="0">
                <a:solidFill>
                  <a:srgbClr val="000000"/>
                </a:solidFill>
                <a:latin typeface="Arial"/>
              </a:rPr>
              <a:t>Items may be described using </a:t>
            </a:r>
            <a:r>
              <a:rPr lang="en-US" sz="1400" b="1" dirty="0">
                <a:solidFill>
                  <a:srgbClr val="000000"/>
                </a:solidFill>
                <a:latin typeface="Arial"/>
              </a:rPr>
              <a:t>epics</a:t>
            </a:r>
            <a:r>
              <a:rPr lang="en-US" sz="1400" dirty="0">
                <a:solidFill>
                  <a:srgbClr val="000000"/>
                </a:solidFill>
                <a:latin typeface="Arial"/>
              </a:rPr>
              <a:t>, </a:t>
            </a:r>
            <a:r>
              <a:rPr lang="en-US" sz="1400" b="1" dirty="0">
                <a:solidFill>
                  <a:srgbClr val="000000"/>
                </a:solidFill>
                <a:latin typeface="Arial"/>
              </a:rPr>
              <a:t>themes,</a:t>
            </a:r>
            <a:r>
              <a:rPr lang="en-US" sz="1400" dirty="0">
                <a:solidFill>
                  <a:srgbClr val="000000"/>
                </a:solidFill>
                <a:latin typeface="Arial"/>
              </a:rPr>
              <a:t> and organized into a </a:t>
            </a:r>
            <a:r>
              <a:rPr lang="en-US" sz="1400" b="1" dirty="0">
                <a:solidFill>
                  <a:srgbClr val="000000"/>
                </a:solidFill>
                <a:latin typeface="Arial"/>
              </a:rPr>
              <a:t>user story map</a:t>
            </a:r>
          </a:p>
          <a:p>
            <a:pPr marL="228574" indent="-228574">
              <a:buFontTx/>
              <a:buAutoNum type="arabicPeriod"/>
            </a:pPr>
            <a:r>
              <a:rPr lang="en-US" sz="1400" dirty="0">
                <a:solidFill>
                  <a:srgbClr val="000000"/>
                </a:solidFill>
                <a:latin typeface="Arial"/>
              </a:rPr>
              <a:t>During </a:t>
            </a:r>
            <a:r>
              <a:rPr lang="en-US" sz="1400" b="1" dirty="0">
                <a:solidFill>
                  <a:srgbClr val="000000"/>
                </a:solidFill>
                <a:latin typeface="Arial"/>
              </a:rPr>
              <a:t>iteration planning</a:t>
            </a:r>
            <a:r>
              <a:rPr lang="en-US" sz="1400" dirty="0">
                <a:solidFill>
                  <a:srgbClr val="000000"/>
                </a:solidFill>
                <a:latin typeface="Arial"/>
              </a:rPr>
              <a:t>, the team pulls </a:t>
            </a:r>
            <a:r>
              <a:rPr lang="en-US" sz="1400" b="1" dirty="0">
                <a:solidFill>
                  <a:srgbClr val="000000"/>
                </a:solidFill>
                <a:latin typeface="Arial"/>
              </a:rPr>
              <a:t>user stories </a:t>
            </a:r>
            <a:r>
              <a:rPr lang="en-US" sz="1400" dirty="0">
                <a:solidFill>
                  <a:srgbClr val="000000"/>
                </a:solidFill>
                <a:latin typeface="Arial"/>
              </a:rPr>
              <a:t>from the </a:t>
            </a:r>
            <a:r>
              <a:rPr lang="en-US" sz="1400" b="1" dirty="0">
                <a:solidFill>
                  <a:srgbClr val="000000"/>
                </a:solidFill>
                <a:latin typeface="Arial"/>
              </a:rPr>
              <a:t>iteration backlog</a:t>
            </a:r>
            <a:endParaRPr lang="en-US" sz="1400" dirty="0">
              <a:solidFill>
                <a:srgbClr val="000000"/>
              </a:solidFill>
              <a:latin typeface="Arial"/>
            </a:endParaRPr>
          </a:p>
        </p:txBody>
      </p:sp>
    </p:spTree>
    <p:extLst>
      <p:ext uri="{BB962C8B-B14F-4D97-AF65-F5344CB8AC3E}">
        <p14:creationId xmlns:p14="http://schemas.microsoft.com/office/powerpoint/2010/main" val="31138930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TextBox 204"/>
          <p:cNvSpPr txBox="1"/>
          <p:nvPr/>
        </p:nvSpPr>
        <p:spPr>
          <a:xfrm>
            <a:off x="1752600" y="4419601"/>
            <a:ext cx="7452997" cy="3017520"/>
          </a:xfrm>
          <a:prstGeom prst="rect">
            <a:avLst/>
          </a:prstGeom>
          <a:solidFill>
            <a:srgbClr val="009999"/>
          </a:solidFill>
          <a:ln>
            <a:noFill/>
          </a:ln>
        </p:spPr>
        <p:txBody>
          <a:bodyPr wrap="square" lIns="91429" tIns="45715" rIns="91429" bIns="45715" anchor="t" anchorCtr="0">
            <a:noAutofit/>
          </a:bodyPr>
          <a:lstStyle>
            <a:defPPr>
              <a:defRPr lang="en-US"/>
            </a:defPPr>
            <a:lvl1pPr defTabSz="1018824">
              <a:defRPr sz="1600">
                <a:solidFill>
                  <a:srgbClr val="000000"/>
                </a:solidFill>
                <a:latin typeface="Arial" pitchFamily="34" charset="0"/>
                <a:cs typeface="Arial" pitchFamily="34" charset="0"/>
              </a:defRPr>
            </a:lvl1pPr>
          </a:lstStyle>
          <a:p>
            <a:r>
              <a:rPr lang="en-US" dirty="0">
                <a:solidFill>
                  <a:schemeClr val="bg1"/>
                </a:solidFill>
              </a:rPr>
              <a:t>   Iteration</a:t>
            </a:r>
          </a:p>
        </p:txBody>
      </p:sp>
      <p:sp>
        <p:nvSpPr>
          <p:cNvPr id="232" name="TextBox 231"/>
          <p:cNvSpPr txBox="1"/>
          <p:nvPr/>
        </p:nvSpPr>
        <p:spPr>
          <a:xfrm>
            <a:off x="2662413" y="4980173"/>
            <a:ext cx="5581572" cy="2368534"/>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r>
              <a:rPr lang="en-US" dirty="0">
                <a:solidFill>
                  <a:schemeClr val="bg1"/>
                </a:solidFill>
              </a:rPr>
              <a:t>Development</a:t>
            </a:r>
          </a:p>
        </p:txBody>
      </p:sp>
      <p:sp>
        <p:nvSpPr>
          <p:cNvPr id="3" name="TextBox 2"/>
          <p:cNvSpPr txBox="1"/>
          <p:nvPr/>
        </p:nvSpPr>
        <p:spPr>
          <a:xfrm>
            <a:off x="962254" y="5870070"/>
            <a:ext cx="67561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Release Plan</a:t>
            </a:r>
          </a:p>
        </p:txBody>
      </p:sp>
      <p:sp>
        <p:nvSpPr>
          <p:cNvPr id="5" name="TextBox 4"/>
          <p:cNvSpPr txBox="1"/>
          <p:nvPr/>
        </p:nvSpPr>
        <p:spPr>
          <a:xfrm>
            <a:off x="1845880" y="5873544"/>
            <a:ext cx="67561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Iteration Plan</a:t>
            </a:r>
          </a:p>
        </p:txBody>
      </p:sp>
      <p:sp>
        <p:nvSpPr>
          <p:cNvPr id="6" name="TextBox 5"/>
          <p:cNvSpPr txBox="1"/>
          <p:nvPr/>
        </p:nvSpPr>
        <p:spPr>
          <a:xfrm>
            <a:off x="3649625" y="6133939"/>
            <a:ext cx="74317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Tasks</a:t>
            </a:r>
          </a:p>
        </p:txBody>
      </p:sp>
      <p:sp>
        <p:nvSpPr>
          <p:cNvPr id="8" name="TextBox 7"/>
          <p:cNvSpPr txBox="1"/>
          <p:nvPr/>
        </p:nvSpPr>
        <p:spPr>
          <a:xfrm>
            <a:off x="2729610" y="6833565"/>
            <a:ext cx="675613"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Self-organizing Teams</a:t>
            </a:r>
          </a:p>
        </p:txBody>
      </p:sp>
      <p:sp>
        <p:nvSpPr>
          <p:cNvPr id="11" name="TextBox 10"/>
          <p:cNvSpPr txBox="1"/>
          <p:nvPr/>
        </p:nvSpPr>
        <p:spPr>
          <a:xfrm>
            <a:off x="2729505" y="5871352"/>
            <a:ext cx="67561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Daily Standups</a:t>
            </a:r>
          </a:p>
        </p:txBody>
      </p:sp>
      <p:sp>
        <p:nvSpPr>
          <p:cNvPr id="18" name="TextBox 17"/>
          <p:cNvSpPr txBox="1"/>
          <p:nvPr/>
        </p:nvSpPr>
        <p:spPr>
          <a:xfrm>
            <a:off x="3665110" y="5625710"/>
            <a:ext cx="738788"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Acceptance Criteria </a:t>
            </a:r>
          </a:p>
        </p:txBody>
      </p:sp>
      <p:sp>
        <p:nvSpPr>
          <p:cNvPr id="20" name="TextBox 19"/>
          <p:cNvSpPr txBox="1"/>
          <p:nvPr/>
        </p:nvSpPr>
        <p:spPr>
          <a:xfrm>
            <a:off x="137105" y="5331547"/>
            <a:ext cx="724231" cy="36736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Story</a:t>
            </a:r>
          </a:p>
        </p:txBody>
      </p:sp>
      <p:sp>
        <p:nvSpPr>
          <p:cNvPr id="21" name="TextBox 20"/>
          <p:cNvSpPr txBox="1"/>
          <p:nvPr/>
        </p:nvSpPr>
        <p:spPr>
          <a:xfrm>
            <a:off x="137105" y="5869230"/>
            <a:ext cx="613776" cy="444515"/>
          </a:xfrm>
          <a:prstGeom prst="rect">
            <a:avLst/>
          </a:prstGeom>
          <a:solidFill>
            <a:srgbClr val="8099CC"/>
          </a:solidFill>
          <a:ln>
            <a:noFill/>
          </a:ln>
        </p:spPr>
        <p:txBody>
          <a:bodyPr wrap="square" lIns="0"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System Metaphor</a:t>
            </a:r>
          </a:p>
        </p:txBody>
      </p:sp>
      <p:sp>
        <p:nvSpPr>
          <p:cNvPr id="22" name="TextBox 21"/>
          <p:cNvSpPr txBox="1"/>
          <p:nvPr/>
        </p:nvSpPr>
        <p:spPr>
          <a:xfrm>
            <a:off x="962255" y="6907433"/>
            <a:ext cx="724231"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Spike</a:t>
            </a:r>
          </a:p>
        </p:txBody>
      </p:sp>
      <p:sp>
        <p:nvSpPr>
          <p:cNvPr id="23" name="TextBox 22"/>
          <p:cNvSpPr txBox="1"/>
          <p:nvPr/>
        </p:nvSpPr>
        <p:spPr>
          <a:xfrm>
            <a:off x="4168391" y="5040371"/>
            <a:ext cx="935602" cy="399291"/>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Class Responsibility Collaboration</a:t>
            </a:r>
          </a:p>
        </p:txBody>
      </p:sp>
      <p:sp>
        <p:nvSpPr>
          <p:cNvPr id="24" name="TextBox 23"/>
          <p:cNvSpPr txBox="1"/>
          <p:nvPr/>
        </p:nvSpPr>
        <p:spPr>
          <a:xfrm>
            <a:off x="4760107" y="6476579"/>
            <a:ext cx="724231" cy="44966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Self-documenting Code</a:t>
            </a:r>
          </a:p>
        </p:txBody>
      </p:sp>
      <p:sp>
        <p:nvSpPr>
          <p:cNvPr id="25" name="TextBox 24"/>
          <p:cNvSpPr txBox="1"/>
          <p:nvPr/>
        </p:nvSpPr>
        <p:spPr>
          <a:xfrm>
            <a:off x="8450545" y="6257282"/>
            <a:ext cx="672491"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Potentially Shippable Code</a:t>
            </a:r>
          </a:p>
        </p:txBody>
      </p:sp>
      <p:sp>
        <p:nvSpPr>
          <p:cNvPr id="26" name="TextBox 25"/>
          <p:cNvSpPr txBox="1"/>
          <p:nvPr/>
        </p:nvSpPr>
        <p:spPr>
          <a:xfrm>
            <a:off x="4637268" y="5866747"/>
            <a:ext cx="796654"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Test-driven Development</a:t>
            </a:r>
          </a:p>
        </p:txBody>
      </p:sp>
      <p:sp>
        <p:nvSpPr>
          <p:cNvPr id="28" name="TextBox 27"/>
          <p:cNvSpPr txBox="1"/>
          <p:nvPr/>
        </p:nvSpPr>
        <p:spPr>
          <a:xfrm>
            <a:off x="5643734" y="5063531"/>
            <a:ext cx="88362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Collective Code Ownership</a:t>
            </a:r>
          </a:p>
        </p:txBody>
      </p:sp>
      <p:sp>
        <p:nvSpPr>
          <p:cNvPr id="29" name="TextBox 28"/>
          <p:cNvSpPr txBox="1"/>
          <p:nvPr/>
        </p:nvSpPr>
        <p:spPr>
          <a:xfrm>
            <a:off x="6527359" y="6159583"/>
            <a:ext cx="724231"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Automated Builds</a:t>
            </a:r>
          </a:p>
        </p:txBody>
      </p:sp>
      <p:sp>
        <p:nvSpPr>
          <p:cNvPr id="30" name="TextBox 29"/>
          <p:cNvSpPr txBox="1"/>
          <p:nvPr/>
        </p:nvSpPr>
        <p:spPr>
          <a:xfrm>
            <a:off x="5604061" y="5866746"/>
            <a:ext cx="796654" cy="443869"/>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Pair Programming</a:t>
            </a:r>
          </a:p>
        </p:txBody>
      </p:sp>
      <p:sp>
        <p:nvSpPr>
          <p:cNvPr id="31" name="TextBox 30"/>
          <p:cNvSpPr txBox="1"/>
          <p:nvPr/>
        </p:nvSpPr>
        <p:spPr>
          <a:xfrm>
            <a:off x="6527359" y="5677555"/>
            <a:ext cx="724231" cy="44451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Continuous Integration</a:t>
            </a:r>
          </a:p>
        </p:txBody>
      </p:sp>
      <p:sp>
        <p:nvSpPr>
          <p:cNvPr id="32" name="TextBox 31"/>
          <p:cNvSpPr txBox="1"/>
          <p:nvPr/>
        </p:nvSpPr>
        <p:spPr>
          <a:xfrm>
            <a:off x="5641549" y="6620879"/>
            <a:ext cx="724231" cy="44451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Refactoring</a:t>
            </a:r>
          </a:p>
        </p:txBody>
      </p:sp>
      <p:sp>
        <p:nvSpPr>
          <p:cNvPr id="34" name="TextBox 33"/>
          <p:cNvSpPr txBox="1"/>
          <p:nvPr/>
        </p:nvSpPr>
        <p:spPr>
          <a:xfrm>
            <a:off x="1845880" y="6603359"/>
            <a:ext cx="67561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Defects</a:t>
            </a:r>
          </a:p>
        </p:txBody>
      </p:sp>
      <p:cxnSp>
        <p:nvCxnSpPr>
          <p:cNvPr id="46" name="Straight Arrow Connector 45"/>
          <p:cNvCxnSpPr>
            <a:stCxn id="18" idx="3"/>
            <a:endCxn id="26" idx="1"/>
          </p:cNvCxnSpPr>
          <p:nvPr/>
        </p:nvCxnSpPr>
        <p:spPr>
          <a:xfrm>
            <a:off x="4403896" y="5847967"/>
            <a:ext cx="233372" cy="24103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6" idx="3"/>
            <a:endCxn id="30" idx="1"/>
          </p:cNvCxnSpPr>
          <p:nvPr/>
        </p:nvCxnSpPr>
        <p:spPr>
          <a:xfrm flipV="1">
            <a:off x="5433923" y="6088680"/>
            <a:ext cx="170138" cy="32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2"/>
            <a:endCxn id="32" idx="0"/>
          </p:cNvCxnSpPr>
          <p:nvPr/>
        </p:nvCxnSpPr>
        <p:spPr>
          <a:xfrm>
            <a:off x="6002387" y="6310615"/>
            <a:ext cx="1278" cy="310265"/>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31" idx="1"/>
          </p:cNvCxnSpPr>
          <p:nvPr/>
        </p:nvCxnSpPr>
        <p:spPr>
          <a:xfrm flipV="1">
            <a:off x="6365780" y="5899813"/>
            <a:ext cx="161579" cy="160936"/>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30" name="Straight Arrow Connector 1029"/>
          <p:cNvCxnSpPr>
            <a:stCxn id="30" idx="0"/>
            <a:endCxn id="28" idx="2"/>
          </p:cNvCxnSpPr>
          <p:nvPr/>
        </p:nvCxnSpPr>
        <p:spPr>
          <a:xfrm flipV="1">
            <a:off x="6002388" y="5508045"/>
            <a:ext cx="83159" cy="35870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7439688" y="5891105"/>
            <a:ext cx="796654"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Test-driven Development</a:t>
            </a:r>
          </a:p>
        </p:txBody>
      </p:sp>
      <p:sp>
        <p:nvSpPr>
          <p:cNvPr id="73" name="TextBox 72"/>
          <p:cNvSpPr txBox="1"/>
          <p:nvPr/>
        </p:nvSpPr>
        <p:spPr>
          <a:xfrm>
            <a:off x="8416746" y="5709950"/>
            <a:ext cx="743546" cy="509793"/>
          </a:xfrm>
          <a:prstGeom prst="rect">
            <a:avLst/>
          </a:prstGeom>
          <a:solidFill>
            <a:srgbClr val="8099CC"/>
          </a:solidFill>
          <a:ln>
            <a:noFill/>
          </a:ln>
        </p:spPr>
        <p:txBody>
          <a:bodyPr wrap="square" lIns="0"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Acceptance Test Driven Development</a:t>
            </a:r>
          </a:p>
        </p:txBody>
      </p:sp>
      <p:cxnSp>
        <p:nvCxnSpPr>
          <p:cNvPr id="74" name="Straight Arrow Connector 73"/>
          <p:cNvCxnSpPr>
            <a:stCxn id="31" idx="3"/>
          </p:cNvCxnSpPr>
          <p:nvPr/>
        </p:nvCxnSpPr>
        <p:spPr>
          <a:xfrm>
            <a:off x="7251590" y="5899812"/>
            <a:ext cx="197443" cy="25684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60" name="Straight Arrow Connector 1059"/>
          <p:cNvCxnSpPr>
            <a:stCxn id="3" idx="3"/>
            <a:endCxn id="5" idx="1"/>
          </p:cNvCxnSpPr>
          <p:nvPr/>
        </p:nvCxnSpPr>
        <p:spPr>
          <a:xfrm>
            <a:off x="1637868" y="6092327"/>
            <a:ext cx="208012" cy="3473"/>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62" name="Straight Arrow Connector 1061"/>
          <p:cNvCxnSpPr>
            <a:stCxn id="34" idx="0"/>
            <a:endCxn id="5" idx="2"/>
          </p:cNvCxnSpPr>
          <p:nvPr/>
        </p:nvCxnSpPr>
        <p:spPr>
          <a:xfrm flipV="1">
            <a:off x="2183686" y="6318058"/>
            <a:ext cx="0" cy="28530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71" name="Straight Arrow Connector 1070"/>
          <p:cNvCxnSpPr>
            <a:endCxn id="73" idx="1"/>
          </p:cNvCxnSpPr>
          <p:nvPr/>
        </p:nvCxnSpPr>
        <p:spPr>
          <a:xfrm flipV="1">
            <a:off x="8200130" y="5964846"/>
            <a:ext cx="216616" cy="191808"/>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84" name="Straight Arrow Connector 1083"/>
          <p:cNvCxnSpPr>
            <a:stCxn id="23" idx="2"/>
          </p:cNvCxnSpPr>
          <p:nvPr/>
        </p:nvCxnSpPr>
        <p:spPr>
          <a:xfrm flipH="1">
            <a:off x="4037853" y="5439663"/>
            <a:ext cx="598340" cy="12973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a:stCxn id="5" idx="3"/>
            <a:endCxn id="11" idx="1"/>
          </p:cNvCxnSpPr>
          <p:nvPr/>
        </p:nvCxnSpPr>
        <p:spPr>
          <a:xfrm flipV="1">
            <a:off x="2521493" y="6093610"/>
            <a:ext cx="208012" cy="219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a:stCxn id="11" idx="3"/>
            <a:endCxn id="18" idx="1"/>
          </p:cNvCxnSpPr>
          <p:nvPr/>
        </p:nvCxnSpPr>
        <p:spPr>
          <a:xfrm flipV="1">
            <a:off x="3405120" y="5847968"/>
            <a:ext cx="259991" cy="24564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a:stCxn id="20" idx="3"/>
            <a:endCxn id="3" idx="0"/>
          </p:cNvCxnSpPr>
          <p:nvPr/>
        </p:nvCxnSpPr>
        <p:spPr>
          <a:xfrm>
            <a:off x="861337" y="5515232"/>
            <a:ext cx="438725" cy="354838"/>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88" name="Straight Arrow Connector 187"/>
          <p:cNvCxnSpPr>
            <a:stCxn id="21" idx="3"/>
            <a:endCxn id="3" idx="1"/>
          </p:cNvCxnSpPr>
          <p:nvPr/>
        </p:nvCxnSpPr>
        <p:spPr>
          <a:xfrm>
            <a:off x="750882" y="6091488"/>
            <a:ext cx="211373" cy="84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23" name="TextBox 222"/>
          <p:cNvSpPr txBox="1"/>
          <p:nvPr/>
        </p:nvSpPr>
        <p:spPr>
          <a:xfrm>
            <a:off x="9282192" y="6014024"/>
            <a:ext cx="623809"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Release</a:t>
            </a:r>
          </a:p>
        </p:txBody>
      </p:sp>
      <p:cxnSp>
        <p:nvCxnSpPr>
          <p:cNvPr id="203" name="Straight Arrow Connector 202"/>
          <p:cNvCxnSpPr>
            <a:endCxn id="223" idx="1"/>
          </p:cNvCxnSpPr>
          <p:nvPr/>
        </p:nvCxnSpPr>
        <p:spPr>
          <a:xfrm>
            <a:off x="9018841" y="6231991"/>
            <a:ext cx="263351" cy="4289"/>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80" name="Arc 21"/>
          <p:cNvSpPr>
            <a:spLocks/>
          </p:cNvSpPr>
          <p:nvPr/>
        </p:nvSpPr>
        <p:spPr bwMode="auto">
          <a:xfrm rot="386661">
            <a:off x="6268578" y="6575845"/>
            <a:ext cx="2373789" cy="1066710"/>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9525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nvGrpSpPr>
          <p:cNvPr id="209" name="Group 208"/>
          <p:cNvGrpSpPr/>
          <p:nvPr/>
        </p:nvGrpSpPr>
        <p:grpSpPr>
          <a:xfrm flipH="1">
            <a:off x="1140604" y="6393973"/>
            <a:ext cx="409114" cy="368962"/>
            <a:chOff x="3919127" y="1227891"/>
            <a:chExt cx="577007" cy="372633"/>
          </a:xfrm>
        </p:grpSpPr>
        <p:sp>
          <p:nvSpPr>
            <p:cNvPr id="281" name="Arc 23"/>
            <p:cNvSpPr>
              <a:spLocks/>
            </p:cNvSpPr>
            <p:nvPr/>
          </p:nvSpPr>
          <p:spPr bwMode="auto">
            <a:xfrm rot="8606658" flipH="1" flipV="1">
              <a:off x="4072157" y="1227948"/>
              <a:ext cx="423977" cy="372576"/>
            </a:xfrm>
            <a:custGeom>
              <a:avLst/>
              <a:gdLst>
                <a:gd name="T0" fmla="*/ 575909 w 29767"/>
                <a:gd name="T1" fmla="*/ 0 h 26228"/>
                <a:gd name="T2" fmla="*/ 0 w 29767"/>
                <a:gd name="T3" fmla="*/ 362171 h 26228"/>
                <a:gd name="T4" fmla="*/ 160719 w 29767"/>
                <a:gd name="T5" fmla="*/ 68069 h 26228"/>
                <a:gd name="T6" fmla="*/ 0 60000 65536"/>
                <a:gd name="T7" fmla="*/ 0 60000 65536"/>
                <a:gd name="T8" fmla="*/ 0 60000 65536"/>
              </a:gdLst>
              <a:ahLst/>
              <a:cxnLst>
                <a:cxn ang="T6">
                  <a:pos x="T0" y="T1"/>
                </a:cxn>
                <a:cxn ang="T7">
                  <a:pos x="T2" y="T3"/>
                </a:cxn>
                <a:cxn ang="T8">
                  <a:pos x="T4" y="T5"/>
                </a:cxn>
              </a:cxnLst>
              <a:rect l="0" t="0" r="r" b="b"/>
              <a:pathLst>
                <a:path w="29767" h="26228" fill="none" extrusionOk="0">
                  <a:moveTo>
                    <a:pt x="29265" y="-1"/>
                  </a:moveTo>
                  <a:cubicBezTo>
                    <a:pt x="29598" y="1520"/>
                    <a:pt x="29767" y="3071"/>
                    <a:pt x="29767" y="4628"/>
                  </a:cubicBezTo>
                  <a:cubicBezTo>
                    <a:pt x="29767" y="16557"/>
                    <a:pt x="20096" y="26228"/>
                    <a:pt x="8167" y="26228"/>
                  </a:cubicBezTo>
                  <a:cubicBezTo>
                    <a:pt x="5366" y="26228"/>
                    <a:pt x="2592" y="25683"/>
                    <a:pt x="-1" y="24624"/>
                  </a:cubicBezTo>
                </a:path>
                <a:path w="29767" h="26228" stroke="0" extrusionOk="0">
                  <a:moveTo>
                    <a:pt x="29265" y="-1"/>
                  </a:moveTo>
                  <a:cubicBezTo>
                    <a:pt x="29598" y="1520"/>
                    <a:pt x="29767" y="3071"/>
                    <a:pt x="29767" y="4628"/>
                  </a:cubicBezTo>
                  <a:cubicBezTo>
                    <a:pt x="29767" y="16557"/>
                    <a:pt x="20096" y="26228"/>
                    <a:pt x="8167" y="26228"/>
                  </a:cubicBezTo>
                  <a:cubicBezTo>
                    <a:pt x="5366" y="26228"/>
                    <a:pt x="2592" y="25683"/>
                    <a:pt x="-1" y="24624"/>
                  </a:cubicBezTo>
                  <a:lnTo>
                    <a:pt x="8167" y="4628"/>
                  </a:lnTo>
                  <a:lnTo>
                    <a:pt x="29265" y="-1"/>
                  </a:lnTo>
                  <a:close/>
                </a:path>
              </a:pathLst>
            </a:custGeom>
            <a:ln w="38100">
              <a:solidFill>
                <a:schemeClr val="accent1">
                  <a:lumMod val="50000"/>
                </a:schemeClr>
              </a:solidFill>
              <a:headEnd type="triangle" w="sm"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anchor="ctr"/>
            <a:lstStyle/>
            <a:p>
              <a:endParaRPr lang="en-US" sz="1600"/>
            </a:p>
          </p:txBody>
        </p:sp>
        <p:sp>
          <p:nvSpPr>
            <p:cNvPr id="284" name="Arc 23"/>
            <p:cNvSpPr>
              <a:spLocks/>
            </p:cNvSpPr>
            <p:nvPr/>
          </p:nvSpPr>
          <p:spPr bwMode="auto">
            <a:xfrm rot="19403336" flipH="1" flipV="1">
              <a:off x="3919127" y="1227891"/>
              <a:ext cx="423977" cy="372576"/>
            </a:xfrm>
            <a:custGeom>
              <a:avLst/>
              <a:gdLst>
                <a:gd name="T0" fmla="*/ 575909 w 29767"/>
                <a:gd name="T1" fmla="*/ 0 h 26228"/>
                <a:gd name="T2" fmla="*/ 0 w 29767"/>
                <a:gd name="T3" fmla="*/ 362171 h 26228"/>
                <a:gd name="T4" fmla="*/ 160719 w 29767"/>
                <a:gd name="T5" fmla="*/ 68069 h 26228"/>
                <a:gd name="T6" fmla="*/ 0 60000 65536"/>
                <a:gd name="T7" fmla="*/ 0 60000 65536"/>
                <a:gd name="T8" fmla="*/ 0 60000 65536"/>
              </a:gdLst>
              <a:ahLst/>
              <a:cxnLst>
                <a:cxn ang="T6">
                  <a:pos x="T0" y="T1"/>
                </a:cxn>
                <a:cxn ang="T7">
                  <a:pos x="T2" y="T3"/>
                </a:cxn>
                <a:cxn ang="T8">
                  <a:pos x="T4" y="T5"/>
                </a:cxn>
              </a:cxnLst>
              <a:rect l="0" t="0" r="r" b="b"/>
              <a:pathLst>
                <a:path w="29767" h="26228" fill="none" extrusionOk="0">
                  <a:moveTo>
                    <a:pt x="29265" y="-1"/>
                  </a:moveTo>
                  <a:cubicBezTo>
                    <a:pt x="29598" y="1520"/>
                    <a:pt x="29767" y="3071"/>
                    <a:pt x="29767" y="4628"/>
                  </a:cubicBezTo>
                  <a:cubicBezTo>
                    <a:pt x="29767" y="16557"/>
                    <a:pt x="20096" y="26228"/>
                    <a:pt x="8167" y="26228"/>
                  </a:cubicBezTo>
                  <a:cubicBezTo>
                    <a:pt x="5366" y="26228"/>
                    <a:pt x="2592" y="25683"/>
                    <a:pt x="-1" y="24624"/>
                  </a:cubicBezTo>
                </a:path>
                <a:path w="29767" h="26228" stroke="0" extrusionOk="0">
                  <a:moveTo>
                    <a:pt x="29265" y="-1"/>
                  </a:moveTo>
                  <a:cubicBezTo>
                    <a:pt x="29598" y="1520"/>
                    <a:pt x="29767" y="3071"/>
                    <a:pt x="29767" y="4628"/>
                  </a:cubicBezTo>
                  <a:cubicBezTo>
                    <a:pt x="29767" y="16557"/>
                    <a:pt x="20096" y="26228"/>
                    <a:pt x="8167" y="26228"/>
                  </a:cubicBezTo>
                  <a:cubicBezTo>
                    <a:pt x="5366" y="26228"/>
                    <a:pt x="2592" y="25683"/>
                    <a:pt x="-1" y="24624"/>
                  </a:cubicBezTo>
                  <a:lnTo>
                    <a:pt x="8167" y="4628"/>
                  </a:lnTo>
                  <a:lnTo>
                    <a:pt x="29265" y="-1"/>
                  </a:lnTo>
                  <a:close/>
                </a:path>
              </a:pathLst>
            </a:custGeom>
            <a:ln w="38100">
              <a:solidFill>
                <a:schemeClr val="accent1">
                  <a:lumMod val="50000"/>
                </a:schemeClr>
              </a:solidFill>
              <a:headEnd type="triangle" w="sm"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anchor="ctr"/>
            <a:lstStyle/>
            <a:p>
              <a:endParaRPr lang="en-US" sz="1600"/>
            </a:p>
          </p:txBody>
        </p:sp>
      </p:grpSp>
      <p:sp>
        <p:nvSpPr>
          <p:cNvPr id="295" name="Arc 21"/>
          <p:cNvSpPr>
            <a:spLocks/>
          </p:cNvSpPr>
          <p:nvPr/>
        </p:nvSpPr>
        <p:spPr bwMode="auto">
          <a:xfrm rot="7956656" flipH="1">
            <a:off x="2099074" y="4397541"/>
            <a:ext cx="3088700" cy="1752867"/>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297" name="Arc 21"/>
          <p:cNvSpPr>
            <a:spLocks/>
          </p:cNvSpPr>
          <p:nvPr/>
        </p:nvSpPr>
        <p:spPr bwMode="auto">
          <a:xfrm rot="6879086" flipH="1">
            <a:off x="1591309" y="3318020"/>
            <a:ext cx="3111689" cy="3323036"/>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dirty="0"/>
          </a:p>
        </p:txBody>
      </p:sp>
      <p:sp>
        <p:nvSpPr>
          <p:cNvPr id="4" name="TextBox 3"/>
          <p:cNvSpPr txBox="1"/>
          <p:nvPr/>
        </p:nvSpPr>
        <p:spPr>
          <a:xfrm>
            <a:off x="5093207" y="3886200"/>
            <a:ext cx="774193"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Release Burndown Chart</a:t>
            </a:r>
          </a:p>
        </p:txBody>
      </p:sp>
      <p:cxnSp>
        <p:nvCxnSpPr>
          <p:cNvPr id="300" name="Straight Arrow Connector 299"/>
          <p:cNvCxnSpPr/>
          <p:nvPr/>
        </p:nvCxnSpPr>
        <p:spPr>
          <a:xfrm flipH="1">
            <a:off x="5432265" y="6310615"/>
            <a:ext cx="197159" cy="16892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06" name="Straight Arrow Connector 305"/>
          <p:cNvCxnSpPr>
            <a:stCxn id="30" idx="3"/>
            <a:endCxn id="29" idx="1"/>
          </p:cNvCxnSpPr>
          <p:nvPr/>
        </p:nvCxnSpPr>
        <p:spPr>
          <a:xfrm>
            <a:off x="6400714" y="6088681"/>
            <a:ext cx="126645" cy="29316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3" name="Straight Arrow Connector 312"/>
          <p:cNvCxnSpPr>
            <a:endCxn id="25" idx="1"/>
          </p:cNvCxnSpPr>
          <p:nvPr/>
        </p:nvCxnSpPr>
        <p:spPr>
          <a:xfrm>
            <a:off x="8200131" y="6219743"/>
            <a:ext cx="250414" cy="25979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8" name="Straight Arrow Connector 317"/>
          <p:cNvCxnSpPr>
            <a:stCxn id="29" idx="3"/>
            <a:endCxn id="72" idx="1"/>
          </p:cNvCxnSpPr>
          <p:nvPr/>
        </p:nvCxnSpPr>
        <p:spPr>
          <a:xfrm flipV="1">
            <a:off x="7251591" y="6113362"/>
            <a:ext cx="188097" cy="268479"/>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181600" y="4508486"/>
            <a:ext cx="859150"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Iteration Burndown Chart</a:t>
            </a:r>
          </a:p>
        </p:txBody>
      </p:sp>
      <p:cxnSp>
        <p:nvCxnSpPr>
          <p:cNvPr id="340" name="Straight Arrow Connector 339"/>
          <p:cNvCxnSpPr>
            <a:endCxn id="6" idx="3"/>
          </p:cNvCxnSpPr>
          <p:nvPr/>
        </p:nvCxnSpPr>
        <p:spPr>
          <a:xfrm flipH="1">
            <a:off x="4392800" y="6158614"/>
            <a:ext cx="255400" cy="19758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42" name="Straight Arrow Connector 341"/>
          <p:cNvCxnSpPr>
            <a:stCxn id="11" idx="3"/>
            <a:endCxn id="6" idx="1"/>
          </p:cNvCxnSpPr>
          <p:nvPr/>
        </p:nvCxnSpPr>
        <p:spPr>
          <a:xfrm>
            <a:off x="3405119" y="6093610"/>
            <a:ext cx="244506" cy="26258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47" name="Rectangle 2"/>
          <p:cNvSpPr txBox="1">
            <a:spLocks noChangeArrowheads="1"/>
          </p:cNvSpPr>
          <p:nvPr/>
        </p:nvSpPr>
        <p:spPr bwMode="gray">
          <a:xfrm>
            <a:off x="436563" y="172693"/>
            <a:ext cx="9120664" cy="66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1018705" eaLnBrk="1" fontAlgn="base" hangingPunct="1">
              <a:lnSpc>
                <a:spcPct val="106000"/>
              </a:lnSpc>
              <a:spcBef>
                <a:spcPct val="0"/>
              </a:spcBef>
              <a:spcAft>
                <a:spcPct val="0"/>
              </a:spcAft>
            </a:pPr>
            <a:r>
              <a:rPr lang="en-US" altLang="zh-CN" b="1" dirty="0" smtClean="0">
                <a:solidFill>
                  <a:prstClr val="black"/>
                </a:solidFill>
              </a:rPr>
              <a:t>Extreme Programming supports iterative feedback cycle through explicit technical practices supporting high-quality code just-in-time</a:t>
            </a:r>
            <a:endParaRPr lang="en-US" altLang="zh-CN" b="1" dirty="0">
              <a:solidFill>
                <a:prstClr val="black"/>
              </a:solidFill>
            </a:endParaRPr>
          </a:p>
        </p:txBody>
      </p:sp>
      <p:sp>
        <p:nvSpPr>
          <p:cNvPr id="348" name="Rectangle 347"/>
          <p:cNvSpPr/>
          <p:nvPr/>
        </p:nvSpPr>
        <p:spPr>
          <a:xfrm>
            <a:off x="337449" y="914401"/>
            <a:ext cx="9416153" cy="2893090"/>
          </a:xfrm>
          <a:prstGeom prst="rect">
            <a:avLst/>
          </a:prstGeom>
        </p:spPr>
        <p:txBody>
          <a:bodyPr wrap="square" lIns="91429" tIns="45715" rIns="91429" bIns="45715">
            <a:spAutoFit/>
          </a:bodyPr>
          <a:lstStyle/>
          <a:p>
            <a:pPr marL="228574" indent="-228574">
              <a:buFontTx/>
              <a:buAutoNum type="arabicPeriod"/>
            </a:pPr>
            <a:r>
              <a:rPr lang="en-US" sz="1400" dirty="0" smtClean="0">
                <a:solidFill>
                  <a:srgbClr val="000000"/>
                </a:solidFill>
                <a:latin typeface="Arial"/>
              </a:rPr>
              <a:t>Development team works with the customers to write requirements as </a:t>
            </a:r>
            <a:r>
              <a:rPr lang="en-US" sz="1400" b="1" dirty="0" smtClean="0">
                <a:solidFill>
                  <a:srgbClr val="000000"/>
                </a:solidFill>
                <a:latin typeface="Arial"/>
              </a:rPr>
              <a:t>user stories </a:t>
            </a:r>
            <a:r>
              <a:rPr lang="en-US" sz="1400" dirty="0" smtClean="0">
                <a:solidFill>
                  <a:srgbClr val="000000"/>
                </a:solidFill>
                <a:latin typeface="Arial"/>
              </a:rPr>
              <a:t>and creates a </a:t>
            </a:r>
            <a:r>
              <a:rPr lang="en-US" sz="1400" b="1" dirty="0" smtClean="0">
                <a:solidFill>
                  <a:srgbClr val="000000"/>
                </a:solidFill>
                <a:latin typeface="Arial"/>
              </a:rPr>
              <a:t>release plan</a:t>
            </a:r>
          </a:p>
          <a:p>
            <a:pPr marL="228574" indent="-228574">
              <a:buFontTx/>
              <a:buAutoNum type="arabicPeriod"/>
            </a:pPr>
            <a:r>
              <a:rPr lang="en-US" sz="1400" dirty="0" smtClean="0">
                <a:solidFill>
                  <a:srgbClr val="000000"/>
                </a:solidFill>
                <a:latin typeface="Arial"/>
              </a:rPr>
              <a:t>Development team creates an </a:t>
            </a:r>
            <a:r>
              <a:rPr lang="en-US" sz="1400" b="1" dirty="0" smtClean="0">
                <a:solidFill>
                  <a:srgbClr val="000000"/>
                </a:solidFill>
                <a:latin typeface="Arial"/>
              </a:rPr>
              <a:t>iteration plan </a:t>
            </a:r>
            <a:r>
              <a:rPr lang="en-US" sz="1400" dirty="0" smtClean="0">
                <a:solidFill>
                  <a:srgbClr val="000000"/>
                </a:solidFill>
                <a:latin typeface="Arial"/>
              </a:rPr>
              <a:t>time-boxed from 1-3 weeks in length, </a:t>
            </a:r>
            <a:r>
              <a:rPr lang="en-US" sz="1400" b="1" dirty="0" smtClean="0">
                <a:solidFill>
                  <a:srgbClr val="000000"/>
                </a:solidFill>
                <a:latin typeface="Arial"/>
              </a:rPr>
              <a:t>spikes</a:t>
            </a:r>
            <a:r>
              <a:rPr lang="en-US" sz="1400" dirty="0" smtClean="0">
                <a:solidFill>
                  <a:srgbClr val="000000"/>
                </a:solidFill>
                <a:latin typeface="Arial"/>
              </a:rPr>
              <a:t> are created to understand unknown risks</a:t>
            </a:r>
          </a:p>
          <a:p>
            <a:pPr marL="228574" indent="-228574">
              <a:buFontTx/>
              <a:buAutoNum type="arabicPeriod"/>
            </a:pPr>
            <a:r>
              <a:rPr lang="en-US" sz="1400" dirty="0" smtClean="0">
                <a:solidFill>
                  <a:srgbClr val="000000"/>
                </a:solidFill>
                <a:latin typeface="Arial"/>
              </a:rPr>
              <a:t>Daily </a:t>
            </a:r>
            <a:r>
              <a:rPr lang="en-US" sz="1400" b="1" dirty="0" smtClean="0">
                <a:solidFill>
                  <a:srgbClr val="000000"/>
                </a:solidFill>
                <a:latin typeface="Arial"/>
              </a:rPr>
              <a:t>standups</a:t>
            </a:r>
            <a:r>
              <a:rPr lang="en-US" sz="1400" dirty="0" smtClean="0">
                <a:solidFill>
                  <a:srgbClr val="000000"/>
                </a:solidFill>
                <a:latin typeface="Arial"/>
              </a:rPr>
              <a:t> are conducted with the entire development team</a:t>
            </a:r>
          </a:p>
          <a:p>
            <a:pPr marL="228574" indent="-228574">
              <a:buFontTx/>
              <a:buAutoNum type="arabicPeriod"/>
            </a:pPr>
            <a:r>
              <a:rPr lang="en-US" sz="1400" b="1" dirty="0" smtClean="0">
                <a:solidFill>
                  <a:srgbClr val="000000"/>
                </a:solidFill>
                <a:latin typeface="Arial"/>
              </a:rPr>
              <a:t>Acceptance criteria </a:t>
            </a:r>
            <a:r>
              <a:rPr lang="en-US" sz="1400" dirty="0" smtClean="0">
                <a:solidFill>
                  <a:srgbClr val="000000"/>
                </a:solidFill>
                <a:latin typeface="Arial"/>
              </a:rPr>
              <a:t>is written/refined for each user story before coding starts and design is done just-in-time with </a:t>
            </a:r>
            <a:r>
              <a:rPr lang="en-US" sz="1400" b="1" dirty="0" smtClean="0">
                <a:solidFill>
                  <a:srgbClr val="000000"/>
                </a:solidFill>
                <a:latin typeface="Arial"/>
              </a:rPr>
              <a:t>Class Responsibility Collaboration</a:t>
            </a:r>
            <a:r>
              <a:rPr lang="en-US" sz="1400" dirty="0" smtClean="0">
                <a:solidFill>
                  <a:srgbClr val="000000"/>
                </a:solidFill>
                <a:latin typeface="Arial"/>
              </a:rPr>
              <a:t> cards</a:t>
            </a:r>
          </a:p>
          <a:p>
            <a:pPr marL="228574" indent="-228574">
              <a:buFontTx/>
              <a:buAutoNum type="arabicPeriod"/>
            </a:pPr>
            <a:r>
              <a:rPr lang="en-US" sz="1400" dirty="0" smtClean="0">
                <a:solidFill>
                  <a:srgbClr val="000000"/>
                </a:solidFill>
                <a:latin typeface="Arial"/>
              </a:rPr>
              <a:t>As the design emerges a </a:t>
            </a:r>
            <a:r>
              <a:rPr lang="en-US" sz="1400" b="1" dirty="0" smtClean="0">
                <a:solidFill>
                  <a:srgbClr val="000000"/>
                </a:solidFill>
                <a:latin typeface="Arial"/>
              </a:rPr>
              <a:t>system metaphor </a:t>
            </a:r>
            <a:r>
              <a:rPr lang="en-US" sz="1400" dirty="0" smtClean="0">
                <a:solidFill>
                  <a:srgbClr val="000000"/>
                </a:solidFill>
                <a:latin typeface="Arial"/>
              </a:rPr>
              <a:t>is defined and used to communicate the system design</a:t>
            </a:r>
          </a:p>
          <a:p>
            <a:pPr marL="228574" indent="-228574">
              <a:buFontTx/>
              <a:buAutoNum type="arabicPeriod"/>
            </a:pPr>
            <a:r>
              <a:rPr lang="en-US" sz="1400" dirty="0" smtClean="0">
                <a:solidFill>
                  <a:srgbClr val="000000"/>
                </a:solidFill>
                <a:latin typeface="Arial"/>
              </a:rPr>
              <a:t>Developers code the </a:t>
            </a:r>
            <a:r>
              <a:rPr lang="en-US" sz="1400" b="1" dirty="0" smtClean="0">
                <a:solidFill>
                  <a:srgbClr val="000000"/>
                </a:solidFill>
                <a:latin typeface="Arial"/>
              </a:rPr>
              <a:t>unit tests first </a:t>
            </a:r>
            <a:r>
              <a:rPr lang="en-US" sz="1400" dirty="0" smtClean="0">
                <a:solidFill>
                  <a:srgbClr val="000000"/>
                </a:solidFill>
                <a:latin typeface="Arial"/>
              </a:rPr>
              <a:t>and then write the application code </a:t>
            </a:r>
            <a:r>
              <a:rPr lang="en-US" sz="1400" b="1" dirty="0" smtClean="0">
                <a:solidFill>
                  <a:srgbClr val="000000"/>
                </a:solidFill>
                <a:latin typeface="Arial"/>
              </a:rPr>
              <a:t>pairing</a:t>
            </a:r>
            <a:r>
              <a:rPr lang="en-US" sz="1400" dirty="0">
                <a:solidFill>
                  <a:srgbClr val="000000"/>
                </a:solidFill>
                <a:latin typeface="Arial"/>
              </a:rPr>
              <a:t> </a:t>
            </a:r>
            <a:r>
              <a:rPr lang="en-US" sz="1400" dirty="0" smtClean="0">
                <a:solidFill>
                  <a:srgbClr val="000000"/>
                </a:solidFill>
                <a:latin typeface="Arial"/>
              </a:rPr>
              <a:t>with another developer, </a:t>
            </a:r>
            <a:r>
              <a:rPr lang="en-US" sz="1400" b="1" dirty="0" smtClean="0">
                <a:solidFill>
                  <a:srgbClr val="000000"/>
                </a:solidFill>
                <a:latin typeface="Arial"/>
              </a:rPr>
              <a:t>onsite customer </a:t>
            </a:r>
            <a:r>
              <a:rPr lang="en-US" sz="1400" dirty="0" smtClean="0">
                <a:solidFill>
                  <a:srgbClr val="000000"/>
                </a:solidFill>
                <a:latin typeface="Arial"/>
              </a:rPr>
              <a:t>is available to clarify/refine stories</a:t>
            </a:r>
          </a:p>
          <a:p>
            <a:pPr marL="228574" indent="-228574">
              <a:buFontTx/>
              <a:buAutoNum type="arabicPeriod"/>
            </a:pPr>
            <a:r>
              <a:rPr lang="en-US" sz="1400" dirty="0" smtClean="0">
                <a:solidFill>
                  <a:srgbClr val="000000"/>
                </a:solidFill>
                <a:latin typeface="Arial"/>
              </a:rPr>
              <a:t>Code is checked in at least daily, </a:t>
            </a:r>
            <a:r>
              <a:rPr lang="en-US" sz="1400" b="1" dirty="0" smtClean="0">
                <a:solidFill>
                  <a:srgbClr val="000000"/>
                </a:solidFill>
                <a:latin typeface="Arial"/>
              </a:rPr>
              <a:t>shared and owned </a:t>
            </a:r>
            <a:r>
              <a:rPr lang="en-US" sz="1400" dirty="0" smtClean="0">
                <a:solidFill>
                  <a:srgbClr val="000000"/>
                </a:solidFill>
                <a:latin typeface="Arial"/>
              </a:rPr>
              <a:t>by the entire team and developers are empowered to </a:t>
            </a:r>
            <a:r>
              <a:rPr lang="en-US" sz="1400" b="1" dirty="0" smtClean="0">
                <a:solidFill>
                  <a:srgbClr val="000000"/>
                </a:solidFill>
                <a:latin typeface="Arial"/>
              </a:rPr>
              <a:t>refactor</a:t>
            </a:r>
            <a:r>
              <a:rPr lang="en-US" sz="1400" dirty="0" smtClean="0">
                <a:solidFill>
                  <a:srgbClr val="000000"/>
                </a:solidFill>
                <a:latin typeface="Arial"/>
              </a:rPr>
              <a:t> any portion of the code base to support new changes</a:t>
            </a:r>
          </a:p>
          <a:p>
            <a:pPr marL="228574" indent="-228574">
              <a:buFontTx/>
              <a:buAutoNum type="arabicPeriod"/>
            </a:pPr>
            <a:r>
              <a:rPr lang="en-US" sz="1400" b="1" dirty="0" smtClean="0">
                <a:solidFill>
                  <a:srgbClr val="000000"/>
                </a:solidFill>
                <a:latin typeface="Arial"/>
              </a:rPr>
              <a:t>Automated tests</a:t>
            </a:r>
            <a:r>
              <a:rPr lang="en-US" sz="1400" dirty="0" smtClean="0">
                <a:solidFill>
                  <a:srgbClr val="000000"/>
                </a:solidFill>
                <a:latin typeface="Arial"/>
              </a:rPr>
              <a:t>, </a:t>
            </a:r>
            <a:r>
              <a:rPr lang="en-US" sz="1400" b="1" dirty="0" smtClean="0">
                <a:solidFill>
                  <a:srgbClr val="000000"/>
                </a:solidFill>
                <a:latin typeface="Arial"/>
              </a:rPr>
              <a:t>continuous integration with automated builds </a:t>
            </a:r>
            <a:r>
              <a:rPr lang="en-US" sz="1400" dirty="0" smtClean="0">
                <a:solidFill>
                  <a:srgbClr val="000000"/>
                </a:solidFill>
                <a:latin typeface="Arial"/>
              </a:rPr>
              <a:t>run often to validate the entire code base</a:t>
            </a:r>
          </a:p>
          <a:p>
            <a:pPr marL="228574" indent="-228574">
              <a:buFontTx/>
              <a:buAutoNum type="arabicPeriod"/>
            </a:pPr>
            <a:r>
              <a:rPr lang="en-US" sz="1400" b="1" dirty="0" smtClean="0">
                <a:solidFill>
                  <a:srgbClr val="000000"/>
                </a:solidFill>
                <a:latin typeface="Arial"/>
              </a:rPr>
              <a:t>Potentially shippable code </a:t>
            </a:r>
            <a:r>
              <a:rPr lang="en-US" sz="1400" dirty="0" smtClean="0">
                <a:solidFill>
                  <a:srgbClr val="000000"/>
                </a:solidFill>
                <a:latin typeface="Arial"/>
              </a:rPr>
              <a:t>is delivered at the end of each iteration, and the process repeats</a:t>
            </a:r>
            <a:endParaRPr lang="en-US" sz="1400" dirty="0">
              <a:solidFill>
                <a:srgbClr val="000000"/>
              </a:solidFill>
              <a:latin typeface="Arial"/>
            </a:endParaRPr>
          </a:p>
        </p:txBody>
      </p:sp>
    </p:spTree>
    <p:extLst>
      <p:ext uri="{BB962C8B-B14F-4D97-AF65-F5344CB8AC3E}">
        <p14:creationId xmlns:p14="http://schemas.microsoft.com/office/powerpoint/2010/main" val="35722618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355859" y="3024803"/>
            <a:ext cx="93970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Test-driven Development</a:t>
            </a:r>
          </a:p>
        </p:txBody>
      </p:sp>
      <p:sp>
        <p:nvSpPr>
          <p:cNvPr id="7" name="TextBox 6"/>
          <p:cNvSpPr txBox="1"/>
          <p:nvPr/>
        </p:nvSpPr>
        <p:spPr>
          <a:xfrm rot="16200000">
            <a:off x="3932737" y="4613416"/>
            <a:ext cx="430865" cy="1098011"/>
          </a:xfrm>
          <a:prstGeom prst="rect">
            <a:avLst/>
          </a:prstGeom>
          <a:solidFill>
            <a:srgbClr val="8099CC"/>
          </a:solidFill>
          <a:ln>
            <a:noFill/>
          </a:ln>
        </p:spPr>
        <p:txBody>
          <a:bodyPr vert="vert"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Acceptance Test Driven Development</a:t>
            </a:r>
          </a:p>
        </p:txBody>
      </p:sp>
      <p:sp>
        <p:nvSpPr>
          <p:cNvPr id="10" name="TextBox 9"/>
          <p:cNvSpPr txBox="1"/>
          <p:nvPr/>
        </p:nvSpPr>
        <p:spPr>
          <a:xfrm>
            <a:off x="4141780" y="3793467"/>
            <a:ext cx="916988" cy="29582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Iteration</a:t>
            </a:r>
            <a:endParaRPr lang="en-US" dirty="0"/>
          </a:p>
        </p:txBody>
      </p:sp>
      <p:sp>
        <p:nvSpPr>
          <p:cNvPr id="11" name="TextBox 10"/>
          <p:cNvSpPr txBox="1"/>
          <p:nvPr/>
        </p:nvSpPr>
        <p:spPr>
          <a:xfrm>
            <a:off x="5568640" y="2601020"/>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Storming</a:t>
            </a:r>
          </a:p>
        </p:txBody>
      </p:sp>
      <p:sp>
        <p:nvSpPr>
          <p:cNvPr id="12" name="TextBox 11"/>
          <p:cNvSpPr txBox="1"/>
          <p:nvPr/>
        </p:nvSpPr>
        <p:spPr>
          <a:xfrm>
            <a:off x="6029399" y="3649354"/>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Envisioning</a:t>
            </a:r>
          </a:p>
        </p:txBody>
      </p:sp>
      <p:sp>
        <p:nvSpPr>
          <p:cNvPr id="13" name="TextBox 12"/>
          <p:cNvSpPr txBox="1"/>
          <p:nvPr/>
        </p:nvSpPr>
        <p:spPr>
          <a:xfrm>
            <a:off x="7508590" y="3194075"/>
            <a:ext cx="876620" cy="215433"/>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Backlog</a:t>
            </a:r>
          </a:p>
        </p:txBody>
      </p:sp>
      <p:sp>
        <p:nvSpPr>
          <p:cNvPr id="16" name="TextBox 15"/>
          <p:cNvSpPr txBox="1"/>
          <p:nvPr/>
        </p:nvSpPr>
        <p:spPr>
          <a:xfrm rot="16200000">
            <a:off x="6288031" y="4409913"/>
            <a:ext cx="332000" cy="780957"/>
          </a:xfrm>
          <a:prstGeom prst="rect">
            <a:avLst/>
          </a:prstGeom>
          <a:solidFill>
            <a:srgbClr val="8099CC"/>
          </a:solidFill>
          <a:ln>
            <a:noFill/>
          </a:ln>
        </p:spPr>
        <p:txBody>
          <a:bodyPr vert="vert"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Emergent Design</a:t>
            </a:r>
          </a:p>
        </p:txBody>
      </p:sp>
      <p:cxnSp>
        <p:nvCxnSpPr>
          <p:cNvPr id="20" name="Curved Connector 19"/>
          <p:cNvCxnSpPr>
            <a:stCxn id="6" idx="0"/>
            <a:endCxn id="11" idx="1"/>
          </p:cNvCxnSpPr>
          <p:nvPr/>
        </p:nvCxnSpPr>
        <p:spPr bwMode="auto">
          <a:xfrm rot="5400000" flipH="1" flipV="1">
            <a:off x="4569920" y="2026083"/>
            <a:ext cx="254511" cy="1742930"/>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1" name="Curved Connector 20"/>
          <p:cNvCxnSpPr>
            <a:stCxn id="11" idx="3"/>
            <a:endCxn id="13" idx="0"/>
          </p:cNvCxnSpPr>
          <p:nvPr/>
        </p:nvCxnSpPr>
        <p:spPr bwMode="auto">
          <a:xfrm>
            <a:off x="6445262" y="2770292"/>
            <a:ext cx="1501638" cy="423783"/>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2" name="Curved Connector 21"/>
          <p:cNvCxnSpPr>
            <a:stCxn id="11" idx="1"/>
            <a:endCxn id="16" idx="0"/>
          </p:cNvCxnSpPr>
          <p:nvPr/>
        </p:nvCxnSpPr>
        <p:spPr bwMode="auto">
          <a:xfrm rot="10800000" flipH="1" flipV="1">
            <a:off x="5568639" y="2770292"/>
            <a:ext cx="494913" cy="2030100"/>
          </a:xfrm>
          <a:prstGeom prst="curvedConnector3">
            <a:avLst>
              <a:gd name="adj1" fmla="val -46190"/>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3" name="Straight Arrow Connector 22"/>
          <p:cNvCxnSpPr>
            <a:stCxn id="12" idx="2"/>
            <a:endCxn id="16" idx="3"/>
          </p:cNvCxnSpPr>
          <p:nvPr/>
        </p:nvCxnSpPr>
        <p:spPr bwMode="auto">
          <a:xfrm flipH="1">
            <a:off x="6454032" y="3987898"/>
            <a:ext cx="13678" cy="646494"/>
          </a:xfrm>
          <a:prstGeom prst="straightConnector1">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4" name="Curved Connector 23"/>
          <p:cNvCxnSpPr>
            <a:stCxn id="12" idx="0"/>
            <a:endCxn id="13" idx="1"/>
          </p:cNvCxnSpPr>
          <p:nvPr/>
        </p:nvCxnSpPr>
        <p:spPr bwMode="auto">
          <a:xfrm rot="5400000" flipH="1" flipV="1">
            <a:off x="6814369" y="2955133"/>
            <a:ext cx="347562" cy="1040880"/>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5" name="Curved Connector 24"/>
          <p:cNvCxnSpPr>
            <a:stCxn id="6" idx="1"/>
            <a:endCxn id="7" idx="0"/>
          </p:cNvCxnSpPr>
          <p:nvPr/>
        </p:nvCxnSpPr>
        <p:spPr bwMode="auto">
          <a:xfrm rot="10800000" flipH="1" flipV="1">
            <a:off x="3355858" y="3194075"/>
            <a:ext cx="243305" cy="1968346"/>
          </a:xfrm>
          <a:prstGeom prst="curvedConnector3">
            <a:avLst>
              <a:gd name="adj1" fmla="val -93956"/>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7" name="Curved Connector 26"/>
          <p:cNvCxnSpPr>
            <a:stCxn id="7" idx="1"/>
            <a:endCxn id="29" idx="0"/>
          </p:cNvCxnSpPr>
          <p:nvPr/>
        </p:nvCxnSpPr>
        <p:spPr bwMode="auto">
          <a:xfrm rot="16200000" flipH="1">
            <a:off x="4237420" y="5288603"/>
            <a:ext cx="1048168" cy="1226669"/>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nvGrpSpPr>
          <p:cNvPr id="53" name="Group 52"/>
          <p:cNvGrpSpPr/>
          <p:nvPr/>
        </p:nvGrpSpPr>
        <p:grpSpPr>
          <a:xfrm>
            <a:off x="5374839" y="5460645"/>
            <a:ext cx="2715248" cy="1930755"/>
            <a:chOff x="4048125" y="5323192"/>
            <a:chExt cx="2715248" cy="1930755"/>
          </a:xfrm>
        </p:grpSpPr>
        <p:sp>
          <p:nvSpPr>
            <p:cNvPr id="5" name="Rectangle 4"/>
            <p:cNvSpPr/>
            <p:nvPr/>
          </p:nvSpPr>
          <p:spPr>
            <a:xfrm>
              <a:off x="4300824" y="5323192"/>
              <a:ext cx="2196484" cy="1695105"/>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Multiple Models</a:t>
              </a: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14" name="TextBox 13"/>
            <p:cNvSpPr txBox="1"/>
            <p:nvPr/>
          </p:nvSpPr>
          <p:spPr>
            <a:xfrm>
              <a:off x="4376925" y="5606634"/>
              <a:ext cx="966184" cy="38074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Class Responsibility Collaborator</a:t>
              </a:r>
            </a:p>
          </p:txBody>
        </p:sp>
        <p:sp>
          <p:nvSpPr>
            <p:cNvPr id="15" name="TextBox 14"/>
            <p:cNvSpPr txBox="1"/>
            <p:nvPr/>
          </p:nvSpPr>
          <p:spPr>
            <a:xfrm>
              <a:off x="5439917" y="5606634"/>
              <a:ext cx="979519" cy="38074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Domain Driven Design Model</a:t>
              </a:r>
            </a:p>
          </p:txBody>
        </p:sp>
        <p:sp>
          <p:nvSpPr>
            <p:cNvPr id="17" name="TextBox 16"/>
            <p:cNvSpPr txBox="1"/>
            <p:nvPr/>
          </p:nvSpPr>
          <p:spPr>
            <a:xfrm>
              <a:off x="4416202" y="6089275"/>
              <a:ext cx="926907" cy="46165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Agile Class &amp; Sequence Diagrams</a:t>
              </a:r>
            </a:p>
          </p:txBody>
        </p:sp>
        <p:sp>
          <p:nvSpPr>
            <p:cNvPr id="18" name="TextBox 17"/>
            <p:cNvSpPr txBox="1"/>
            <p:nvPr/>
          </p:nvSpPr>
          <p:spPr>
            <a:xfrm>
              <a:off x="5439916" y="6081206"/>
              <a:ext cx="979519" cy="46972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Other Models</a:t>
              </a:r>
            </a:p>
          </p:txBody>
        </p:sp>
        <p:sp>
          <p:nvSpPr>
            <p:cNvPr id="26" name="TextBox 25"/>
            <p:cNvSpPr txBox="1"/>
            <p:nvPr/>
          </p:nvSpPr>
          <p:spPr>
            <a:xfrm>
              <a:off x="4957514" y="6614416"/>
              <a:ext cx="93970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Wiki Project Repository</a:t>
              </a:r>
            </a:p>
          </p:txBody>
        </p:sp>
        <p:sp>
          <p:nvSpPr>
            <p:cNvPr id="28" name="Rectangle 27"/>
            <p:cNvSpPr/>
            <p:nvPr/>
          </p:nvSpPr>
          <p:spPr>
            <a:xfrm>
              <a:off x="4048125" y="6977668"/>
              <a:ext cx="2715248" cy="276277"/>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Single Source of Information</a:t>
              </a: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a:p>
              <a:pPr algn="ctr">
                <a:defRPr/>
              </a:pPr>
              <a:endParaRPr lang="en-US" sz="700" dirty="0">
                <a:solidFill>
                  <a:schemeClr val="bg1"/>
                </a:solidFill>
              </a:endParaRPr>
            </a:p>
          </p:txBody>
        </p:sp>
        <p:sp>
          <p:nvSpPr>
            <p:cNvPr id="29" name="Rectangle 28"/>
            <p:cNvSpPr/>
            <p:nvPr/>
          </p:nvSpPr>
          <p:spPr>
            <a:xfrm rot="16200000">
              <a:off x="3225933" y="6145384"/>
              <a:ext cx="1930755" cy="2863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Document Late</a:t>
              </a:r>
              <a:endParaRPr lang="en-US" sz="700" dirty="0">
                <a:solidFill>
                  <a:schemeClr val="bg1"/>
                </a:solidFill>
              </a:endParaRPr>
            </a:p>
            <a:p>
              <a:pPr algn="ctr">
                <a:defRPr/>
              </a:pPr>
              <a:endParaRPr lang="en-US" sz="700" dirty="0">
                <a:solidFill>
                  <a:schemeClr val="bg1"/>
                </a:solidFill>
              </a:endParaRPr>
            </a:p>
          </p:txBody>
        </p:sp>
        <p:sp>
          <p:nvSpPr>
            <p:cNvPr id="30" name="Rectangle 29"/>
            <p:cNvSpPr/>
            <p:nvPr/>
          </p:nvSpPr>
          <p:spPr>
            <a:xfrm rot="16200000">
              <a:off x="5654809" y="6145384"/>
              <a:ext cx="1930755" cy="2863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Multiple Models in Parallel</a:t>
              </a:r>
              <a:endParaRPr lang="en-US" sz="700" dirty="0">
                <a:solidFill>
                  <a:schemeClr val="bg1"/>
                </a:solidFill>
              </a:endParaRPr>
            </a:p>
            <a:p>
              <a:pPr algn="ctr">
                <a:defRPr/>
              </a:pPr>
              <a:endParaRPr lang="en-US" sz="700" dirty="0">
                <a:solidFill>
                  <a:schemeClr val="bg1"/>
                </a:solidFill>
              </a:endParaRPr>
            </a:p>
          </p:txBody>
        </p:sp>
      </p:grpSp>
      <p:grpSp>
        <p:nvGrpSpPr>
          <p:cNvPr id="59" name="Group 58"/>
          <p:cNvGrpSpPr/>
          <p:nvPr/>
        </p:nvGrpSpPr>
        <p:grpSpPr>
          <a:xfrm>
            <a:off x="8641914" y="4035621"/>
            <a:ext cx="1111686" cy="2272576"/>
            <a:chOff x="7958546" y="3898168"/>
            <a:chExt cx="1111686" cy="2272576"/>
          </a:xfrm>
        </p:grpSpPr>
        <p:sp>
          <p:nvSpPr>
            <p:cNvPr id="3" name="Rectangle 2"/>
            <p:cNvSpPr/>
            <p:nvPr/>
          </p:nvSpPr>
          <p:spPr>
            <a:xfrm>
              <a:off x="7958547" y="5943601"/>
              <a:ext cx="1111685" cy="22714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Document continuously</a:t>
              </a:r>
              <a:endParaRPr lang="en-US" sz="700" dirty="0">
                <a:solidFill>
                  <a:schemeClr val="bg1"/>
                </a:solidFill>
              </a:endParaRPr>
            </a:p>
            <a:p>
              <a:pPr algn="ctr">
                <a:defRPr/>
              </a:pPr>
              <a:endParaRPr lang="en-US" sz="700" dirty="0">
                <a:solidFill>
                  <a:schemeClr val="bg1"/>
                </a:solidFill>
              </a:endParaRPr>
            </a:p>
          </p:txBody>
        </p:sp>
        <p:sp>
          <p:nvSpPr>
            <p:cNvPr id="4" name="Rectangle 3"/>
            <p:cNvSpPr/>
            <p:nvPr/>
          </p:nvSpPr>
          <p:spPr>
            <a:xfrm>
              <a:off x="7958546" y="3898168"/>
              <a:ext cx="1111685" cy="204543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700" dirty="0" smtClean="0">
                  <a:solidFill>
                    <a:schemeClr val="bg1"/>
                  </a:solidFill>
                </a:rPr>
                <a:t>Model a Bit Ahead</a:t>
              </a:r>
              <a:endParaRPr lang="en-US" sz="700" dirty="0">
                <a:solidFill>
                  <a:schemeClr val="bg1"/>
                </a:solidFill>
              </a:endParaRPr>
            </a:p>
            <a:p>
              <a:pPr algn="ctr">
                <a:defRPr/>
              </a:pPr>
              <a:endParaRPr lang="en-US" sz="700" dirty="0">
                <a:solidFill>
                  <a:schemeClr val="bg1"/>
                </a:solidFill>
              </a:endParaRPr>
            </a:p>
          </p:txBody>
        </p:sp>
        <p:sp>
          <p:nvSpPr>
            <p:cNvPr id="8" name="TextBox 7"/>
            <p:cNvSpPr txBox="1"/>
            <p:nvPr/>
          </p:nvSpPr>
          <p:spPr>
            <a:xfrm>
              <a:off x="8077199" y="4606619"/>
              <a:ext cx="866721"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Architecture Key Mechanism </a:t>
              </a:r>
            </a:p>
          </p:txBody>
        </p:sp>
        <p:sp>
          <p:nvSpPr>
            <p:cNvPr id="9" name="TextBox 8"/>
            <p:cNvSpPr txBox="1"/>
            <p:nvPr/>
          </p:nvSpPr>
          <p:spPr>
            <a:xfrm>
              <a:off x="8086725" y="5012600"/>
              <a:ext cx="857196" cy="31059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4 + 1 views</a:t>
              </a:r>
            </a:p>
          </p:txBody>
        </p:sp>
        <p:sp>
          <p:nvSpPr>
            <p:cNvPr id="19" name="TextBox 18"/>
            <p:cNvSpPr txBox="1"/>
            <p:nvPr/>
          </p:nvSpPr>
          <p:spPr>
            <a:xfrm>
              <a:off x="8077200" y="4209818"/>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System Context</a:t>
              </a:r>
            </a:p>
          </p:txBody>
        </p:sp>
        <p:sp>
          <p:nvSpPr>
            <p:cNvPr id="31" name="TextBox 30"/>
            <p:cNvSpPr txBox="1"/>
            <p:nvPr/>
          </p:nvSpPr>
          <p:spPr>
            <a:xfrm>
              <a:off x="8086725" y="5390301"/>
              <a:ext cx="857196" cy="46165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Software Architecture Description</a:t>
              </a:r>
            </a:p>
          </p:txBody>
        </p:sp>
      </p:grpSp>
      <p:cxnSp>
        <p:nvCxnSpPr>
          <p:cNvPr id="32" name="Straight Connector 31"/>
          <p:cNvCxnSpPr>
            <a:stCxn id="16" idx="1"/>
            <a:endCxn id="5" idx="0"/>
          </p:cNvCxnSpPr>
          <p:nvPr/>
        </p:nvCxnSpPr>
        <p:spPr bwMode="auto">
          <a:xfrm>
            <a:off x="6454032" y="4966392"/>
            <a:ext cx="271748" cy="494253"/>
          </a:xfrm>
          <a:prstGeom prst="line">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3" name="Curved Connector 32"/>
          <p:cNvCxnSpPr>
            <a:stCxn id="13" idx="3"/>
            <a:endCxn id="4" idx="0"/>
          </p:cNvCxnSpPr>
          <p:nvPr/>
        </p:nvCxnSpPr>
        <p:spPr bwMode="auto">
          <a:xfrm>
            <a:off x="8385210" y="3301792"/>
            <a:ext cx="812547" cy="733829"/>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4" name="Straight Connector 33"/>
          <p:cNvCxnSpPr>
            <a:stCxn id="4" idx="1"/>
            <a:endCxn id="16" idx="2"/>
          </p:cNvCxnSpPr>
          <p:nvPr/>
        </p:nvCxnSpPr>
        <p:spPr bwMode="auto">
          <a:xfrm flipH="1" flipV="1">
            <a:off x="6844510" y="4800392"/>
            <a:ext cx="1797404" cy="257946"/>
          </a:xfrm>
          <a:prstGeom prst="line">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5" name="Curved Connector 34"/>
          <p:cNvCxnSpPr>
            <a:stCxn id="6" idx="3"/>
            <a:endCxn id="10" idx="0"/>
          </p:cNvCxnSpPr>
          <p:nvPr/>
        </p:nvCxnSpPr>
        <p:spPr bwMode="auto">
          <a:xfrm>
            <a:off x="4295561" y="3194075"/>
            <a:ext cx="304713" cy="599392"/>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6" name="Curved Connector 35"/>
          <p:cNvCxnSpPr>
            <a:stCxn id="10" idx="2"/>
            <a:endCxn id="16" idx="0"/>
          </p:cNvCxnSpPr>
          <p:nvPr/>
        </p:nvCxnSpPr>
        <p:spPr bwMode="auto">
          <a:xfrm rot="16200000" flipH="1">
            <a:off x="4976363" y="3713202"/>
            <a:ext cx="711100" cy="1463279"/>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sp>
        <p:nvSpPr>
          <p:cNvPr id="76" name="Rectangle 2"/>
          <p:cNvSpPr txBox="1">
            <a:spLocks noChangeArrowheads="1"/>
          </p:cNvSpPr>
          <p:nvPr/>
        </p:nvSpPr>
        <p:spPr bwMode="gray">
          <a:xfrm>
            <a:off x="436563" y="172693"/>
            <a:ext cx="912066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1018705" eaLnBrk="1" fontAlgn="base" hangingPunct="1">
              <a:lnSpc>
                <a:spcPct val="106000"/>
              </a:lnSpc>
              <a:spcBef>
                <a:spcPct val="0"/>
              </a:spcBef>
              <a:spcAft>
                <a:spcPct val="0"/>
              </a:spcAft>
            </a:pPr>
            <a:r>
              <a:rPr lang="en-US" altLang="zh-CN" b="1" dirty="0" smtClean="0">
                <a:solidFill>
                  <a:prstClr val="black"/>
                </a:solidFill>
              </a:rPr>
              <a:t>The Agile Modeling Method provides a framework to enable best in class system modeling using an iterative, evolutionary, and emergent approach</a:t>
            </a:r>
            <a:endParaRPr lang="en-US" altLang="zh-CN" b="1" dirty="0">
              <a:solidFill>
                <a:prstClr val="black"/>
              </a:solidFill>
            </a:endParaRPr>
          </a:p>
        </p:txBody>
      </p:sp>
      <p:sp>
        <p:nvSpPr>
          <p:cNvPr id="43" name="Rectangle 42"/>
          <p:cNvSpPr/>
          <p:nvPr/>
        </p:nvSpPr>
        <p:spPr>
          <a:xfrm>
            <a:off x="337449" y="914401"/>
            <a:ext cx="9416153" cy="1815872"/>
          </a:xfrm>
          <a:prstGeom prst="rect">
            <a:avLst/>
          </a:prstGeom>
        </p:spPr>
        <p:txBody>
          <a:bodyPr wrap="square" lIns="91429" tIns="45715" rIns="91429" bIns="45715">
            <a:spAutoFit/>
          </a:bodyPr>
          <a:lstStyle/>
          <a:p>
            <a:pPr marL="228574" indent="-228574">
              <a:buFontTx/>
              <a:buAutoNum type="arabicPeriod"/>
            </a:pPr>
            <a:r>
              <a:rPr lang="en-US" sz="1600" b="1" dirty="0" smtClean="0">
                <a:solidFill>
                  <a:srgbClr val="000000"/>
                </a:solidFill>
                <a:latin typeface="Arial"/>
              </a:rPr>
              <a:t>Initial model envisioning </a:t>
            </a:r>
            <a:r>
              <a:rPr lang="en-US" sz="1600" dirty="0" smtClean="0">
                <a:solidFill>
                  <a:srgbClr val="000000"/>
                </a:solidFill>
                <a:latin typeface="Arial"/>
              </a:rPr>
              <a:t>is conducted for the overall set of requirements in the </a:t>
            </a:r>
            <a:r>
              <a:rPr lang="en-US" sz="1600" b="1" dirty="0" smtClean="0">
                <a:solidFill>
                  <a:srgbClr val="000000"/>
                </a:solidFill>
                <a:latin typeface="Arial"/>
              </a:rPr>
              <a:t>backlog</a:t>
            </a:r>
            <a:r>
              <a:rPr lang="en-US" sz="1600" dirty="0" smtClean="0">
                <a:solidFill>
                  <a:srgbClr val="000000"/>
                </a:solidFill>
                <a:latin typeface="Arial"/>
              </a:rPr>
              <a:t> by defining a high-level </a:t>
            </a:r>
            <a:r>
              <a:rPr lang="en-US" sz="1600" b="1" dirty="0" smtClean="0">
                <a:solidFill>
                  <a:srgbClr val="000000"/>
                </a:solidFill>
                <a:latin typeface="Arial"/>
              </a:rPr>
              <a:t>system context </a:t>
            </a:r>
            <a:r>
              <a:rPr lang="en-US" sz="1600" dirty="0" smtClean="0">
                <a:solidFill>
                  <a:srgbClr val="000000"/>
                </a:solidFill>
                <a:latin typeface="Arial"/>
              </a:rPr>
              <a:t>with other </a:t>
            </a:r>
            <a:r>
              <a:rPr lang="en-US" sz="1600" b="1" dirty="0" smtClean="0">
                <a:solidFill>
                  <a:srgbClr val="000000"/>
                </a:solidFill>
                <a:latin typeface="Arial"/>
              </a:rPr>
              <a:t>light-weight architecture design artifacts</a:t>
            </a:r>
          </a:p>
          <a:p>
            <a:pPr marL="228574" indent="-228574">
              <a:buFontTx/>
              <a:buAutoNum type="arabicPeriod"/>
            </a:pPr>
            <a:r>
              <a:rPr lang="en-US" sz="1600" b="1" dirty="0" smtClean="0">
                <a:solidFill>
                  <a:srgbClr val="000000"/>
                </a:solidFill>
                <a:latin typeface="Arial"/>
              </a:rPr>
              <a:t>Iteration modeling </a:t>
            </a:r>
            <a:r>
              <a:rPr lang="en-US" sz="1600" dirty="0" smtClean="0">
                <a:solidFill>
                  <a:srgbClr val="000000"/>
                </a:solidFill>
                <a:latin typeface="Arial"/>
              </a:rPr>
              <a:t>is conducted during each </a:t>
            </a:r>
            <a:r>
              <a:rPr lang="en-US" sz="1600" b="1" dirty="0" smtClean="0">
                <a:solidFill>
                  <a:srgbClr val="000000"/>
                </a:solidFill>
                <a:latin typeface="Arial"/>
              </a:rPr>
              <a:t>iteration</a:t>
            </a:r>
            <a:r>
              <a:rPr lang="en-US" sz="1600" dirty="0" smtClean="0">
                <a:solidFill>
                  <a:srgbClr val="000000"/>
                </a:solidFill>
                <a:latin typeface="Arial"/>
              </a:rPr>
              <a:t> to model </a:t>
            </a:r>
            <a:r>
              <a:rPr lang="en-US" sz="1600" b="1" dirty="0" smtClean="0">
                <a:solidFill>
                  <a:srgbClr val="000000"/>
                </a:solidFill>
                <a:latin typeface="Arial"/>
              </a:rPr>
              <a:t>just good enough </a:t>
            </a:r>
            <a:r>
              <a:rPr lang="en-US" sz="1600" dirty="0" smtClean="0">
                <a:solidFill>
                  <a:srgbClr val="000000"/>
                </a:solidFill>
                <a:latin typeface="Arial"/>
              </a:rPr>
              <a:t>to give good estimates</a:t>
            </a:r>
            <a:r>
              <a:rPr lang="en-US" sz="1600" dirty="0">
                <a:solidFill>
                  <a:srgbClr val="000000"/>
                </a:solidFill>
                <a:latin typeface="Arial"/>
              </a:rPr>
              <a:t> </a:t>
            </a:r>
            <a:r>
              <a:rPr lang="en-US" sz="1600" dirty="0" smtClean="0">
                <a:solidFill>
                  <a:srgbClr val="000000"/>
                </a:solidFill>
                <a:latin typeface="Arial"/>
              </a:rPr>
              <a:t>and inform iteration planning</a:t>
            </a:r>
          </a:p>
          <a:p>
            <a:pPr marL="228574" indent="-228574">
              <a:buFontTx/>
              <a:buAutoNum type="arabicPeriod"/>
            </a:pPr>
            <a:r>
              <a:rPr lang="en-US" sz="1600" dirty="0">
                <a:solidFill>
                  <a:srgbClr val="000000"/>
                </a:solidFill>
              </a:rPr>
              <a:t>Additional design through </a:t>
            </a:r>
            <a:r>
              <a:rPr lang="en-US" sz="1600" b="1" dirty="0">
                <a:solidFill>
                  <a:srgbClr val="000000"/>
                </a:solidFill>
              </a:rPr>
              <a:t>model storming </a:t>
            </a:r>
            <a:r>
              <a:rPr lang="en-US" sz="1600" dirty="0">
                <a:solidFill>
                  <a:srgbClr val="000000"/>
                </a:solidFill>
              </a:rPr>
              <a:t>occurs just-in-time and the </a:t>
            </a:r>
            <a:r>
              <a:rPr lang="en-US" sz="1600" dirty="0" smtClean="0">
                <a:solidFill>
                  <a:srgbClr val="000000"/>
                </a:solidFill>
              </a:rPr>
              <a:t>architecture model is captured through multiple models such </a:t>
            </a:r>
            <a:r>
              <a:rPr lang="en-US" sz="1600" b="1" dirty="0" smtClean="0">
                <a:solidFill>
                  <a:srgbClr val="000000"/>
                </a:solidFill>
              </a:rPr>
              <a:t>as Agile Class and Sequence Diagrams</a:t>
            </a:r>
            <a:r>
              <a:rPr lang="en-US" sz="1600" dirty="0" smtClean="0">
                <a:solidFill>
                  <a:srgbClr val="000000"/>
                </a:solidFill>
              </a:rPr>
              <a:t> and </a:t>
            </a:r>
            <a:r>
              <a:rPr lang="en-US" sz="1600" b="1" dirty="0" smtClean="0">
                <a:solidFill>
                  <a:srgbClr val="000000"/>
                </a:solidFill>
              </a:rPr>
              <a:t>Domain Driven Design</a:t>
            </a:r>
            <a:endParaRPr lang="en-US" sz="1600" b="1" dirty="0">
              <a:solidFill>
                <a:srgbClr val="000000"/>
              </a:solidFill>
            </a:endParaRPr>
          </a:p>
        </p:txBody>
      </p:sp>
      <p:sp>
        <p:nvSpPr>
          <p:cNvPr id="45" name="Rectangle 44"/>
          <p:cNvSpPr/>
          <p:nvPr/>
        </p:nvSpPr>
        <p:spPr>
          <a:xfrm>
            <a:off x="337447" y="2638495"/>
            <a:ext cx="2710554" cy="4524305"/>
          </a:xfrm>
          <a:prstGeom prst="rect">
            <a:avLst/>
          </a:prstGeom>
        </p:spPr>
        <p:txBody>
          <a:bodyPr wrap="square" lIns="91429" tIns="45715" rIns="91429" bIns="45715">
            <a:spAutoFit/>
          </a:bodyPr>
          <a:lstStyle/>
          <a:p>
            <a:pPr marL="228600" indent="-228600">
              <a:buFont typeface="+mj-lt"/>
              <a:buAutoNum type="arabicPeriod" startAt="4"/>
            </a:pPr>
            <a:r>
              <a:rPr lang="en-US" sz="1600" dirty="0" smtClean="0">
                <a:solidFill>
                  <a:srgbClr val="000000"/>
                </a:solidFill>
                <a:latin typeface="Arial"/>
              </a:rPr>
              <a:t>Technical practices such as </a:t>
            </a:r>
            <a:r>
              <a:rPr lang="en-US" sz="1600" b="1" dirty="0" smtClean="0">
                <a:solidFill>
                  <a:srgbClr val="000000"/>
                </a:solidFill>
                <a:latin typeface="Arial"/>
              </a:rPr>
              <a:t>test-driven development </a:t>
            </a:r>
            <a:r>
              <a:rPr lang="en-US" sz="1600" dirty="0" smtClean="0">
                <a:solidFill>
                  <a:srgbClr val="000000"/>
                </a:solidFill>
                <a:latin typeface="Arial"/>
              </a:rPr>
              <a:t>and </a:t>
            </a:r>
            <a:r>
              <a:rPr lang="en-US" sz="1600" b="1" dirty="0" smtClean="0">
                <a:solidFill>
                  <a:srgbClr val="000000"/>
                </a:solidFill>
                <a:latin typeface="Arial"/>
              </a:rPr>
              <a:t>acceptance-test driven development </a:t>
            </a:r>
            <a:r>
              <a:rPr lang="en-US" sz="1600" dirty="0" smtClean="0">
                <a:solidFill>
                  <a:srgbClr val="000000"/>
                </a:solidFill>
                <a:latin typeface="Arial"/>
              </a:rPr>
              <a:t>is applied during coding, models are </a:t>
            </a:r>
            <a:r>
              <a:rPr lang="en-US" sz="1600" b="1" dirty="0" smtClean="0">
                <a:solidFill>
                  <a:srgbClr val="000000"/>
                </a:solidFill>
                <a:latin typeface="Arial"/>
              </a:rPr>
              <a:t>proved with code </a:t>
            </a:r>
            <a:r>
              <a:rPr lang="en-US" sz="1600" dirty="0" smtClean="0">
                <a:solidFill>
                  <a:srgbClr val="000000"/>
                </a:solidFill>
                <a:latin typeface="Arial"/>
              </a:rPr>
              <a:t>and any changes are fed back into the models</a:t>
            </a:r>
          </a:p>
          <a:p>
            <a:pPr marL="228600" indent="-228600">
              <a:buFont typeface="+mj-lt"/>
              <a:buAutoNum type="arabicPeriod" startAt="4"/>
            </a:pPr>
            <a:r>
              <a:rPr lang="en-US" sz="1600" dirty="0" smtClean="0">
                <a:solidFill>
                  <a:srgbClr val="000000"/>
                </a:solidFill>
                <a:latin typeface="Arial"/>
              </a:rPr>
              <a:t>Models are displayed publicly and collaboration platforms such as a </a:t>
            </a:r>
            <a:r>
              <a:rPr lang="en-US" sz="1600" b="1" dirty="0" smtClean="0">
                <a:solidFill>
                  <a:srgbClr val="000000"/>
                </a:solidFill>
                <a:latin typeface="Arial"/>
              </a:rPr>
              <a:t>Wiki Project Repository</a:t>
            </a:r>
            <a:r>
              <a:rPr lang="en-US" sz="1600" dirty="0" smtClean="0">
                <a:solidFill>
                  <a:srgbClr val="000000"/>
                </a:solidFill>
                <a:latin typeface="Arial"/>
              </a:rPr>
              <a:t> is used to capture models</a:t>
            </a:r>
          </a:p>
          <a:p>
            <a:pPr marL="228600" indent="-228600">
              <a:buFont typeface="+mj-lt"/>
              <a:buAutoNum type="arabicPeriod" startAt="4"/>
            </a:pPr>
            <a:r>
              <a:rPr lang="en-US" sz="1600" dirty="0" smtClean="0">
                <a:solidFill>
                  <a:srgbClr val="000000"/>
                </a:solidFill>
                <a:latin typeface="Arial"/>
              </a:rPr>
              <a:t>The team </a:t>
            </a:r>
            <a:r>
              <a:rPr lang="en-US" sz="1600" b="1" dirty="0" smtClean="0">
                <a:solidFill>
                  <a:srgbClr val="000000"/>
                </a:solidFill>
                <a:latin typeface="Arial"/>
              </a:rPr>
              <a:t>models a bit ahead</a:t>
            </a:r>
            <a:r>
              <a:rPr lang="en-US" sz="1600" dirty="0" smtClean="0">
                <a:solidFill>
                  <a:srgbClr val="000000"/>
                </a:solidFill>
                <a:latin typeface="Arial"/>
              </a:rPr>
              <a:t> as needed to reduce overall risk as the team moves forward</a:t>
            </a:r>
          </a:p>
        </p:txBody>
      </p:sp>
    </p:spTree>
    <p:extLst>
      <p:ext uri="{BB962C8B-B14F-4D97-AF65-F5344CB8AC3E}">
        <p14:creationId xmlns:p14="http://schemas.microsoft.com/office/powerpoint/2010/main" val="22458581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189"/>
          <p:cNvSpPr txBox="1"/>
          <p:nvPr/>
        </p:nvSpPr>
        <p:spPr>
          <a:xfrm>
            <a:off x="4878252" y="899416"/>
            <a:ext cx="4646748" cy="2104394"/>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r>
              <a:rPr lang="en-US" dirty="0" smtClean="0">
                <a:solidFill>
                  <a:schemeClr val="bg1"/>
                </a:solidFill>
              </a:rPr>
              <a:t>Quality and Continuous </a:t>
            </a:r>
            <a:r>
              <a:rPr lang="en-US" dirty="0" smtClean="0">
                <a:solidFill>
                  <a:schemeClr val="bg1"/>
                </a:solidFill>
              </a:rPr>
              <a:t>Improvement</a:t>
            </a:r>
            <a:endParaRPr lang="en-US" dirty="0">
              <a:solidFill>
                <a:schemeClr val="bg1"/>
              </a:solidFill>
            </a:endParaRPr>
          </a:p>
        </p:txBody>
      </p:sp>
      <p:sp>
        <p:nvSpPr>
          <p:cNvPr id="189" name="TextBox 188"/>
          <p:cNvSpPr txBox="1"/>
          <p:nvPr/>
        </p:nvSpPr>
        <p:spPr>
          <a:xfrm>
            <a:off x="457200" y="899416"/>
            <a:ext cx="4360640" cy="2089410"/>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r>
              <a:rPr lang="en-US" dirty="0" smtClean="0">
                <a:solidFill>
                  <a:schemeClr val="bg1"/>
                </a:solidFill>
              </a:rPr>
              <a:t>Modeling</a:t>
            </a:r>
            <a:endParaRPr lang="en-US" dirty="0">
              <a:solidFill>
                <a:schemeClr val="bg1"/>
              </a:solidFill>
            </a:endParaRPr>
          </a:p>
        </p:txBody>
      </p:sp>
      <p:sp>
        <p:nvSpPr>
          <p:cNvPr id="134" name="TextBox 133"/>
          <p:cNvSpPr txBox="1"/>
          <p:nvPr/>
        </p:nvSpPr>
        <p:spPr>
          <a:xfrm>
            <a:off x="436563" y="5772530"/>
            <a:ext cx="9088437" cy="1695070"/>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r>
              <a:rPr lang="en-US" dirty="0" smtClean="0">
                <a:solidFill>
                  <a:schemeClr val="bg1"/>
                </a:solidFill>
              </a:rPr>
              <a:t>Delivery Management</a:t>
            </a:r>
            <a:endParaRPr lang="en-US" dirty="0">
              <a:solidFill>
                <a:schemeClr val="bg1"/>
              </a:solidFill>
            </a:endParaRPr>
          </a:p>
        </p:txBody>
      </p:sp>
      <p:sp>
        <p:nvSpPr>
          <p:cNvPr id="133" name="TextBox 132"/>
          <p:cNvSpPr txBox="1"/>
          <p:nvPr/>
        </p:nvSpPr>
        <p:spPr>
          <a:xfrm>
            <a:off x="445138" y="3034161"/>
            <a:ext cx="3328416" cy="2680839"/>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r>
              <a:rPr lang="en-US" dirty="0" smtClean="0">
                <a:solidFill>
                  <a:schemeClr val="bg1"/>
                </a:solidFill>
              </a:rPr>
              <a:t>Planning and </a:t>
            </a:r>
            <a:endParaRPr lang="en-US" dirty="0" smtClean="0">
              <a:solidFill>
                <a:schemeClr val="bg1"/>
              </a:solidFill>
            </a:endParaRPr>
          </a:p>
          <a:p>
            <a:r>
              <a:rPr lang="en-US" dirty="0" smtClean="0">
                <a:solidFill>
                  <a:schemeClr val="bg1"/>
                </a:solidFill>
              </a:rPr>
              <a:t>Prioritization</a:t>
            </a:r>
            <a:endParaRPr lang="en-US" dirty="0">
              <a:solidFill>
                <a:schemeClr val="bg1"/>
              </a:solidFill>
            </a:endParaRPr>
          </a:p>
        </p:txBody>
      </p:sp>
      <p:sp>
        <p:nvSpPr>
          <p:cNvPr id="4" name="Rectangle 2"/>
          <p:cNvSpPr txBox="1">
            <a:spLocks noChangeArrowheads="1"/>
          </p:cNvSpPr>
          <p:nvPr/>
        </p:nvSpPr>
        <p:spPr bwMode="gray">
          <a:xfrm>
            <a:off x="436563" y="172693"/>
            <a:ext cx="912066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1018705" eaLnBrk="1" fontAlgn="base" hangingPunct="1">
              <a:lnSpc>
                <a:spcPct val="106000"/>
              </a:lnSpc>
              <a:spcBef>
                <a:spcPct val="0"/>
              </a:spcBef>
              <a:spcAft>
                <a:spcPct val="0"/>
              </a:spcAft>
            </a:pPr>
            <a:r>
              <a:rPr lang="en-US" altLang="zh-CN" b="1" dirty="0" smtClean="0">
                <a:solidFill>
                  <a:prstClr val="black"/>
                </a:solidFill>
              </a:rPr>
              <a:t>The Deloitte LEAN approach is an evolving set of agile practices to provide </a:t>
            </a:r>
            <a:r>
              <a:rPr lang="en-US" altLang="zh-CN" b="1" dirty="0" smtClean="0">
                <a:solidFill>
                  <a:prstClr val="black"/>
                </a:solidFill>
              </a:rPr>
              <a:t>best-in-class agility </a:t>
            </a:r>
            <a:r>
              <a:rPr lang="en-US" altLang="zh-CN" b="1" dirty="0" smtClean="0">
                <a:solidFill>
                  <a:prstClr val="black"/>
                </a:solidFill>
              </a:rPr>
              <a:t>for enterprise scale projects</a:t>
            </a:r>
            <a:endParaRPr lang="en-US" altLang="zh-CN" b="1" dirty="0">
              <a:solidFill>
                <a:prstClr val="black"/>
              </a:solidFill>
            </a:endParaRPr>
          </a:p>
        </p:txBody>
      </p:sp>
      <p:sp>
        <p:nvSpPr>
          <p:cNvPr id="8" name="TextBox 7"/>
          <p:cNvSpPr txBox="1"/>
          <p:nvPr/>
        </p:nvSpPr>
        <p:spPr>
          <a:xfrm>
            <a:off x="588376" y="4584684"/>
            <a:ext cx="813816"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Release Plan</a:t>
            </a:r>
          </a:p>
        </p:txBody>
      </p:sp>
      <p:sp>
        <p:nvSpPr>
          <p:cNvPr id="16" name="TextBox 15"/>
          <p:cNvSpPr txBox="1"/>
          <p:nvPr/>
        </p:nvSpPr>
        <p:spPr>
          <a:xfrm>
            <a:off x="588376" y="3967007"/>
            <a:ext cx="813816"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Minimal Marketable Feature </a:t>
            </a:r>
            <a:r>
              <a:rPr lang="en-US" sz="800" dirty="0" smtClean="0"/>
              <a:t>Set</a:t>
            </a:r>
            <a:endParaRPr lang="en-US" sz="800" dirty="0"/>
          </a:p>
        </p:txBody>
      </p:sp>
      <p:sp>
        <p:nvSpPr>
          <p:cNvPr id="61" name="TextBox 60"/>
          <p:cNvSpPr txBox="1"/>
          <p:nvPr/>
        </p:nvSpPr>
        <p:spPr>
          <a:xfrm>
            <a:off x="1600200" y="3975084"/>
            <a:ext cx="813133"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User Story Map</a:t>
            </a:r>
            <a:endParaRPr lang="en-US" sz="800" dirty="0"/>
          </a:p>
        </p:txBody>
      </p:sp>
      <p:sp>
        <p:nvSpPr>
          <p:cNvPr id="83" name="TextBox 82"/>
          <p:cNvSpPr txBox="1"/>
          <p:nvPr/>
        </p:nvSpPr>
        <p:spPr>
          <a:xfrm>
            <a:off x="3830627" y="3034161"/>
            <a:ext cx="5694373" cy="2680839"/>
          </a:xfrm>
          <a:prstGeom prst="rect">
            <a:avLst/>
          </a:prstGeom>
          <a:solidFill>
            <a:srgbClr val="4066B2"/>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9" tIns="45715" rIns="91429" bIns="45715" anchor="t" anchorCtr="0"/>
          <a:lstStyle>
            <a:defPPr>
              <a:defRPr lang="en-US"/>
            </a:defPPr>
            <a:lvl1pPr marR="0" lvl="0" defTabSz="914400" fontAlgn="auto">
              <a:lnSpc>
                <a:spcPct val="95000"/>
              </a:lnSpc>
              <a:spcBef>
                <a:spcPct val="0"/>
              </a:spcBef>
              <a:spcAft>
                <a:spcPts val="0"/>
              </a:spcAft>
              <a:buClrTx/>
              <a:buSzTx/>
              <a:buFontTx/>
              <a:buNone/>
              <a:tabLst>
                <a:tab pos="171450" algn="l"/>
              </a:tabLst>
              <a:defRPr kumimoji="0" sz="1600" b="0" i="0" u="none" strike="noStrike" kern="0" cap="none" spc="0" normalizeH="0" baseline="0">
                <a:ln>
                  <a:noFill/>
                </a:ln>
                <a:solidFill>
                  <a:srgbClr val="000000"/>
                </a:solidFill>
                <a:effectLst/>
                <a:uLnTx/>
                <a:uFillTx/>
                <a:latin typeface="Arial" pitchFamily="34" charset="0"/>
                <a:ea typeface="MS PGothic" pitchFamily="34" charset="-128"/>
                <a:cs typeface="Arial" pitchFamily="34" charset="0"/>
              </a:defRPr>
            </a:lvl1pPr>
          </a:lstStyle>
          <a:p>
            <a:pPr algn="r"/>
            <a:r>
              <a:rPr lang="en-US" dirty="0" smtClean="0">
                <a:solidFill>
                  <a:schemeClr val="bg1"/>
                </a:solidFill>
              </a:rPr>
              <a:t>Delivery</a:t>
            </a:r>
            <a:endParaRPr lang="en-US" dirty="0">
              <a:solidFill>
                <a:schemeClr val="bg1"/>
              </a:solidFill>
            </a:endParaRPr>
          </a:p>
        </p:txBody>
      </p:sp>
      <p:sp>
        <p:nvSpPr>
          <p:cNvPr id="86" name="TextBox 85"/>
          <p:cNvSpPr txBox="1"/>
          <p:nvPr/>
        </p:nvSpPr>
        <p:spPr>
          <a:xfrm>
            <a:off x="3897720" y="4457338"/>
            <a:ext cx="675615"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Daily Standups</a:t>
            </a:r>
          </a:p>
        </p:txBody>
      </p:sp>
      <p:sp>
        <p:nvSpPr>
          <p:cNvPr id="87" name="TextBox 86"/>
          <p:cNvSpPr txBox="1"/>
          <p:nvPr/>
        </p:nvSpPr>
        <p:spPr>
          <a:xfrm>
            <a:off x="4833325" y="4432284"/>
            <a:ext cx="738788"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Acceptance Criteria </a:t>
            </a:r>
          </a:p>
        </p:txBody>
      </p:sp>
      <p:sp>
        <p:nvSpPr>
          <p:cNvPr id="89" name="TextBox 88"/>
          <p:cNvSpPr txBox="1"/>
          <p:nvPr/>
        </p:nvSpPr>
        <p:spPr>
          <a:xfrm>
            <a:off x="5928322" y="5062565"/>
            <a:ext cx="724231" cy="449664"/>
          </a:xfrm>
          <a:prstGeom prst="rect">
            <a:avLst/>
          </a:prstGeom>
          <a:solidFill>
            <a:srgbClr val="8099CC"/>
          </a:solidFill>
          <a:ln>
            <a:noFill/>
          </a:ln>
        </p:spPr>
        <p:txBody>
          <a:bodyPr wrap="square" lIns="36576" tIns="45715" rIns="36576"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Self-documenting Code</a:t>
            </a:r>
          </a:p>
        </p:txBody>
      </p:sp>
      <p:sp>
        <p:nvSpPr>
          <p:cNvPr id="91" name="TextBox 90"/>
          <p:cNvSpPr txBox="1"/>
          <p:nvPr/>
        </p:nvSpPr>
        <p:spPr>
          <a:xfrm>
            <a:off x="5805483" y="4452733"/>
            <a:ext cx="796654"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Test-driven Development</a:t>
            </a:r>
          </a:p>
        </p:txBody>
      </p:sp>
      <p:sp>
        <p:nvSpPr>
          <p:cNvPr id="92" name="TextBox 91"/>
          <p:cNvSpPr txBox="1"/>
          <p:nvPr/>
        </p:nvSpPr>
        <p:spPr>
          <a:xfrm>
            <a:off x="6809764" y="3649517"/>
            <a:ext cx="724231"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Collective Code Ownership</a:t>
            </a:r>
          </a:p>
        </p:txBody>
      </p:sp>
      <p:sp>
        <p:nvSpPr>
          <p:cNvPr id="93" name="TextBox 92"/>
          <p:cNvSpPr txBox="1"/>
          <p:nvPr/>
        </p:nvSpPr>
        <p:spPr>
          <a:xfrm>
            <a:off x="7695574" y="4745569"/>
            <a:ext cx="724231"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Automated Builds</a:t>
            </a:r>
          </a:p>
        </p:txBody>
      </p:sp>
      <p:sp>
        <p:nvSpPr>
          <p:cNvPr id="94" name="TextBox 93"/>
          <p:cNvSpPr txBox="1"/>
          <p:nvPr/>
        </p:nvSpPr>
        <p:spPr>
          <a:xfrm>
            <a:off x="6772276" y="4452732"/>
            <a:ext cx="796654" cy="443869"/>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Pair Programming</a:t>
            </a:r>
          </a:p>
        </p:txBody>
      </p:sp>
      <p:sp>
        <p:nvSpPr>
          <p:cNvPr id="95" name="TextBox 94"/>
          <p:cNvSpPr txBox="1"/>
          <p:nvPr/>
        </p:nvSpPr>
        <p:spPr>
          <a:xfrm>
            <a:off x="7695574" y="4263541"/>
            <a:ext cx="724231" cy="44451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Continuous Integration</a:t>
            </a:r>
          </a:p>
        </p:txBody>
      </p:sp>
      <p:sp>
        <p:nvSpPr>
          <p:cNvPr id="96" name="TextBox 95"/>
          <p:cNvSpPr txBox="1"/>
          <p:nvPr/>
        </p:nvSpPr>
        <p:spPr>
          <a:xfrm>
            <a:off x="6809764" y="5206865"/>
            <a:ext cx="724231" cy="44451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a:t>Refactoring</a:t>
            </a:r>
          </a:p>
        </p:txBody>
      </p:sp>
      <p:cxnSp>
        <p:nvCxnSpPr>
          <p:cNvPr id="97" name="Straight Arrow Connector 96"/>
          <p:cNvCxnSpPr>
            <a:stCxn id="87" idx="3"/>
            <a:endCxn id="91" idx="1"/>
          </p:cNvCxnSpPr>
          <p:nvPr/>
        </p:nvCxnSpPr>
        <p:spPr>
          <a:xfrm>
            <a:off x="5572113" y="4654542"/>
            <a:ext cx="233370" cy="20449"/>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91" idx="3"/>
            <a:endCxn id="94" idx="1"/>
          </p:cNvCxnSpPr>
          <p:nvPr/>
        </p:nvCxnSpPr>
        <p:spPr>
          <a:xfrm flipV="1">
            <a:off x="6602138" y="4674666"/>
            <a:ext cx="170138" cy="32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94" idx="2"/>
            <a:endCxn id="96" idx="0"/>
          </p:cNvCxnSpPr>
          <p:nvPr/>
        </p:nvCxnSpPr>
        <p:spPr>
          <a:xfrm>
            <a:off x="7170603" y="4896601"/>
            <a:ext cx="1277" cy="31026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endCxn id="95" idx="1"/>
          </p:cNvCxnSpPr>
          <p:nvPr/>
        </p:nvCxnSpPr>
        <p:spPr>
          <a:xfrm flipV="1">
            <a:off x="7533995" y="4485799"/>
            <a:ext cx="161579" cy="160936"/>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94" idx="0"/>
            <a:endCxn id="92" idx="2"/>
          </p:cNvCxnSpPr>
          <p:nvPr/>
        </p:nvCxnSpPr>
        <p:spPr>
          <a:xfrm flipV="1">
            <a:off x="7170603" y="4094032"/>
            <a:ext cx="1277" cy="35870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5" idx="3"/>
            <a:endCxn id="167" idx="1"/>
          </p:cNvCxnSpPr>
          <p:nvPr/>
        </p:nvCxnSpPr>
        <p:spPr>
          <a:xfrm flipV="1">
            <a:off x="8419805" y="4369697"/>
            <a:ext cx="271671" cy="11610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endCxn id="183" idx="1"/>
          </p:cNvCxnSpPr>
          <p:nvPr/>
        </p:nvCxnSpPr>
        <p:spPr>
          <a:xfrm flipV="1">
            <a:off x="2871778" y="4337057"/>
            <a:ext cx="145742" cy="373533"/>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86" idx="3"/>
            <a:endCxn id="87" idx="1"/>
          </p:cNvCxnSpPr>
          <p:nvPr/>
        </p:nvCxnSpPr>
        <p:spPr>
          <a:xfrm flipV="1">
            <a:off x="4573335" y="4654542"/>
            <a:ext cx="259990" cy="2505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flipH="1">
            <a:off x="6600480" y="4896601"/>
            <a:ext cx="197159" cy="168924"/>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94" idx="3"/>
            <a:endCxn id="93" idx="1"/>
          </p:cNvCxnSpPr>
          <p:nvPr/>
        </p:nvCxnSpPr>
        <p:spPr>
          <a:xfrm>
            <a:off x="7568929" y="4674667"/>
            <a:ext cx="126645" cy="29316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3" idx="3"/>
            <a:endCxn id="167" idx="1"/>
          </p:cNvCxnSpPr>
          <p:nvPr/>
        </p:nvCxnSpPr>
        <p:spPr>
          <a:xfrm flipV="1">
            <a:off x="8419805" y="4369697"/>
            <a:ext cx="271671" cy="59813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flipH="1">
            <a:off x="5561015" y="4831617"/>
            <a:ext cx="255400" cy="19758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86" idx="3"/>
          </p:cNvCxnSpPr>
          <p:nvPr/>
        </p:nvCxnSpPr>
        <p:spPr>
          <a:xfrm>
            <a:off x="4573334" y="4679596"/>
            <a:ext cx="244506" cy="26258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597544" y="6138456"/>
            <a:ext cx="8805421"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Kanban Card Wall</a:t>
            </a:r>
            <a:endParaRPr lang="en-US" dirty="0"/>
          </a:p>
        </p:txBody>
      </p:sp>
      <p:sp>
        <p:nvSpPr>
          <p:cNvPr id="121" name="TextBox 120"/>
          <p:cNvSpPr txBox="1"/>
          <p:nvPr/>
        </p:nvSpPr>
        <p:spPr>
          <a:xfrm>
            <a:off x="6570068" y="6595656"/>
            <a:ext cx="2834640"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Explicit Policies</a:t>
            </a:r>
            <a:endParaRPr lang="en-US" dirty="0"/>
          </a:p>
        </p:txBody>
      </p:sp>
      <p:sp>
        <p:nvSpPr>
          <p:cNvPr id="122" name="TextBox 121"/>
          <p:cNvSpPr txBox="1"/>
          <p:nvPr/>
        </p:nvSpPr>
        <p:spPr>
          <a:xfrm>
            <a:off x="3581400" y="6586944"/>
            <a:ext cx="2834640"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Blockers and Issues</a:t>
            </a:r>
            <a:endParaRPr lang="en-US" dirty="0"/>
          </a:p>
        </p:txBody>
      </p:sp>
      <p:sp>
        <p:nvSpPr>
          <p:cNvPr id="123" name="TextBox 122"/>
          <p:cNvSpPr txBox="1"/>
          <p:nvPr/>
        </p:nvSpPr>
        <p:spPr>
          <a:xfrm>
            <a:off x="597543" y="6586944"/>
            <a:ext cx="2834640"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Work In Progress Limit Policies</a:t>
            </a:r>
            <a:endParaRPr lang="en-US" dirty="0"/>
          </a:p>
        </p:txBody>
      </p:sp>
      <p:sp>
        <p:nvSpPr>
          <p:cNvPr id="129" name="TextBox 128"/>
          <p:cNvSpPr txBox="1"/>
          <p:nvPr/>
        </p:nvSpPr>
        <p:spPr>
          <a:xfrm>
            <a:off x="1600200" y="4581143"/>
            <a:ext cx="779954" cy="448056"/>
          </a:xfrm>
          <a:prstGeom prst="rect">
            <a:avLst/>
          </a:prstGeom>
          <a:solidFill>
            <a:srgbClr val="8099CC"/>
          </a:solidFill>
          <a:ln>
            <a:noFill/>
          </a:ln>
        </p:spPr>
        <p:txBody>
          <a:bodyPr wrap="square" lIns="36576" tIns="45715" rIns="36576"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Cost of Delay</a:t>
            </a:r>
            <a:endParaRPr lang="en-US" dirty="0"/>
          </a:p>
        </p:txBody>
      </p:sp>
      <p:sp>
        <p:nvSpPr>
          <p:cNvPr id="130" name="TextBox 129"/>
          <p:cNvSpPr txBox="1"/>
          <p:nvPr/>
        </p:nvSpPr>
        <p:spPr>
          <a:xfrm>
            <a:off x="1600200" y="5148227"/>
            <a:ext cx="779954" cy="490572"/>
          </a:xfrm>
          <a:prstGeom prst="rect">
            <a:avLst/>
          </a:prstGeom>
          <a:solidFill>
            <a:srgbClr val="8099CC"/>
          </a:solidFill>
          <a:ln>
            <a:noFill/>
          </a:ln>
        </p:spPr>
        <p:txBody>
          <a:bodyPr wrap="square" lIns="36576" tIns="45715" rIns="36576"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Classes of Service w/ Delivery Promises</a:t>
            </a:r>
            <a:endParaRPr lang="en-US" dirty="0"/>
          </a:p>
        </p:txBody>
      </p:sp>
      <p:sp>
        <p:nvSpPr>
          <p:cNvPr id="144" name="TextBox 143"/>
          <p:cNvSpPr txBox="1"/>
          <p:nvPr/>
        </p:nvSpPr>
        <p:spPr>
          <a:xfrm>
            <a:off x="644622" y="1614899"/>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Class Responsibility Collaborator</a:t>
            </a:r>
          </a:p>
        </p:txBody>
      </p:sp>
      <p:sp>
        <p:nvSpPr>
          <p:cNvPr id="145" name="TextBox 144"/>
          <p:cNvSpPr txBox="1"/>
          <p:nvPr/>
        </p:nvSpPr>
        <p:spPr>
          <a:xfrm>
            <a:off x="2063895" y="1614899"/>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Domain Driven Design Model</a:t>
            </a:r>
          </a:p>
        </p:txBody>
      </p:sp>
      <p:sp>
        <p:nvSpPr>
          <p:cNvPr id="146" name="TextBox 145"/>
          <p:cNvSpPr txBox="1"/>
          <p:nvPr/>
        </p:nvSpPr>
        <p:spPr>
          <a:xfrm>
            <a:off x="644622" y="2097541"/>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Agile Class &amp; Sequence Diagrams</a:t>
            </a:r>
          </a:p>
        </p:txBody>
      </p:sp>
      <p:sp>
        <p:nvSpPr>
          <p:cNvPr id="147" name="TextBox 146"/>
          <p:cNvSpPr txBox="1"/>
          <p:nvPr/>
        </p:nvSpPr>
        <p:spPr>
          <a:xfrm>
            <a:off x="643508" y="2557056"/>
            <a:ext cx="4059824" cy="29260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Wiki Project Repository</a:t>
            </a:r>
          </a:p>
        </p:txBody>
      </p:sp>
      <p:sp>
        <p:nvSpPr>
          <p:cNvPr id="148" name="TextBox 147"/>
          <p:cNvSpPr txBox="1"/>
          <p:nvPr/>
        </p:nvSpPr>
        <p:spPr>
          <a:xfrm>
            <a:off x="2068193" y="2091206"/>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Architecture Key Mechanism </a:t>
            </a:r>
          </a:p>
        </p:txBody>
      </p:sp>
      <p:sp>
        <p:nvSpPr>
          <p:cNvPr id="149" name="TextBox 148"/>
          <p:cNvSpPr txBox="1"/>
          <p:nvPr/>
        </p:nvSpPr>
        <p:spPr>
          <a:xfrm rot="16200000">
            <a:off x="2504704" y="-662194"/>
            <a:ext cx="338545" cy="4058710"/>
          </a:xfrm>
          <a:prstGeom prst="rect">
            <a:avLst/>
          </a:prstGeom>
          <a:solidFill>
            <a:srgbClr val="8099CC"/>
          </a:solidFill>
          <a:ln>
            <a:noFill/>
          </a:ln>
        </p:spPr>
        <p:txBody>
          <a:bodyPr vert="vert"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Modeling Storm</a:t>
            </a:r>
            <a:endParaRPr lang="en-US" dirty="0"/>
          </a:p>
        </p:txBody>
      </p:sp>
      <p:sp>
        <p:nvSpPr>
          <p:cNvPr id="151" name="TextBox 150"/>
          <p:cNvSpPr txBox="1"/>
          <p:nvPr/>
        </p:nvSpPr>
        <p:spPr>
          <a:xfrm>
            <a:off x="5059360" y="1681299"/>
            <a:ext cx="2072640" cy="49377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Cumulative Flow Diagram</a:t>
            </a:r>
            <a:endParaRPr lang="en-US" dirty="0"/>
          </a:p>
        </p:txBody>
      </p:sp>
      <p:sp>
        <p:nvSpPr>
          <p:cNvPr id="152" name="TextBox 151"/>
          <p:cNvSpPr txBox="1"/>
          <p:nvPr/>
        </p:nvSpPr>
        <p:spPr>
          <a:xfrm>
            <a:off x="7238274" y="1680864"/>
            <a:ext cx="2072640" cy="493776"/>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Statistical Process Control Charts</a:t>
            </a:r>
            <a:endParaRPr lang="en-US" dirty="0"/>
          </a:p>
        </p:txBody>
      </p:sp>
      <p:sp>
        <p:nvSpPr>
          <p:cNvPr id="153" name="TextBox 152"/>
          <p:cNvSpPr txBox="1"/>
          <p:nvPr/>
        </p:nvSpPr>
        <p:spPr>
          <a:xfrm>
            <a:off x="5059360" y="2254123"/>
            <a:ext cx="2072640" cy="489077"/>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Other Lean Metrics Dashboard</a:t>
            </a:r>
            <a:endParaRPr lang="en-US" dirty="0"/>
          </a:p>
        </p:txBody>
      </p:sp>
      <p:sp>
        <p:nvSpPr>
          <p:cNvPr id="154" name="TextBox 153"/>
          <p:cNvSpPr txBox="1"/>
          <p:nvPr/>
        </p:nvSpPr>
        <p:spPr>
          <a:xfrm>
            <a:off x="5059359" y="1242213"/>
            <a:ext cx="4251555"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Retrospective</a:t>
            </a:r>
            <a:endParaRPr lang="en-US" dirty="0"/>
          </a:p>
        </p:txBody>
      </p:sp>
      <p:sp>
        <p:nvSpPr>
          <p:cNvPr id="155" name="TextBox 154"/>
          <p:cNvSpPr txBox="1"/>
          <p:nvPr/>
        </p:nvSpPr>
        <p:spPr>
          <a:xfrm>
            <a:off x="7238274" y="2254123"/>
            <a:ext cx="2072640" cy="489077"/>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5 Whys</a:t>
            </a:r>
            <a:endParaRPr lang="en-US" dirty="0"/>
          </a:p>
        </p:txBody>
      </p:sp>
      <p:sp>
        <p:nvSpPr>
          <p:cNvPr id="159" name="TextBox 158"/>
          <p:cNvSpPr txBox="1"/>
          <p:nvPr/>
        </p:nvSpPr>
        <p:spPr>
          <a:xfrm>
            <a:off x="4832708" y="4953000"/>
            <a:ext cx="738788"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Spikes</a:t>
            </a:r>
            <a:endParaRPr lang="en-US" sz="800" dirty="0"/>
          </a:p>
        </p:txBody>
      </p:sp>
      <p:sp>
        <p:nvSpPr>
          <p:cNvPr id="160" name="TextBox 159"/>
          <p:cNvSpPr txBox="1"/>
          <p:nvPr/>
        </p:nvSpPr>
        <p:spPr>
          <a:xfrm>
            <a:off x="4832708" y="3898884"/>
            <a:ext cx="738788"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Emergent Design</a:t>
            </a:r>
            <a:endParaRPr lang="en-US" sz="800" dirty="0"/>
          </a:p>
        </p:txBody>
      </p:sp>
      <p:cxnSp>
        <p:nvCxnSpPr>
          <p:cNvPr id="161" name="Straight Arrow Connector 160"/>
          <p:cNvCxnSpPr/>
          <p:nvPr/>
        </p:nvCxnSpPr>
        <p:spPr>
          <a:xfrm flipV="1">
            <a:off x="4573335" y="4121142"/>
            <a:ext cx="244505" cy="525593"/>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6" name="TextBox 165"/>
          <p:cNvSpPr txBox="1"/>
          <p:nvPr/>
        </p:nvSpPr>
        <p:spPr>
          <a:xfrm>
            <a:off x="8693218" y="4876800"/>
            <a:ext cx="709747" cy="69769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Change Tolerant, Potentially </a:t>
            </a:r>
            <a:r>
              <a:rPr lang="en-US" sz="800" dirty="0"/>
              <a:t>Shippable Code</a:t>
            </a:r>
          </a:p>
        </p:txBody>
      </p:sp>
      <p:sp>
        <p:nvSpPr>
          <p:cNvPr id="167" name="TextBox 166"/>
          <p:cNvSpPr txBox="1"/>
          <p:nvPr/>
        </p:nvSpPr>
        <p:spPr>
          <a:xfrm>
            <a:off x="8691476" y="4114800"/>
            <a:ext cx="713232" cy="509793"/>
          </a:xfrm>
          <a:prstGeom prst="rect">
            <a:avLst/>
          </a:prstGeom>
          <a:solidFill>
            <a:srgbClr val="8099CC"/>
          </a:solidFill>
          <a:ln>
            <a:noFill/>
          </a:ln>
        </p:spPr>
        <p:txBody>
          <a:bodyPr wrap="square" lIns="0"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Acceptance Test Driven Development</a:t>
            </a:r>
          </a:p>
        </p:txBody>
      </p:sp>
      <p:sp>
        <p:nvSpPr>
          <p:cNvPr id="171" name="TextBox 170"/>
          <p:cNvSpPr txBox="1"/>
          <p:nvPr/>
        </p:nvSpPr>
        <p:spPr>
          <a:xfrm>
            <a:off x="597695" y="7010400"/>
            <a:ext cx="8805270"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Operational Control Review</a:t>
            </a:r>
            <a:endParaRPr lang="en-US" dirty="0"/>
          </a:p>
        </p:txBody>
      </p:sp>
      <p:sp>
        <p:nvSpPr>
          <p:cNvPr id="173" name="TextBox 172"/>
          <p:cNvSpPr txBox="1"/>
          <p:nvPr/>
        </p:nvSpPr>
        <p:spPr>
          <a:xfrm>
            <a:off x="3423172" y="1614899"/>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Agile Use Cases</a:t>
            </a:r>
            <a:endParaRPr lang="en-US" dirty="0"/>
          </a:p>
        </p:txBody>
      </p:sp>
      <p:sp>
        <p:nvSpPr>
          <p:cNvPr id="177" name="TextBox 176"/>
          <p:cNvSpPr txBox="1"/>
          <p:nvPr/>
        </p:nvSpPr>
        <p:spPr>
          <a:xfrm>
            <a:off x="588376" y="5190743"/>
            <a:ext cx="813816" cy="448056"/>
          </a:xfrm>
          <a:prstGeom prst="rect">
            <a:avLst/>
          </a:prstGeom>
          <a:solidFill>
            <a:srgbClr val="8099CC"/>
          </a:solidFill>
          <a:ln>
            <a:noFill/>
          </a:ln>
        </p:spPr>
        <p:txBody>
          <a:bodyPr wrap="square" lIns="0"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Acceptance Test Driven </a:t>
            </a:r>
            <a:r>
              <a:rPr lang="en-US" dirty="0" smtClean="0"/>
              <a:t>Planning</a:t>
            </a:r>
            <a:endParaRPr lang="en-US" dirty="0"/>
          </a:p>
        </p:txBody>
      </p:sp>
      <p:sp>
        <p:nvSpPr>
          <p:cNvPr id="178" name="TextBox 177"/>
          <p:cNvSpPr txBox="1"/>
          <p:nvPr/>
        </p:nvSpPr>
        <p:spPr>
          <a:xfrm>
            <a:off x="3423172" y="2084871"/>
            <a:ext cx="1280160" cy="384048"/>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err="1" smtClean="0"/>
              <a:t>Behaviour</a:t>
            </a:r>
            <a:r>
              <a:rPr lang="en-US" dirty="0" smtClean="0"/>
              <a:t> Driven Development</a:t>
            </a:r>
            <a:endParaRPr lang="en-US" dirty="0"/>
          </a:p>
        </p:txBody>
      </p:sp>
      <p:sp>
        <p:nvSpPr>
          <p:cNvPr id="181" name="TextBox 180"/>
          <p:cNvSpPr txBox="1"/>
          <p:nvPr/>
        </p:nvSpPr>
        <p:spPr>
          <a:xfrm>
            <a:off x="1600200" y="3566886"/>
            <a:ext cx="2057400" cy="222257"/>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Planning Poker</a:t>
            </a:r>
            <a:endParaRPr lang="en-US" sz="800" dirty="0"/>
          </a:p>
        </p:txBody>
      </p:sp>
      <p:sp>
        <p:nvSpPr>
          <p:cNvPr id="183" name="TextBox 182"/>
          <p:cNvSpPr txBox="1"/>
          <p:nvPr/>
        </p:nvSpPr>
        <p:spPr>
          <a:xfrm>
            <a:off x="3017520" y="4114799"/>
            <a:ext cx="640080"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User Story</a:t>
            </a:r>
            <a:endParaRPr lang="en-US" sz="800" dirty="0"/>
          </a:p>
        </p:txBody>
      </p:sp>
      <p:sp>
        <p:nvSpPr>
          <p:cNvPr id="184" name="TextBox 183"/>
          <p:cNvSpPr txBox="1"/>
          <p:nvPr/>
        </p:nvSpPr>
        <p:spPr>
          <a:xfrm>
            <a:off x="3017520" y="4889484"/>
            <a:ext cx="640080" cy="44451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Features</a:t>
            </a:r>
            <a:endParaRPr lang="en-US" sz="800" dirty="0"/>
          </a:p>
        </p:txBody>
      </p:sp>
      <p:sp>
        <p:nvSpPr>
          <p:cNvPr id="186" name="TextBox 185"/>
          <p:cNvSpPr txBox="1"/>
          <p:nvPr/>
        </p:nvSpPr>
        <p:spPr>
          <a:xfrm rot="16200000">
            <a:off x="1866952" y="4698932"/>
            <a:ext cx="1676294" cy="228600"/>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1000">
                <a:solidFill>
                  <a:srgbClr val="000000"/>
                </a:solidFill>
                <a:latin typeface="Arial" pitchFamily="34" charset="0"/>
                <a:cs typeface="Arial" pitchFamily="34" charset="0"/>
              </a:defRPr>
            </a:lvl1pPr>
          </a:lstStyle>
          <a:p>
            <a:r>
              <a:rPr lang="en-US" sz="800" dirty="0" smtClean="0"/>
              <a:t>Work Ticket Types</a:t>
            </a:r>
            <a:endParaRPr lang="en-US" sz="800" dirty="0"/>
          </a:p>
        </p:txBody>
      </p:sp>
      <p:grpSp>
        <p:nvGrpSpPr>
          <p:cNvPr id="2" name="Group 1"/>
          <p:cNvGrpSpPr/>
          <p:nvPr/>
        </p:nvGrpSpPr>
        <p:grpSpPr>
          <a:xfrm>
            <a:off x="5181600" y="2881086"/>
            <a:ext cx="365760" cy="365760"/>
            <a:chOff x="4297203" y="2905104"/>
            <a:chExt cx="551444" cy="568359"/>
          </a:xfrm>
        </p:grpSpPr>
        <p:sp>
          <p:nvSpPr>
            <p:cNvPr id="78" name="Arc 21"/>
            <p:cNvSpPr>
              <a:spLocks/>
            </p:cNvSpPr>
            <p:nvPr/>
          </p:nvSpPr>
          <p:spPr bwMode="auto">
            <a:xfrm rot="16042184" flipH="1" flipV="1">
              <a:off x="4231013" y="2971294"/>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79" name="Arc 21"/>
            <p:cNvSpPr>
              <a:spLocks/>
            </p:cNvSpPr>
            <p:nvPr/>
          </p:nvSpPr>
          <p:spPr bwMode="auto">
            <a:xfrm rot="5400000" flipH="1" flipV="1">
              <a:off x="4367599" y="2992415"/>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grpSp>
        <p:nvGrpSpPr>
          <p:cNvPr id="81" name="Group 80"/>
          <p:cNvGrpSpPr/>
          <p:nvPr/>
        </p:nvGrpSpPr>
        <p:grpSpPr>
          <a:xfrm>
            <a:off x="2642224" y="2881086"/>
            <a:ext cx="365760" cy="365760"/>
            <a:chOff x="4297203" y="2905104"/>
            <a:chExt cx="551444" cy="568359"/>
          </a:xfrm>
        </p:grpSpPr>
        <p:sp>
          <p:nvSpPr>
            <p:cNvPr id="82" name="Arc 21"/>
            <p:cNvSpPr>
              <a:spLocks/>
            </p:cNvSpPr>
            <p:nvPr/>
          </p:nvSpPr>
          <p:spPr bwMode="auto">
            <a:xfrm rot="16042184" flipH="1" flipV="1">
              <a:off x="4231013" y="2971294"/>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84" name="Arc 21"/>
            <p:cNvSpPr>
              <a:spLocks/>
            </p:cNvSpPr>
            <p:nvPr/>
          </p:nvSpPr>
          <p:spPr bwMode="auto">
            <a:xfrm rot="5400000" flipH="1" flipV="1">
              <a:off x="4367599" y="2992415"/>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grpSp>
        <p:nvGrpSpPr>
          <p:cNvPr id="85" name="Group 84"/>
          <p:cNvGrpSpPr/>
          <p:nvPr/>
        </p:nvGrpSpPr>
        <p:grpSpPr>
          <a:xfrm>
            <a:off x="3121396" y="5577840"/>
            <a:ext cx="365760" cy="365760"/>
            <a:chOff x="4297203" y="2905104"/>
            <a:chExt cx="551444" cy="568359"/>
          </a:xfrm>
        </p:grpSpPr>
        <p:sp>
          <p:nvSpPr>
            <p:cNvPr id="88" name="Arc 21"/>
            <p:cNvSpPr>
              <a:spLocks/>
            </p:cNvSpPr>
            <p:nvPr/>
          </p:nvSpPr>
          <p:spPr bwMode="auto">
            <a:xfrm rot="16042184" flipH="1" flipV="1">
              <a:off x="4231013" y="2971294"/>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90" name="Arc 21"/>
            <p:cNvSpPr>
              <a:spLocks/>
            </p:cNvSpPr>
            <p:nvPr/>
          </p:nvSpPr>
          <p:spPr bwMode="auto">
            <a:xfrm rot="5400000" flipH="1" flipV="1">
              <a:off x="4367599" y="2992415"/>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grpSp>
        <p:nvGrpSpPr>
          <p:cNvPr id="103" name="Group 102"/>
          <p:cNvGrpSpPr/>
          <p:nvPr/>
        </p:nvGrpSpPr>
        <p:grpSpPr>
          <a:xfrm>
            <a:off x="4282440" y="5554860"/>
            <a:ext cx="365760" cy="365760"/>
            <a:chOff x="4297203" y="2905104"/>
            <a:chExt cx="551444" cy="568359"/>
          </a:xfrm>
        </p:grpSpPr>
        <p:sp>
          <p:nvSpPr>
            <p:cNvPr id="105" name="Arc 21"/>
            <p:cNvSpPr>
              <a:spLocks/>
            </p:cNvSpPr>
            <p:nvPr/>
          </p:nvSpPr>
          <p:spPr bwMode="auto">
            <a:xfrm rot="16042184" flipH="1" flipV="1">
              <a:off x="4231013" y="2971294"/>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106" name="Arc 21"/>
            <p:cNvSpPr>
              <a:spLocks/>
            </p:cNvSpPr>
            <p:nvPr/>
          </p:nvSpPr>
          <p:spPr bwMode="auto">
            <a:xfrm rot="5400000" flipH="1" flipV="1">
              <a:off x="4367599" y="2992415"/>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cxnSp>
        <p:nvCxnSpPr>
          <p:cNvPr id="109" name="Straight Arrow Connector 108"/>
          <p:cNvCxnSpPr>
            <a:endCxn id="184" idx="1"/>
          </p:cNvCxnSpPr>
          <p:nvPr/>
        </p:nvCxnSpPr>
        <p:spPr>
          <a:xfrm>
            <a:off x="2871778" y="4786790"/>
            <a:ext cx="145742" cy="32495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stCxn id="86" idx="1"/>
            <a:endCxn id="183" idx="3"/>
          </p:cNvCxnSpPr>
          <p:nvPr/>
        </p:nvCxnSpPr>
        <p:spPr>
          <a:xfrm flipH="1" flipV="1">
            <a:off x="3657600" y="4337057"/>
            <a:ext cx="240120" cy="342539"/>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6" idx="1"/>
            <a:endCxn id="184" idx="3"/>
          </p:cNvCxnSpPr>
          <p:nvPr/>
        </p:nvCxnSpPr>
        <p:spPr>
          <a:xfrm flipH="1">
            <a:off x="3657600" y="4679596"/>
            <a:ext cx="240120" cy="432146"/>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a:stCxn id="184" idx="0"/>
          </p:cNvCxnSpPr>
          <p:nvPr/>
        </p:nvCxnSpPr>
        <p:spPr>
          <a:xfrm flipV="1">
            <a:off x="3337560" y="4566267"/>
            <a:ext cx="8508" cy="32321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stCxn id="8" idx="3"/>
            <a:endCxn id="61" idx="1"/>
          </p:cNvCxnSpPr>
          <p:nvPr/>
        </p:nvCxnSpPr>
        <p:spPr>
          <a:xfrm flipV="1">
            <a:off x="1402192" y="4197342"/>
            <a:ext cx="198008" cy="60960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8" idx="3"/>
            <a:endCxn id="129" idx="1"/>
          </p:cNvCxnSpPr>
          <p:nvPr/>
        </p:nvCxnSpPr>
        <p:spPr>
          <a:xfrm flipV="1">
            <a:off x="1402192" y="4805171"/>
            <a:ext cx="198008" cy="177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stCxn id="8" idx="3"/>
            <a:endCxn id="130" idx="1"/>
          </p:cNvCxnSpPr>
          <p:nvPr/>
        </p:nvCxnSpPr>
        <p:spPr>
          <a:xfrm>
            <a:off x="1402192" y="4806942"/>
            <a:ext cx="198008" cy="58657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186" idx="0"/>
            <a:endCxn id="130" idx="3"/>
          </p:cNvCxnSpPr>
          <p:nvPr/>
        </p:nvCxnSpPr>
        <p:spPr>
          <a:xfrm flipH="1">
            <a:off x="2380154" y="4813232"/>
            <a:ext cx="210645" cy="58028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186" idx="0"/>
            <a:endCxn id="129" idx="3"/>
          </p:cNvCxnSpPr>
          <p:nvPr/>
        </p:nvCxnSpPr>
        <p:spPr>
          <a:xfrm flipH="1" flipV="1">
            <a:off x="2380154" y="4805171"/>
            <a:ext cx="210645" cy="806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186" idx="0"/>
            <a:endCxn id="61" idx="3"/>
          </p:cNvCxnSpPr>
          <p:nvPr/>
        </p:nvCxnSpPr>
        <p:spPr>
          <a:xfrm flipH="1" flipV="1">
            <a:off x="2413333" y="4197342"/>
            <a:ext cx="177466" cy="615890"/>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61" idx="0"/>
            <a:endCxn id="181" idx="2"/>
          </p:cNvCxnSpPr>
          <p:nvPr/>
        </p:nvCxnSpPr>
        <p:spPr>
          <a:xfrm flipV="1">
            <a:off x="2006767" y="3789143"/>
            <a:ext cx="622133" cy="185941"/>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186" idx="3"/>
            <a:endCxn id="181" idx="2"/>
          </p:cNvCxnSpPr>
          <p:nvPr/>
        </p:nvCxnSpPr>
        <p:spPr>
          <a:xfrm flipH="1" flipV="1">
            <a:off x="2628900" y="3789143"/>
            <a:ext cx="76199" cy="185942"/>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nvGrpSpPr>
          <p:cNvPr id="135" name="Group 134"/>
          <p:cNvGrpSpPr/>
          <p:nvPr/>
        </p:nvGrpSpPr>
        <p:grpSpPr>
          <a:xfrm>
            <a:off x="4373034" y="2896591"/>
            <a:ext cx="365760" cy="365760"/>
            <a:chOff x="4297203" y="2905104"/>
            <a:chExt cx="551444" cy="568359"/>
          </a:xfrm>
        </p:grpSpPr>
        <p:sp>
          <p:nvSpPr>
            <p:cNvPr id="136" name="Arc 21"/>
            <p:cNvSpPr>
              <a:spLocks/>
            </p:cNvSpPr>
            <p:nvPr/>
          </p:nvSpPr>
          <p:spPr bwMode="auto">
            <a:xfrm rot="16042184" flipH="1" flipV="1">
              <a:off x="4231013" y="2971294"/>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sp>
          <p:nvSpPr>
            <p:cNvPr id="137" name="Arc 21"/>
            <p:cNvSpPr>
              <a:spLocks/>
            </p:cNvSpPr>
            <p:nvPr/>
          </p:nvSpPr>
          <p:spPr bwMode="auto">
            <a:xfrm rot="5400000" flipH="1" flipV="1">
              <a:off x="4367599" y="2992415"/>
              <a:ext cx="547238" cy="414858"/>
            </a:xfrm>
            <a:custGeom>
              <a:avLst/>
              <a:gdLst>
                <a:gd name="T0" fmla="*/ 586376 w 29823"/>
                <a:gd name="T1" fmla="*/ 0 h 23978"/>
                <a:gd name="T2" fmla="*/ 0 w 29823"/>
                <a:gd name="T3" fmla="*/ 329991 h 23978"/>
                <a:gd name="T4" fmla="*/ 162393 w 29823"/>
                <a:gd name="T5" fmla="*/ 35109 h 23978"/>
                <a:gd name="T6" fmla="*/ 0 60000 65536"/>
                <a:gd name="T7" fmla="*/ 0 60000 65536"/>
                <a:gd name="T8" fmla="*/ 0 60000 65536"/>
              </a:gdLst>
              <a:ahLst/>
              <a:cxnLst>
                <a:cxn ang="T6">
                  <a:pos x="T0" y="T1"/>
                </a:cxn>
                <a:cxn ang="T7">
                  <a:pos x="T2" y="T3"/>
                </a:cxn>
                <a:cxn ang="T8">
                  <a:pos x="T4" y="T5"/>
                </a:cxn>
              </a:cxnLst>
              <a:rect l="0" t="0" r="r" b="b"/>
              <a:pathLst>
                <a:path w="29823" h="23978" fill="none" extrusionOk="0">
                  <a:moveTo>
                    <a:pt x="29691" y="0"/>
                  </a:moveTo>
                  <a:cubicBezTo>
                    <a:pt x="29779" y="789"/>
                    <a:pt x="29823" y="1583"/>
                    <a:pt x="29823" y="2378"/>
                  </a:cubicBezTo>
                  <a:cubicBezTo>
                    <a:pt x="29823" y="14307"/>
                    <a:pt x="20152" y="23978"/>
                    <a:pt x="8223" y="23978"/>
                  </a:cubicBezTo>
                  <a:cubicBezTo>
                    <a:pt x="5402" y="23978"/>
                    <a:pt x="2608" y="23425"/>
                    <a:pt x="-1" y="22351"/>
                  </a:cubicBezTo>
                </a:path>
                <a:path w="29823" h="23978" stroke="0" extrusionOk="0">
                  <a:moveTo>
                    <a:pt x="29691" y="0"/>
                  </a:moveTo>
                  <a:cubicBezTo>
                    <a:pt x="29779" y="789"/>
                    <a:pt x="29823" y="1583"/>
                    <a:pt x="29823" y="2378"/>
                  </a:cubicBezTo>
                  <a:cubicBezTo>
                    <a:pt x="29823" y="14307"/>
                    <a:pt x="20152" y="23978"/>
                    <a:pt x="8223" y="23978"/>
                  </a:cubicBezTo>
                  <a:cubicBezTo>
                    <a:pt x="5402" y="23978"/>
                    <a:pt x="2608" y="23425"/>
                    <a:pt x="-1" y="22351"/>
                  </a:cubicBezTo>
                  <a:lnTo>
                    <a:pt x="8223" y="2378"/>
                  </a:lnTo>
                  <a:lnTo>
                    <a:pt x="29691" y="0"/>
                  </a:lnTo>
                  <a:close/>
                </a:path>
              </a:pathLst>
            </a:custGeom>
            <a:ln w="76200">
              <a:solidFill>
                <a:schemeClr val="accent1">
                  <a:lumMod val="50000"/>
                </a:schemeClr>
              </a:solidFill>
              <a:round/>
              <a:headEnd type="none" w="med" len="sm"/>
              <a:tailEnd type="triangle" w="sm" len="sm"/>
            </a:ln>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wrap="none" lIns="91429" tIns="45715" rIns="91429" bIns="45715" anchor="ctr"/>
            <a:lstStyle/>
            <a:p>
              <a:endParaRPr lang="en-US" sz="1600"/>
            </a:p>
          </p:txBody>
        </p:sp>
      </p:grpSp>
      <p:cxnSp>
        <p:nvCxnSpPr>
          <p:cNvPr id="138" name="Straight Arrow Connector 137"/>
          <p:cNvCxnSpPr>
            <a:stCxn id="166" idx="0"/>
            <a:endCxn id="167" idx="2"/>
          </p:cNvCxnSpPr>
          <p:nvPr/>
        </p:nvCxnSpPr>
        <p:spPr>
          <a:xfrm flipV="1">
            <a:off x="9048092" y="4624593"/>
            <a:ext cx="0" cy="252207"/>
          </a:xfrm>
          <a:prstGeom prst="straightConnector1">
            <a:avLst/>
          </a:prstGeom>
          <a:ln w="38100">
            <a:solidFill>
              <a:schemeClr val="accent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2756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629" y="3213531"/>
            <a:ext cx="8964899" cy="758669"/>
          </a:xfrm>
        </p:spPr>
        <p:txBody>
          <a:bodyPr/>
          <a:lstStyle/>
          <a:p>
            <a:r>
              <a:rPr lang="en-US" dirty="0"/>
              <a:t>Agile </a:t>
            </a:r>
            <a:r>
              <a:rPr lang="en-US" dirty="0" smtClean="0"/>
              <a:t>Practices</a:t>
            </a:r>
            <a:endParaRPr lang="en-US" dirty="0"/>
          </a:p>
        </p:txBody>
      </p:sp>
    </p:spTree>
    <p:extLst>
      <p:ext uri="{BB962C8B-B14F-4D97-AF65-F5344CB8AC3E}">
        <p14:creationId xmlns:p14="http://schemas.microsoft.com/office/powerpoint/2010/main" val="415624414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z="3100"/>
              <a:t>User Acceptance Tests (UAT)</a:t>
            </a:r>
          </a:p>
        </p:txBody>
      </p:sp>
      <p:sp>
        <p:nvSpPr>
          <p:cNvPr id="3075" name="Content Placeholder 2"/>
          <p:cNvSpPr>
            <a:spLocks noGrp="1"/>
          </p:cNvSpPr>
          <p:nvPr>
            <p:ph idx="1"/>
          </p:nvPr>
        </p:nvSpPr>
        <p:spPr>
          <a:xfrm>
            <a:off x="502920" y="1813560"/>
            <a:ext cx="9052560" cy="4237057"/>
          </a:xfrm>
        </p:spPr>
        <p:txBody>
          <a:bodyPr/>
          <a:lstStyle/>
          <a:p>
            <a:r>
              <a:rPr lang="en-US" sz="1600" dirty="0"/>
              <a:t>User Acceptance Tests are tests written by business users or with their input, taking into account only real world scenarios, to define the acceptance criteria for the system to meet in order to address business needs. It will help validate the system in a real business environment. A Subject Matter Expert, usually the owner or client of the object under test, provides confirmation of UAT pass/fail status after a review, which takes place during the final stages of a project and often occurs before a client or customer accepts the new system. UAT does not always occur in the end, in fact it’s encouraged for these tests to be run frequently and there can be different cadences (every iteration/sprint, every time a feature is developed, etc.) .</a:t>
            </a:r>
          </a:p>
          <a:p>
            <a:endParaRPr lang="en-US" sz="1600" dirty="0"/>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a:hlinkClick r:id="rId2"/>
              </a:rPr>
              <a:t>http://en.wikipedia.org/wiki/Acceptance_testing#User_acceptance_testing</a:t>
            </a:r>
            <a:endParaRPr lang="en-US" sz="1600" dirty="0"/>
          </a:p>
          <a:p>
            <a:pPr>
              <a:buFont typeface="Arial" charset="0"/>
              <a:buNone/>
            </a:pPr>
            <a:endParaRPr lang="en-US" sz="1600" dirty="0"/>
          </a:p>
        </p:txBody>
      </p:sp>
    </p:spTree>
    <p:extLst>
      <p:ext uri="{BB962C8B-B14F-4D97-AF65-F5344CB8AC3E}">
        <p14:creationId xmlns:p14="http://schemas.microsoft.com/office/powerpoint/2010/main" val="42886762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sz="3100"/>
              <a:t>User Acceptance Tests (Types)</a:t>
            </a:r>
          </a:p>
        </p:txBody>
      </p:sp>
      <p:sp>
        <p:nvSpPr>
          <p:cNvPr id="4099" name="Content Placeholder 2"/>
          <p:cNvSpPr>
            <a:spLocks noGrp="1"/>
          </p:cNvSpPr>
          <p:nvPr>
            <p:ph idx="1"/>
          </p:nvPr>
        </p:nvSpPr>
        <p:spPr>
          <a:xfrm>
            <a:off x="502920" y="1813560"/>
            <a:ext cx="9052560" cy="5206554"/>
          </a:xfrm>
        </p:spPr>
        <p:txBody>
          <a:bodyPr/>
          <a:lstStyle/>
          <a:p>
            <a:r>
              <a:rPr lang="en-US" sz="1500" b="1" dirty="0"/>
              <a:t>XP</a:t>
            </a:r>
            <a:r>
              <a:rPr lang="en-US" sz="1500" dirty="0"/>
              <a:t>: in XP UATs are created from user stories that were selected during the iteration planning meeting. The customer specifies scenarios to test when a user story has been correctly implemented. A story can have one or many acceptance tests, what ever it takes to ensure the functionality works. </a:t>
            </a:r>
          </a:p>
          <a:p>
            <a:r>
              <a:rPr lang="en-US" sz="1500" b="1" dirty="0" smtClean="0"/>
              <a:t>SCRUM</a:t>
            </a:r>
            <a:r>
              <a:rPr lang="en-US" sz="1500" dirty="0"/>
              <a:t>: An iteration starts by sprint planning and finishes with a sprint demo and a sprint retrospective. During the iteration, the product owner meets the technical lead and the team's tester in a session where the acceptance tests for the selected user stories are created. The role of the tester during this session is to help the product owner to think of the various scenarios under which the functionality will be used. Each of these detailed characteristic are written as acceptance criteria in the following format:</a:t>
            </a:r>
          </a:p>
          <a:p>
            <a:pPr>
              <a:buFont typeface="Arial" charset="0"/>
              <a:buNone/>
            </a:pPr>
            <a:r>
              <a:rPr lang="en-US" sz="1500" i="1" dirty="0" smtClean="0"/>
              <a:t>GIVEN </a:t>
            </a:r>
            <a:r>
              <a:rPr lang="en-US" sz="1500" i="1" dirty="0"/>
              <a:t>[an initial context] WHEN [some event happens] THEN [an expected state linked to the functionality]</a:t>
            </a:r>
            <a:r>
              <a:rPr lang="en-US" sz="1500" dirty="0"/>
              <a:t> </a:t>
            </a:r>
          </a:p>
          <a:p>
            <a:r>
              <a:rPr lang="en-US" sz="1500" b="1" dirty="0" smtClean="0"/>
              <a:t>RUP</a:t>
            </a:r>
            <a:r>
              <a:rPr lang="en-US" sz="1500" dirty="0"/>
              <a:t>: In RUP, UAT is performed in the concluding Transition phase of a discipline that is user acceptance testable</a:t>
            </a:r>
          </a:p>
          <a:p>
            <a:pPr>
              <a:buFont typeface="Arial" charset="0"/>
              <a:buNone/>
            </a:pPr>
            <a:r>
              <a:rPr lang="en-US" sz="1500" dirty="0" smtClean="0"/>
              <a:t>For </a:t>
            </a:r>
            <a:r>
              <a:rPr lang="en-US" sz="1500" dirty="0"/>
              <a:t>more information</a:t>
            </a:r>
            <a:r>
              <a:rPr lang="en-US" sz="1500" dirty="0" smtClean="0"/>
              <a:t>:</a:t>
            </a:r>
          </a:p>
          <a:p>
            <a:pPr>
              <a:spcBef>
                <a:spcPts val="0"/>
              </a:spcBef>
              <a:buFont typeface="Arial" charset="0"/>
              <a:buNone/>
            </a:pPr>
            <a:r>
              <a:rPr lang="en-US" sz="1500" dirty="0" smtClean="0"/>
              <a:t> </a:t>
            </a:r>
            <a:r>
              <a:rPr lang="en-US" sz="1500" dirty="0" smtClean="0">
                <a:hlinkClick r:id="rId2"/>
              </a:rPr>
              <a:t>http</a:t>
            </a:r>
            <a:r>
              <a:rPr lang="en-US" sz="1500" dirty="0">
                <a:hlinkClick r:id="rId2"/>
              </a:rPr>
              <a:t>://</a:t>
            </a:r>
            <a:r>
              <a:rPr lang="en-US" sz="1500" dirty="0" smtClean="0">
                <a:hlinkClick r:id="rId2"/>
              </a:rPr>
              <a:t>www.extremeprogramming.org/rules/functionaltests.html</a:t>
            </a:r>
            <a:endParaRPr lang="en-US" sz="1500" dirty="0" smtClean="0"/>
          </a:p>
          <a:p>
            <a:pPr>
              <a:spcBef>
                <a:spcPts val="0"/>
              </a:spcBef>
              <a:buFont typeface="Arial" charset="0"/>
              <a:buNone/>
            </a:pPr>
            <a:r>
              <a:rPr lang="en-US" sz="1500" dirty="0" smtClean="0">
                <a:hlinkClick r:id="rId3"/>
              </a:rPr>
              <a:t>http</a:t>
            </a:r>
            <a:r>
              <a:rPr lang="en-US" sz="1500" dirty="0">
                <a:hlinkClick r:id="rId3"/>
              </a:rPr>
              <a:t>://citconf.com/wiki/index.php?title=User_Acceptance_Test_Driven_Development_in_a_Scrum_Team_using_Fitnesse_%26_How_people_use_Fitnesse</a:t>
            </a:r>
            <a:endParaRPr lang="en-US" sz="1500" dirty="0"/>
          </a:p>
          <a:p>
            <a:pPr>
              <a:spcBef>
                <a:spcPts val="0"/>
              </a:spcBef>
              <a:buFont typeface="Arial" charset="0"/>
              <a:buNone/>
            </a:pPr>
            <a:r>
              <a:rPr lang="en-US" sz="1500" dirty="0" smtClean="0">
                <a:hlinkClick r:id="rId4"/>
              </a:rPr>
              <a:t>http</a:t>
            </a:r>
            <a:r>
              <a:rPr lang="en-US" sz="1500" dirty="0">
                <a:hlinkClick r:id="rId4"/>
              </a:rPr>
              <a:t>://www.summa-tech.com/about/methodology/meth_rup.php4</a:t>
            </a:r>
            <a:endParaRPr lang="en-US" sz="1500" dirty="0"/>
          </a:p>
        </p:txBody>
      </p:sp>
    </p:spTree>
    <p:extLst>
      <p:ext uri="{BB962C8B-B14F-4D97-AF65-F5344CB8AC3E}">
        <p14:creationId xmlns:p14="http://schemas.microsoft.com/office/powerpoint/2010/main" val="28131412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3100"/>
              <a:t>Exploratory Tests</a:t>
            </a:r>
          </a:p>
        </p:txBody>
      </p:sp>
      <p:sp>
        <p:nvSpPr>
          <p:cNvPr id="5123" name="Content Placeholder 2"/>
          <p:cNvSpPr>
            <a:spLocks noGrp="1"/>
          </p:cNvSpPr>
          <p:nvPr>
            <p:ph idx="1"/>
          </p:nvPr>
        </p:nvSpPr>
        <p:spPr>
          <a:xfrm>
            <a:off x="502920" y="1813560"/>
            <a:ext cx="9052560" cy="2364750"/>
          </a:xfrm>
        </p:spPr>
        <p:txBody>
          <a:bodyPr/>
          <a:lstStyle/>
          <a:p>
            <a:r>
              <a:rPr lang="en-US" sz="1600" dirty="0"/>
              <a:t>Exploratory testing is simultaneously learning, designing and executing tests. </a:t>
            </a:r>
            <a:r>
              <a:rPr lang="en-US" sz="1600" dirty="0" err="1"/>
              <a:t>Cem</a:t>
            </a:r>
            <a:r>
              <a:rPr lang="en-US" sz="1600" dirty="0"/>
              <a:t> </a:t>
            </a:r>
            <a:r>
              <a:rPr lang="en-US" sz="1600" dirty="0" err="1"/>
              <a:t>Kaner</a:t>
            </a:r>
            <a:r>
              <a:rPr lang="en-US" sz="1600" dirty="0"/>
              <a:t>, who first used the term, now defines exploratory testing as "a style of software testing that emphasizes the personal freedom and responsibility of the individual tester to continually optimize the quality of his/her work by treating test-related learning, test design, test execution, and test result interpretation as mutually supportive activities that run in parallel throughout the project."</a:t>
            </a:r>
            <a:endParaRPr lang="en-US" sz="1600" baseline="30000" dirty="0"/>
          </a:p>
          <a:p>
            <a:endParaRPr lang="en-US" sz="1600" dirty="0"/>
          </a:p>
          <a:p>
            <a:pPr>
              <a:buFont typeface="Arial" charset="0"/>
              <a:buNone/>
            </a:pPr>
            <a:r>
              <a:rPr lang="en-US" sz="1600" dirty="0" smtClean="0"/>
              <a:t>For </a:t>
            </a:r>
            <a:r>
              <a:rPr lang="en-US" sz="1600" dirty="0"/>
              <a:t>more information: </a:t>
            </a:r>
            <a:r>
              <a:rPr lang="en-US" sz="1600" dirty="0">
                <a:hlinkClick r:id="rId2"/>
              </a:rPr>
              <a:t>http://en.wikipedia.org/wiki/Exploratory_testing</a:t>
            </a:r>
            <a:endParaRPr lang="en-US" sz="1600" dirty="0"/>
          </a:p>
        </p:txBody>
      </p:sp>
    </p:spTree>
    <p:extLst>
      <p:ext uri="{BB962C8B-B14F-4D97-AF65-F5344CB8AC3E}">
        <p14:creationId xmlns:p14="http://schemas.microsoft.com/office/powerpoint/2010/main" val="25944318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3100"/>
              <a:t>Technical Tests</a:t>
            </a:r>
          </a:p>
        </p:txBody>
      </p:sp>
      <p:sp>
        <p:nvSpPr>
          <p:cNvPr id="6147" name="Content Placeholder 2"/>
          <p:cNvSpPr>
            <a:spLocks noGrp="1"/>
          </p:cNvSpPr>
          <p:nvPr>
            <p:ph idx="1"/>
          </p:nvPr>
        </p:nvSpPr>
        <p:spPr>
          <a:xfrm>
            <a:off x="502920" y="1813560"/>
            <a:ext cx="9052560" cy="4521751"/>
          </a:xfrm>
        </p:spPr>
        <p:txBody>
          <a:bodyPr/>
          <a:lstStyle/>
          <a:p>
            <a:r>
              <a:rPr lang="en-US" sz="1600" dirty="0">
                <a:cs typeface="Helvetica" pitchFamily="34" charset="0"/>
                <a:sym typeface="Helvetica" pitchFamily="34" charset="0"/>
              </a:rPr>
              <a:t>Technical tests are tests that measure functionalities of a system from an architectural and technical perspective, assessing the system based on non-functional requirements. Technical test may measure the following qualities of a system:</a:t>
            </a:r>
          </a:p>
          <a:p>
            <a:pPr>
              <a:buFont typeface="Arial" charset="0"/>
              <a:buNone/>
            </a:pPr>
            <a:endParaRPr lang="en-US" sz="1600" dirty="0"/>
          </a:p>
          <a:p>
            <a:pPr lvl="1"/>
            <a:r>
              <a:rPr lang="en-US" sz="1600" dirty="0"/>
              <a:t>Reliability</a:t>
            </a:r>
          </a:p>
          <a:p>
            <a:pPr lvl="1"/>
            <a:r>
              <a:rPr lang="en-US" sz="1600" dirty="0"/>
              <a:t>Efficiency</a:t>
            </a:r>
          </a:p>
          <a:p>
            <a:pPr lvl="1"/>
            <a:r>
              <a:rPr lang="en-US" sz="1600" dirty="0"/>
              <a:t>Maintainability</a:t>
            </a:r>
          </a:p>
          <a:p>
            <a:pPr lvl="1"/>
            <a:r>
              <a:rPr lang="en-US" sz="1600" dirty="0"/>
              <a:t>Portability</a:t>
            </a:r>
          </a:p>
          <a:p>
            <a:pPr lvl="1"/>
            <a:r>
              <a:rPr lang="en-US" sz="1600" dirty="0"/>
              <a:t>Performance</a:t>
            </a:r>
          </a:p>
          <a:p>
            <a:pPr lvl="1"/>
            <a:r>
              <a:rPr lang="en-US" sz="1600" dirty="0"/>
              <a:t>Scalability</a:t>
            </a:r>
          </a:p>
          <a:p>
            <a:pPr lvl="1"/>
            <a:r>
              <a:rPr lang="en-US" sz="1600" dirty="0"/>
              <a:t>Security</a:t>
            </a:r>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a:hlinkClick r:id="rId2"/>
              </a:rPr>
              <a:t>http://en.wikipedia.org/wiki/Software_testing</a:t>
            </a:r>
            <a:endParaRPr lang="en-US" sz="1600" dirty="0"/>
          </a:p>
        </p:txBody>
      </p:sp>
    </p:spTree>
    <p:extLst>
      <p:ext uri="{BB962C8B-B14F-4D97-AF65-F5344CB8AC3E}">
        <p14:creationId xmlns:p14="http://schemas.microsoft.com/office/powerpoint/2010/main" val="13756765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3100"/>
              <a:t>Defects</a:t>
            </a:r>
          </a:p>
        </p:txBody>
      </p:sp>
      <p:sp>
        <p:nvSpPr>
          <p:cNvPr id="7171" name="Content Placeholder 2"/>
          <p:cNvSpPr>
            <a:spLocks noGrp="1"/>
          </p:cNvSpPr>
          <p:nvPr>
            <p:ph idx="1"/>
          </p:nvPr>
        </p:nvSpPr>
        <p:spPr>
          <a:xfrm>
            <a:off x="502920" y="1813560"/>
            <a:ext cx="9052560" cy="2364750"/>
          </a:xfrm>
        </p:spPr>
        <p:txBody>
          <a:bodyPr/>
          <a:lstStyle/>
          <a:p>
            <a:r>
              <a:rPr lang="en-US" sz="1600" dirty="0"/>
              <a:t>A software defect or bug is an error, flaw, mistake, failure, or fault in a computer program or system that produces an incorrect or unexpected result, or causes it to behave in unintended ways. It may be a “material breach” of the contract for sale or license of the software if it is so serious that the customer can justifiably demand a fix or can cancel the contract, return the software, and demand a refund.</a:t>
            </a:r>
          </a:p>
          <a:p>
            <a:endParaRPr lang="en-US" sz="1600" dirty="0"/>
          </a:p>
          <a:p>
            <a:pPr>
              <a:buFont typeface="Arial" charset="0"/>
              <a:buNone/>
            </a:pPr>
            <a:r>
              <a:rPr lang="en-US" sz="1600" dirty="0"/>
              <a:t>	For more information: </a:t>
            </a:r>
            <a:r>
              <a:rPr lang="en-US" sz="1600" dirty="0">
                <a:hlinkClick r:id="rId2"/>
              </a:rPr>
              <a:t>http://en.wikipedia.org/wiki/Software_bug</a:t>
            </a:r>
            <a:endParaRPr lang="en-US" sz="1600" dirty="0"/>
          </a:p>
        </p:txBody>
      </p:sp>
    </p:spTree>
    <p:extLst>
      <p:ext uri="{BB962C8B-B14F-4D97-AF65-F5344CB8AC3E}">
        <p14:creationId xmlns:p14="http://schemas.microsoft.com/office/powerpoint/2010/main" val="1795817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z="3100"/>
              <a:t>Agile Application Lifecycle Management (ALM)</a:t>
            </a:r>
          </a:p>
        </p:txBody>
      </p:sp>
      <p:sp>
        <p:nvSpPr>
          <p:cNvPr id="8195" name="Content Placeholder 2"/>
          <p:cNvSpPr>
            <a:spLocks noGrp="1"/>
          </p:cNvSpPr>
          <p:nvPr>
            <p:ph idx="1"/>
          </p:nvPr>
        </p:nvSpPr>
        <p:spPr>
          <a:xfrm>
            <a:off x="502920" y="1813560"/>
            <a:ext cx="9052560" cy="5106526"/>
          </a:xfrm>
        </p:spPr>
        <p:txBody>
          <a:bodyPr/>
          <a:lstStyle/>
          <a:p>
            <a:r>
              <a:rPr lang="en-US" sz="1600"/>
              <a:t>Agile ALM is an Agile continuous process of managing the life of an application through governance, development and maintenance by tools that facilitate and integrate requirements management, architecture, coding, testing, tracking, and release management. ThoughtWorks defines the five practices for Agile ALM as follows:</a:t>
            </a:r>
            <a:endParaRPr lang="en-US" sz="1600" baseline="30000"/>
          </a:p>
          <a:p>
            <a:endParaRPr lang="en-US" sz="1600" baseline="30000"/>
          </a:p>
          <a:p>
            <a:pPr lvl="1">
              <a:buFont typeface="Calibri" pitchFamily="34" charset="0"/>
              <a:buAutoNum type="arabicPeriod"/>
            </a:pPr>
            <a:r>
              <a:rPr lang="en-US" sz="1300" b="1"/>
              <a:t>Evolve Process Definition</a:t>
            </a:r>
            <a:r>
              <a:rPr lang="en-US" sz="1300"/>
              <a:t> – the most effective process for any software initiative must be continuously discovered, evolved and refined over time</a:t>
            </a:r>
          </a:p>
          <a:p>
            <a:pPr lvl="1">
              <a:buFont typeface="Calibri" pitchFamily="34" charset="0"/>
              <a:buAutoNum type="arabicPeriod"/>
            </a:pPr>
            <a:r>
              <a:rPr lang="en-US" sz="1300" b="1"/>
              <a:t>Embrace Heterogeneity</a:t>
            </a:r>
            <a:r>
              <a:rPr lang="en-US" sz="1300"/>
              <a:t> – every software project is different, processes cannot be completely standardized across all teams</a:t>
            </a:r>
          </a:p>
          <a:p>
            <a:pPr lvl="1">
              <a:buFont typeface="Calibri" pitchFamily="34" charset="0"/>
              <a:buAutoNum type="arabicPeriod"/>
            </a:pPr>
            <a:r>
              <a:rPr lang="en-US" sz="1300" b="1"/>
              <a:t>Build the Right Thing</a:t>
            </a:r>
            <a:r>
              <a:rPr lang="en-US" sz="1300"/>
              <a:t> – embed customers and business people into the day-to-day activities of software teams</a:t>
            </a:r>
          </a:p>
          <a:p>
            <a:pPr lvl="1">
              <a:buFont typeface="Calibri" pitchFamily="34" charset="0"/>
              <a:buAutoNum type="arabicPeriod"/>
            </a:pPr>
            <a:r>
              <a:rPr lang="en-US" sz="1300" b="1"/>
              <a:t>Practice Continuous Delivery</a:t>
            </a:r>
            <a:r>
              <a:rPr lang="en-US" sz="1300"/>
              <a:t> – continuously delivers a few features every couple of days or weeks, instead of a bunch of features once a quarter</a:t>
            </a:r>
          </a:p>
          <a:p>
            <a:pPr lvl="1">
              <a:buFont typeface="Calibri" pitchFamily="34" charset="0"/>
              <a:buAutoNum type="arabicPeriod"/>
            </a:pPr>
            <a:r>
              <a:rPr lang="en-US" sz="1300" b="1"/>
              <a:t>Orchestrate, Don't Manage</a:t>
            </a:r>
            <a:r>
              <a:rPr lang="en-US" sz="1300"/>
              <a:t> – call upon all upon company leaders and managers to become orchestrators by making sure the work being done is aligned with business goals, removing obstacles, fixing bad projects, understanding the portfolio, and helping to spread best-practices across teams</a:t>
            </a:r>
          </a:p>
          <a:p>
            <a:endParaRPr lang="en-US" sz="1600"/>
          </a:p>
          <a:p>
            <a:pPr>
              <a:buFont typeface="Arial" charset="0"/>
              <a:buNone/>
            </a:pPr>
            <a:r>
              <a:rPr lang="en-US" sz="1600"/>
              <a:t>	For more information:  </a:t>
            </a:r>
            <a:r>
              <a:rPr lang="en-US" sz="1600">
                <a:hlinkClick r:id="rId2"/>
              </a:rPr>
              <a:t>http://www.thoughtworks-studios.com/company/07-06-2011-thoughtworks-studios-defines-agile-alm-in-new-white-paper</a:t>
            </a:r>
            <a:endParaRPr lang="en-US" sz="1600"/>
          </a:p>
        </p:txBody>
      </p:sp>
    </p:spTree>
    <p:extLst>
      <p:ext uri="{BB962C8B-B14F-4D97-AF65-F5344CB8AC3E}">
        <p14:creationId xmlns:p14="http://schemas.microsoft.com/office/powerpoint/2010/main" val="11484718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3100"/>
              <a:t>Operations Support Manual</a:t>
            </a:r>
          </a:p>
        </p:txBody>
      </p:sp>
      <p:sp>
        <p:nvSpPr>
          <p:cNvPr id="9219" name="Content Placeholder 2"/>
          <p:cNvSpPr>
            <a:spLocks noGrp="1"/>
          </p:cNvSpPr>
          <p:nvPr>
            <p:ph idx="1"/>
          </p:nvPr>
        </p:nvSpPr>
        <p:spPr>
          <a:xfrm>
            <a:off x="502920" y="1813560"/>
            <a:ext cx="9052560" cy="3685624"/>
          </a:xfrm>
        </p:spPr>
        <p:txBody>
          <a:bodyPr/>
          <a:lstStyle/>
          <a:p>
            <a:r>
              <a:rPr lang="en-US" sz="1600"/>
              <a:t>An operations support manual is a manual written to support easy cross-system troubleshooting and documentation to increase efficiency in running IT environments. Operations activities include using tables, charts, and matrices for monitoring servers, backups, scheduling tasks, managing inventory, and performing follow-up reports on outstanding issues. The manual may include:</a:t>
            </a:r>
          </a:p>
          <a:p>
            <a:pPr>
              <a:buFont typeface="Arial" charset="0"/>
              <a:buNone/>
            </a:pPr>
            <a:endParaRPr lang="en-US" sz="1600"/>
          </a:p>
          <a:p>
            <a:pPr lvl="1"/>
            <a:r>
              <a:rPr lang="en-US" sz="1300"/>
              <a:t>Product installation and maintenance</a:t>
            </a:r>
          </a:p>
          <a:p>
            <a:pPr lvl="1"/>
            <a:r>
              <a:rPr lang="en-US" sz="1300"/>
              <a:t>System description, operations, backup, recovery</a:t>
            </a:r>
          </a:p>
          <a:p>
            <a:pPr lvl="1"/>
            <a:r>
              <a:rPr lang="en-US" sz="1300"/>
              <a:t>Data and software administration</a:t>
            </a:r>
            <a:endParaRPr lang="en-US" sz="1100"/>
          </a:p>
          <a:p>
            <a:pPr>
              <a:buFont typeface="Arial" charset="0"/>
              <a:buNone/>
            </a:pPr>
            <a:endParaRPr lang="en-US" sz="1600"/>
          </a:p>
          <a:p>
            <a:pPr>
              <a:buFont typeface="Arial" charset="0"/>
              <a:buNone/>
            </a:pPr>
            <a:r>
              <a:rPr lang="en-US" sz="1600"/>
              <a:t>	For more information:  </a:t>
            </a:r>
            <a:r>
              <a:rPr lang="en-US" sz="1600">
                <a:hlinkClick r:id="rId2"/>
              </a:rPr>
              <a:t>http://www.klariti.com/technical-writing/operating-manuals-tutorial.shtml</a:t>
            </a:r>
            <a:endParaRPr lang="en-US" sz="1600"/>
          </a:p>
        </p:txBody>
      </p:sp>
    </p:spTree>
    <p:extLst>
      <p:ext uri="{BB962C8B-B14F-4D97-AF65-F5344CB8AC3E}">
        <p14:creationId xmlns:p14="http://schemas.microsoft.com/office/powerpoint/2010/main" val="42331937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z="3100"/>
              <a:t>Code Katas</a:t>
            </a:r>
          </a:p>
        </p:txBody>
      </p:sp>
      <p:sp>
        <p:nvSpPr>
          <p:cNvPr id="10243" name="Content Placeholder 2"/>
          <p:cNvSpPr>
            <a:spLocks noGrp="1"/>
          </p:cNvSpPr>
          <p:nvPr>
            <p:ph idx="1"/>
          </p:nvPr>
        </p:nvSpPr>
        <p:spPr>
          <a:xfrm>
            <a:off x="502920" y="1813560"/>
            <a:ext cx="9052560" cy="3498394"/>
          </a:xfrm>
        </p:spPr>
        <p:txBody>
          <a:bodyPr/>
          <a:lstStyle/>
          <a:p>
            <a:r>
              <a:rPr lang="en-US" sz="1600"/>
              <a:t>A code kata is an exercise in programming which helps a programmer hone their skills through practice and repetition. They are small exercises/problems to solve for programmers with an interesting twist, or two. As the concept of katas grew to a practice to adopt, teams can treat kata as practices until the steps and keystrokes became like second nature so they can internalize the process/technique until it becomes instinctive. </a:t>
            </a:r>
          </a:p>
          <a:p>
            <a:endParaRPr lang="en-US" sz="1600"/>
          </a:p>
          <a:p>
            <a:endParaRPr lang="en-US" sz="1600"/>
          </a:p>
          <a:p>
            <a:pPr>
              <a:buFont typeface="Arial" charset="0"/>
              <a:buNone/>
            </a:pPr>
            <a:r>
              <a:rPr lang="en-US" sz="1600"/>
              <a:t>	For more information:  </a:t>
            </a:r>
            <a:r>
              <a:rPr lang="en-US" sz="1600">
                <a:hlinkClick r:id="rId2"/>
              </a:rPr>
              <a:t>http://katas.softwarecraftsmanship.org/?page_id=2</a:t>
            </a:r>
            <a:endParaRPr lang="en-US" sz="1600"/>
          </a:p>
          <a:p>
            <a:pPr>
              <a:buFont typeface="Arial" charset="0"/>
              <a:buNone/>
            </a:pPr>
            <a:r>
              <a:rPr lang="en-US" sz="1600"/>
              <a:t>	</a:t>
            </a:r>
            <a:r>
              <a:rPr lang="en-US" sz="1600">
                <a:hlinkClick r:id="rId3"/>
              </a:rPr>
              <a:t>http://codekata.pragprog.com/</a:t>
            </a:r>
            <a:endParaRPr lang="en-US" sz="1600"/>
          </a:p>
        </p:txBody>
      </p:sp>
    </p:spTree>
    <p:extLst>
      <p:ext uri="{BB962C8B-B14F-4D97-AF65-F5344CB8AC3E}">
        <p14:creationId xmlns:p14="http://schemas.microsoft.com/office/powerpoint/2010/main" val="26219635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z="3100"/>
              <a:t>SOLID Practices</a:t>
            </a:r>
          </a:p>
        </p:txBody>
      </p:sp>
      <p:sp>
        <p:nvSpPr>
          <p:cNvPr id="11267" name="Content Placeholder 2"/>
          <p:cNvSpPr>
            <a:spLocks noGrp="1"/>
          </p:cNvSpPr>
          <p:nvPr>
            <p:ph idx="1"/>
          </p:nvPr>
        </p:nvSpPr>
        <p:spPr>
          <a:xfrm>
            <a:off x="502920" y="1813560"/>
            <a:ext cx="9052560" cy="3613810"/>
          </a:xfrm>
        </p:spPr>
        <p:txBody>
          <a:bodyPr/>
          <a:lstStyle/>
          <a:p>
            <a:r>
              <a:rPr lang="en-US" sz="1600"/>
              <a:t>SOLID represents the five basic principles of object-oriented programming and design. When applied together, these principles are intended to develop easily maintainable and extendable systems. The five principles are:</a:t>
            </a:r>
          </a:p>
          <a:p>
            <a:endParaRPr lang="en-US" sz="1600" baseline="30000"/>
          </a:p>
          <a:p>
            <a:pPr lvl="1"/>
            <a:r>
              <a:rPr lang="en-US" sz="1300" b="1"/>
              <a:t>S</a:t>
            </a:r>
            <a:r>
              <a:rPr lang="en-US" sz="1300"/>
              <a:t>ingle Responsibility Principle – </a:t>
            </a:r>
            <a:r>
              <a:rPr lang="en-US" sz="1300" i="1"/>
              <a:t>A class should have one, and only one, reason to change</a:t>
            </a:r>
          </a:p>
          <a:p>
            <a:pPr lvl="1"/>
            <a:r>
              <a:rPr lang="en-US" sz="1300" b="1"/>
              <a:t>O</a:t>
            </a:r>
            <a:r>
              <a:rPr lang="en-US" sz="1300"/>
              <a:t>pen Closed Principle – </a:t>
            </a:r>
            <a:r>
              <a:rPr lang="en-US" sz="1300" i="1"/>
              <a:t>You should be able to extend a classes behavior, without modifying it</a:t>
            </a:r>
            <a:endParaRPr lang="en-US" sz="1300"/>
          </a:p>
          <a:p>
            <a:pPr lvl="1"/>
            <a:r>
              <a:rPr lang="en-US" sz="1300" b="1"/>
              <a:t>L</a:t>
            </a:r>
            <a:r>
              <a:rPr lang="en-US" sz="1300"/>
              <a:t>iskov Substitution Principle – </a:t>
            </a:r>
            <a:r>
              <a:rPr lang="en-US" sz="1300" i="1"/>
              <a:t>Derived classes must be substitutable for their base classes</a:t>
            </a:r>
            <a:endParaRPr lang="en-US" sz="1300"/>
          </a:p>
          <a:p>
            <a:pPr lvl="1"/>
            <a:r>
              <a:rPr lang="en-US" sz="1300" b="1"/>
              <a:t>I</a:t>
            </a:r>
            <a:r>
              <a:rPr lang="en-US" sz="1300"/>
              <a:t>nterface Segregation Principle – </a:t>
            </a:r>
            <a:r>
              <a:rPr lang="en-US" sz="1300" i="1"/>
              <a:t>Make fine grained interfaces that are client specific</a:t>
            </a:r>
            <a:endParaRPr lang="en-US" sz="1300"/>
          </a:p>
          <a:p>
            <a:pPr lvl="1"/>
            <a:r>
              <a:rPr lang="en-US" sz="1300" b="1"/>
              <a:t>D</a:t>
            </a:r>
            <a:r>
              <a:rPr lang="en-US" sz="1300"/>
              <a:t>ependency Inversion Principle – </a:t>
            </a:r>
            <a:r>
              <a:rPr lang="en-US" sz="1300" i="1"/>
              <a:t>Depend on abstractions, not on concretions</a:t>
            </a:r>
            <a:endParaRPr lang="en-US" sz="1300" baseline="30000"/>
          </a:p>
          <a:p>
            <a:endParaRPr lang="en-US" sz="1600"/>
          </a:p>
          <a:p>
            <a:pPr>
              <a:buFont typeface="Arial" charset="0"/>
              <a:buNone/>
            </a:pPr>
            <a:r>
              <a:rPr lang="en-US" sz="1600"/>
              <a:t>	For more information: </a:t>
            </a:r>
            <a:r>
              <a:rPr lang="en-US" sz="1600">
                <a:hlinkClick r:id="rId2"/>
              </a:rPr>
              <a:t>http://butunclebob.com/ArticleS.UncleBob.PrinciplesOfOod</a:t>
            </a:r>
            <a:endParaRPr lang="en-US" sz="1600"/>
          </a:p>
        </p:txBody>
      </p:sp>
    </p:spTree>
    <p:extLst>
      <p:ext uri="{BB962C8B-B14F-4D97-AF65-F5344CB8AC3E}">
        <p14:creationId xmlns:p14="http://schemas.microsoft.com/office/powerpoint/2010/main" val="10727598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z="3100"/>
              <a:t>Software Architecture (RUP)</a:t>
            </a:r>
          </a:p>
        </p:txBody>
      </p:sp>
      <p:sp>
        <p:nvSpPr>
          <p:cNvPr id="12291" name="Content Placeholder 2"/>
          <p:cNvSpPr>
            <a:spLocks noGrp="1"/>
          </p:cNvSpPr>
          <p:nvPr>
            <p:ph idx="1"/>
          </p:nvPr>
        </p:nvSpPr>
        <p:spPr>
          <a:xfrm>
            <a:off x="502920" y="1813560"/>
            <a:ext cx="9052560" cy="2857192"/>
          </a:xfrm>
        </p:spPr>
        <p:txBody>
          <a:bodyPr/>
          <a:lstStyle/>
          <a:p>
            <a:r>
              <a:rPr lang="en-US" sz="1600"/>
              <a:t>According to IBM, using RUP: A Software Architecture of a program or computing system is the structure or structures of the system, which comprise software elements, the externally visible properties of those elements, and the relationships among them. The software architecture of a system or a collection of systems consists of all the important design decisions about the software structures and the interactions between those structures that comprise the systems. Decisions made about software architecture support a desired set of qualities that the system should support to be successful, providing a conceptual basis for system development, support, and maintenance.</a:t>
            </a:r>
          </a:p>
          <a:p>
            <a:pPr>
              <a:buFont typeface="Arial" charset="0"/>
              <a:buNone/>
            </a:pPr>
            <a:endParaRPr lang="en-US" sz="1600"/>
          </a:p>
          <a:p>
            <a:pPr>
              <a:buFont typeface="Arial" charset="0"/>
              <a:buNone/>
            </a:pPr>
            <a:r>
              <a:rPr lang="en-US" sz="1600"/>
              <a:t>	For more information: </a:t>
            </a:r>
            <a:r>
              <a:rPr lang="en-US" sz="1600">
                <a:hlinkClick r:id="rId2"/>
              </a:rPr>
              <a:t>http://www.ibm.com/developerworks/rational/library/feb06/eeles/</a:t>
            </a:r>
            <a:endParaRPr lang="en-US" sz="1600"/>
          </a:p>
        </p:txBody>
      </p:sp>
    </p:spTree>
    <p:extLst>
      <p:ext uri="{BB962C8B-B14F-4D97-AF65-F5344CB8AC3E}">
        <p14:creationId xmlns:p14="http://schemas.microsoft.com/office/powerpoint/2010/main" val="30477663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z="3100"/>
              <a:t>Architecture Key Mechanism (RUP) </a:t>
            </a:r>
          </a:p>
        </p:txBody>
      </p:sp>
      <p:sp>
        <p:nvSpPr>
          <p:cNvPr id="13315" name="Content Placeholder 2"/>
          <p:cNvSpPr>
            <a:spLocks noGrp="1"/>
          </p:cNvSpPr>
          <p:nvPr>
            <p:ph idx="1"/>
          </p:nvPr>
        </p:nvSpPr>
        <p:spPr>
          <a:xfrm>
            <a:off x="502920" y="1813560"/>
            <a:ext cx="9052560" cy="3193182"/>
          </a:xfrm>
        </p:spPr>
        <p:txBody>
          <a:bodyPr/>
          <a:lstStyle/>
          <a:p>
            <a:r>
              <a:rPr lang="en-US" sz="1600"/>
              <a:t>Architecture Mechanism represents common concrete solutions to frequently encountered problems. They may be patterns of structure, patterns of behavior, or both. 3 categories of architecture mechanisms include:</a:t>
            </a:r>
          </a:p>
          <a:p>
            <a:endParaRPr lang="en-US" sz="1600"/>
          </a:p>
          <a:p>
            <a:pPr lvl="1">
              <a:buFont typeface="Calibri" pitchFamily="34" charset="0"/>
              <a:buAutoNum type="arabicPeriod"/>
            </a:pPr>
            <a:r>
              <a:rPr lang="en-US" sz="1300"/>
              <a:t>Analysis Mechanism (eg. Communication)</a:t>
            </a:r>
          </a:p>
          <a:p>
            <a:pPr lvl="1">
              <a:buFont typeface="Calibri" pitchFamily="34" charset="0"/>
              <a:buAutoNum type="arabicPeriod"/>
            </a:pPr>
            <a:r>
              <a:rPr lang="en-US" sz="1300"/>
              <a:t>Design Mechanism (eg. Message queue)</a:t>
            </a:r>
          </a:p>
          <a:p>
            <a:pPr lvl="1">
              <a:buFont typeface="Calibri" pitchFamily="34" charset="0"/>
              <a:buAutoNum type="arabicPeriod"/>
            </a:pPr>
            <a:r>
              <a:rPr lang="en-US" sz="1300"/>
              <a:t>Implementation Mechanisms (eg. Oracle)</a:t>
            </a:r>
          </a:p>
          <a:p>
            <a:pPr>
              <a:buFont typeface="Arial" charset="0"/>
              <a:buNone/>
            </a:pPr>
            <a:endParaRPr lang="en-US" sz="1600"/>
          </a:p>
          <a:p>
            <a:pPr>
              <a:buFont typeface="Arial" charset="0"/>
              <a:buNone/>
            </a:pPr>
            <a:r>
              <a:rPr lang="en-US" sz="1600"/>
              <a:t>	For more information: </a:t>
            </a:r>
            <a:r>
              <a:rPr lang="en-US" sz="1600">
                <a:hlinkClick r:id="rId2"/>
              </a:rPr>
              <a:t>http://www.ibm.com/developerworks/rational/library/4706.html</a:t>
            </a:r>
            <a:endParaRPr lang="en-US" sz="1600"/>
          </a:p>
        </p:txBody>
      </p:sp>
    </p:spTree>
    <p:extLst>
      <p:ext uri="{BB962C8B-B14F-4D97-AF65-F5344CB8AC3E}">
        <p14:creationId xmlns:p14="http://schemas.microsoft.com/office/powerpoint/2010/main" val="42085146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3100"/>
              <a:t>4 + 1 Views (RUP)</a:t>
            </a:r>
          </a:p>
        </p:txBody>
      </p:sp>
      <p:sp>
        <p:nvSpPr>
          <p:cNvPr id="14339" name="Content Placeholder 2"/>
          <p:cNvSpPr>
            <a:spLocks noGrp="1"/>
          </p:cNvSpPr>
          <p:nvPr>
            <p:ph idx="1"/>
          </p:nvPr>
        </p:nvSpPr>
        <p:spPr>
          <a:xfrm>
            <a:off x="502920" y="1813560"/>
            <a:ext cx="9052560" cy="4434547"/>
          </a:xfrm>
        </p:spPr>
        <p:txBody>
          <a:bodyPr/>
          <a:lstStyle/>
          <a:p>
            <a:r>
              <a:rPr lang="en-US" sz="1600"/>
              <a:t>The 4+1 View Model of Software Architecture organizes a description of a software architecture using five concurrent views, each of which addresses a specific set of concerns Developers capture their design decisions in four views and use the fifth view to illustrate and validate them. This use of multiple views allows one to address the concerns of the various “stakeholders” of the architecture seperately and to handle separately the functional and nonfunctional requirements. The 4 + 1 views are as follows:</a:t>
            </a:r>
          </a:p>
          <a:p>
            <a:endParaRPr lang="en-US" sz="1600"/>
          </a:p>
          <a:p>
            <a:pPr lvl="1"/>
            <a:r>
              <a:rPr lang="en-US" sz="1300"/>
              <a:t>Logical View – functionality</a:t>
            </a:r>
          </a:p>
          <a:p>
            <a:pPr lvl="1"/>
            <a:r>
              <a:rPr lang="en-US" sz="1300"/>
              <a:t>Implementation View – software management</a:t>
            </a:r>
          </a:p>
          <a:p>
            <a:pPr lvl="1"/>
            <a:r>
              <a:rPr lang="en-US" sz="1300"/>
              <a:t>Process View – performance, scalability, throughput</a:t>
            </a:r>
          </a:p>
          <a:p>
            <a:pPr lvl="1"/>
            <a:r>
              <a:rPr lang="en-US" sz="1300"/>
              <a:t>Deployment View – system topology, delivery, installation communication</a:t>
            </a:r>
          </a:p>
          <a:p>
            <a:pPr lvl="1"/>
            <a:r>
              <a:rPr lang="en-US" sz="1300"/>
              <a:t>User-Case View 0- the final view, overlaps each one of these standalone and independent views </a:t>
            </a:r>
          </a:p>
          <a:p>
            <a:pPr>
              <a:buFont typeface="Arial" charset="0"/>
              <a:buNone/>
            </a:pPr>
            <a:endParaRPr lang="en-US" sz="1600"/>
          </a:p>
          <a:p>
            <a:pPr>
              <a:buFont typeface="Arial" charset="0"/>
              <a:buNone/>
            </a:pPr>
            <a:r>
              <a:rPr lang="en-US" sz="1600"/>
              <a:t>	For more information: </a:t>
            </a:r>
            <a:r>
              <a:rPr lang="en-US" sz="1600">
                <a:hlinkClick r:id="rId2"/>
              </a:rPr>
              <a:t>http://www.pld.ttu.ee/~kruus/db_is02.pdf</a:t>
            </a:r>
            <a:endParaRPr lang="en-US" sz="1600"/>
          </a:p>
        </p:txBody>
      </p:sp>
    </p:spTree>
    <p:extLst>
      <p:ext uri="{BB962C8B-B14F-4D97-AF65-F5344CB8AC3E}">
        <p14:creationId xmlns:p14="http://schemas.microsoft.com/office/powerpoint/2010/main" val="6242952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3100"/>
              <a:t>Emerging Design (Code Craftsmanship)</a:t>
            </a:r>
          </a:p>
        </p:txBody>
      </p:sp>
      <p:sp>
        <p:nvSpPr>
          <p:cNvPr id="15363" name="Content Placeholder 2"/>
          <p:cNvSpPr>
            <a:spLocks noGrp="1"/>
          </p:cNvSpPr>
          <p:nvPr>
            <p:ph idx="1"/>
          </p:nvPr>
        </p:nvSpPr>
        <p:spPr>
          <a:xfrm>
            <a:off x="502920" y="1813560"/>
            <a:ext cx="9052560" cy="2857192"/>
          </a:xfrm>
        </p:spPr>
        <p:txBody>
          <a:bodyPr/>
          <a:lstStyle/>
          <a:p>
            <a:r>
              <a:rPr lang="en-US" sz="1600"/>
              <a:t>Emerging design is a principle in Agile for which a team starts delivering functionality and lets the design emerge. Development will take a functionality and implement it using best practices and proper test coverage, then then move on to delivering another functionality. When the second functionality is being or have finished being built, the team will assess what has been done and refactor out the commonality, allowing the design to emerge. This continuous process eventually produces the smallest set of the design needed. The end result is a smaller code base, which naturally has less room for defects and a lower cost of maintenance.</a:t>
            </a:r>
            <a:endParaRPr lang="en-US" sz="1300"/>
          </a:p>
          <a:p>
            <a:pPr>
              <a:buFont typeface="Arial" charset="0"/>
              <a:buNone/>
            </a:pPr>
            <a:endParaRPr lang="en-US" sz="1600"/>
          </a:p>
          <a:p>
            <a:pPr>
              <a:buFont typeface="Arial" charset="0"/>
              <a:buNone/>
            </a:pPr>
            <a:r>
              <a:rPr lang="en-US" sz="1600"/>
              <a:t>	For more information: </a:t>
            </a:r>
            <a:r>
              <a:rPr lang="en-US" sz="1600">
                <a:hlinkClick r:id="rId2"/>
              </a:rPr>
              <a:t>http://www.softwarereality.com/design/early_prototyping.jsp</a:t>
            </a:r>
            <a:endParaRPr lang="en-US" sz="1600"/>
          </a:p>
        </p:txBody>
      </p:sp>
    </p:spTree>
    <p:extLst>
      <p:ext uri="{BB962C8B-B14F-4D97-AF65-F5344CB8AC3E}">
        <p14:creationId xmlns:p14="http://schemas.microsoft.com/office/powerpoint/2010/main" val="17055641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z="3100"/>
              <a:t>Wiki Project Repository </a:t>
            </a:r>
          </a:p>
        </p:txBody>
      </p:sp>
      <p:sp>
        <p:nvSpPr>
          <p:cNvPr id="16387" name="Content Placeholder 2"/>
          <p:cNvSpPr>
            <a:spLocks noGrp="1"/>
          </p:cNvSpPr>
          <p:nvPr>
            <p:ph idx="1"/>
          </p:nvPr>
        </p:nvSpPr>
        <p:spPr>
          <a:xfrm>
            <a:off x="502920" y="1813560"/>
            <a:ext cx="9052560" cy="2364750"/>
          </a:xfrm>
        </p:spPr>
        <p:txBody>
          <a:bodyPr/>
          <a:lstStyle/>
          <a:p>
            <a:r>
              <a:rPr lang="en-US" sz="1600"/>
              <a:t>A Wiki Project Repository is a repository storing project artifacts such as documents, server name information etc, using a Wiki framework that allows members of the team to freely access and update information regarding the project they are working on. It is simply a repository holding commonly accessed and sharable information to provide convenient lookups in the future and increase productivity of the team.</a:t>
            </a:r>
          </a:p>
          <a:p>
            <a:endParaRPr lang="en-US" sz="1600"/>
          </a:p>
          <a:p>
            <a:pPr>
              <a:buFont typeface="Arial" charset="0"/>
              <a:buNone/>
            </a:pPr>
            <a:r>
              <a:rPr lang="en-US" sz="1600"/>
              <a:t>	</a:t>
            </a:r>
          </a:p>
        </p:txBody>
      </p:sp>
    </p:spTree>
    <p:extLst>
      <p:ext uri="{BB962C8B-B14F-4D97-AF65-F5344CB8AC3E}">
        <p14:creationId xmlns:p14="http://schemas.microsoft.com/office/powerpoint/2010/main" val="34867871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100"/>
              <a:t>Model Storming</a:t>
            </a:r>
          </a:p>
        </p:txBody>
      </p:sp>
      <p:sp>
        <p:nvSpPr>
          <p:cNvPr id="17411" name="Content Placeholder 2"/>
          <p:cNvSpPr>
            <a:spLocks noGrp="1"/>
          </p:cNvSpPr>
          <p:nvPr>
            <p:ph idx="1"/>
          </p:nvPr>
        </p:nvSpPr>
        <p:spPr>
          <a:xfrm>
            <a:off x="502920" y="1813560"/>
            <a:ext cx="9052560" cy="3936975"/>
          </a:xfrm>
        </p:spPr>
        <p:txBody>
          <a:bodyPr/>
          <a:lstStyle/>
          <a:p>
            <a:r>
              <a:rPr lang="en-US" sz="1600"/>
              <a:t>Model storming is just in time (JIT) modeling: when an issue needs to be resolved, the team gets together, explores the issue, identifies what needs to be done and then proceeds to resolve it. Model storming is an Agile implementation of JAD (Joint Application Design) and the team should be cross-functional and may involve business SMEs. Common artifacts generated from a model storming session are:</a:t>
            </a:r>
          </a:p>
          <a:p>
            <a:endParaRPr lang="en-US" sz="1600"/>
          </a:p>
          <a:p>
            <a:pPr lvl="1"/>
            <a:r>
              <a:rPr lang="en-US" sz="1300"/>
              <a:t>Agile class and sequence diagrams</a:t>
            </a:r>
          </a:p>
          <a:p>
            <a:pPr lvl="1"/>
            <a:r>
              <a:rPr lang="en-US" sz="1300"/>
              <a:t>CRC</a:t>
            </a:r>
          </a:p>
          <a:p>
            <a:pPr lvl="1"/>
            <a:r>
              <a:rPr lang="en-US" sz="1300"/>
              <a:t>Agile architecture</a:t>
            </a:r>
          </a:p>
          <a:p>
            <a:pPr lvl="1"/>
            <a:r>
              <a:rPr lang="en-US" sz="1300"/>
              <a:t>Domain model</a:t>
            </a:r>
            <a:endParaRPr lang="en-US" sz="1600"/>
          </a:p>
          <a:p>
            <a:endParaRPr lang="en-US" sz="1600"/>
          </a:p>
          <a:p>
            <a:pPr>
              <a:buFont typeface="Arial" charset="0"/>
              <a:buNone/>
            </a:pPr>
            <a:r>
              <a:rPr lang="en-US" sz="1600"/>
              <a:t>	For more information: </a:t>
            </a:r>
            <a:r>
              <a:rPr lang="en-US" sz="1600">
                <a:hlinkClick r:id="rId2"/>
              </a:rPr>
              <a:t>http://www.agilemodeling.com/essays/modelStorming.htm</a:t>
            </a:r>
            <a:endParaRPr lang="en-US" sz="1600"/>
          </a:p>
        </p:txBody>
      </p:sp>
    </p:spTree>
    <p:extLst>
      <p:ext uri="{BB962C8B-B14F-4D97-AF65-F5344CB8AC3E}">
        <p14:creationId xmlns:p14="http://schemas.microsoft.com/office/powerpoint/2010/main" val="9490174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3100"/>
              <a:t>Agile Class and Sequence Diagrams</a:t>
            </a:r>
          </a:p>
        </p:txBody>
      </p:sp>
      <p:sp>
        <p:nvSpPr>
          <p:cNvPr id="18435" name="Content Placeholder 2"/>
          <p:cNvSpPr>
            <a:spLocks noGrp="1"/>
          </p:cNvSpPr>
          <p:nvPr>
            <p:ph idx="1"/>
          </p:nvPr>
        </p:nvSpPr>
        <p:spPr>
          <a:xfrm>
            <a:off x="502920" y="1813560"/>
            <a:ext cx="9052560" cy="5863144"/>
          </a:xfrm>
        </p:spPr>
        <p:txBody>
          <a:bodyPr/>
          <a:lstStyle/>
          <a:p>
            <a:r>
              <a:rPr lang="en-US" sz="1600"/>
              <a:t>Agile sequence and class diagrams are artifacts commonly produced using UML during Model Storming sessions for design communicating as opposed to design specification. They can use non-normative UML notation because they are lightweight and not intended to define all cases that need to be considered, but rather serve as accelerators to design discussions with just enough detail to start development. Creating and using these artifacts encourages emergent design. </a:t>
            </a:r>
          </a:p>
          <a:p>
            <a:pPr>
              <a:buFont typeface="Arial" charset="0"/>
              <a:buNone/>
            </a:pPr>
            <a:endParaRPr lang="en-US" sz="1600"/>
          </a:p>
          <a:p>
            <a:r>
              <a:rPr lang="en-US" sz="1600"/>
              <a:t>Sequence diagrams model the flow of logic horizontally across different interacting entities, and models the flow of time vertically. They are a visual way to capture system behavior and is useful for both analysis and design purposes.  Agile class diagrams show the classes of the system, their interrelationships (including inheritance, aggregation, and association), and the operations and attributes of the classes. Class diagrams are often used in both conceptual/domain modeling and detailed design modeling. </a:t>
            </a:r>
          </a:p>
          <a:p>
            <a:pPr>
              <a:buFont typeface="Arial" charset="0"/>
              <a:buNone/>
            </a:pPr>
            <a:endParaRPr lang="en-US" sz="1600"/>
          </a:p>
          <a:p>
            <a:pPr>
              <a:buFont typeface="Arial" charset="0"/>
              <a:buNone/>
            </a:pPr>
            <a:r>
              <a:rPr lang="en-US" sz="1600"/>
              <a:t>	For more information: </a:t>
            </a:r>
          </a:p>
          <a:p>
            <a:pPr>
              <a:buFont typeface="Arial" charset="0"/>
              <a:buNone/>
            </a:pPr>
            <a:r>
              <a:rPr lang="en-US" sz="1600"/>
              <a:t>	</a:t>
            </a:r>
            <a:r>
              <a:rPr lang="en-US" sz="1600">
                <a:hlinkClick r:id="rId2"/>
              </a:rPr>
              <a:t>http://www.agilemodeling.com/artifacts/sequenceDiagram.htm</a:t>
            </a:r>
            <a:endParaRPr lang="en-US" sz="1600"/>
          </a:p>
          <a:p>
            <a:pPr>
              <a:buFont typeface="Arial" charset="0"/>
              <a:buNone/>
            </a:pPr>
            <a:r>
              <a:rPr lang="en-US" sz="1600"/>
              <a:t> 	</a:t>
            </a:r>
            <a:r>
              <a:rPr lang="en-US" sz="1600">
                <a:hlinkClick r:id="rId3"/>
              </a:rPr>
              <a:t>http://www.agilemodeling.com/artifacts/classDiagram.htm</a:t>
            </a:r>
            <a:endParaRPr lang="en-US" sz="1600"/>
          </a:p>
        </p:txBody>
      </p:sp>
    </p:spTree>
    <p:extLst>
      <p:ext uri="{BB962C8B-B14F-4D97-AF65-F5344CB8AC3E}">
        <p14:creationId xmlns:p14="http://schemas.microsoft.com/office/powerpoint/2010/main" val="32522091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3100"/>
              <a:t>System Metaphor</a:t>
            </a:r>
          </a:p>
        </p:txBody>
      </p:sp>
      <p:sp>
        <p:nvSpPr>
          <p:cNvPr id="19459" name="Content Placeholder 2"/>
          <p:cNvSpPr>
            <a:spLocks noGrp="1"/>
          </p:cNvSpPr>
          <p:nvPr>
            <p:ph idx="1"/>
          </p:nvPr>
        </p:nvSpPr>
        <p:spPr>
          <a:xfrm>
            <a:off x="502920" y="1813560"/>
            <a:ext cx="9052560" cy="3103414"/>
          </a:xfrm>
        </p:spPr>
        <p:txBody>
          <a:bodyPr/>
          <a:lstStyle/>
          <a:p>
            <a:r>
              <a:rPr lang="en-US" sz="1600"/>
              <a:t>A System metaphor used in Extreme Programming in place of a formal architecture to tell a simple shared story of how the system works, a metaphor. This story typically involves a handful of classes and patterns that shape the core flow of the system being built.  It's a naming concept for classes and methods that should make it easy for a team member to guess the functionality of a particular class/method, from its name only.  An ubiquitous language  (common, rigorous language between developers and users) is used such that confusion in wording of things are minimized. It is XP’s approach to domain driven design, with naming of classes and their responsibilities to reflect the business meaning, and an intention to create intuitive code. </a:t>
            </a:r>
          </a:p>
          <a:p>
            <a:pPr>
              <a:buFont typeface="Arial" charset="0"/>
              <a:buNone/>
            </a:pPr>
            <a:endParaRPr lang="en-US" sz="1600"/>
          </a:p>
          <a:p>
            <a:pPr>
              <a:buFont typeface="Arial" charset="0"/>
              <a:buNone/>
            </a:pPr>
            <a:r>
              <a:rPr lang="en-US" sz="1600"/>
              <a:t>	For more information: </a:t>
            </a:r>
            <a:r>
              <a:rPr lang="en-US" sz="1600">
                <a:hlinkClick r:id="rId2"/>
              </a:rPr>
              <a:t>http://www.extremeprogramming.org/rules/metaphor.html</a:t>
            </a:r>
            <a:endParaRPr lang="en-US" sz="1600"/>
          </a:p>
        </p:txBody>
      </p:sp>
    </p:spTree>
    <p:extLst>
      <p:ext uri="{BB962C8B-B14F-4D97-AF65-F5344CB8AC3E}">
        <p14:creationId xmlns:p14="http://schemas.microsoft.com/office/powerpoint/2010/main" val="4545604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z="3100"/>
              <a:t>Spike</a:t>
            </a:r>
          </a:p>
        </p:txBody>
      </p:sp>
      <p:sp>
        <p:nvSpPr>
          <p:cNvPr id="20483" name="Content Placeholder 2"/>
          <p:cNvSpPr>
            <a:spLocks noGrp="1"/>
          </p:cNvSpPr>
          <p:nvPr>
            <p:ph idx="1"/>
          </p:nvPr>
        </p:nvSpPr>
        <p:spPr>
          <a:xfrm>
            <a:off x="502920" y="1813560"/>
            <a:ext cx="9052560" cy="5952912"/>
          </a:xfrm>
        </p:spPr>
        <p:txBody>
          <a:bodyPr/>
          <a:lstStyle/>
          <a:p>
            <a:r>
              <a:rPr lang="en-US" sz="1600"/>
              <a:t>A spike (from Extreme Programming) is a story that cannot be estimated until a development team runs a timeboxed investigation. The output of a spike story is an estimate for the original story. It is a minimal prototype implementation of some system functionality that encompasses the entire range of system operability.</a:t>
            </a:r>
          </a:p>
          <a:p>
            <a:endParaRPr lang="en-US" sz="1600"/>
          </a:p>
          <a:p>
            <a:pPr>
              <a:buFont typeface="Arial" charset="0"/>
              <a:buNone/>
            </a:pPr>
            <a:r>
              <a:rPr lang="en-US" sz="1600"/>
              <a:t>	A Spike Solution Is:</a:t>
            </a:r>
          </a:p>
          <a:p>
            <a:pPr>
              <a:buFont typeface="Arial" charset="0"/>
              <a:buNone/>
            </a:pPr>
            <a:endParaRPr lang="en-US" sz="1600"/>
          </a:p>
          <a:p>
            <a:pPr lvl="1">
              <a:buFont typeface="Calibri" pitchFamily="34" charset="0"/>
              <a:buAutoNum type="arabicPeriod"/>
            </a:pPr>
            <a:r>
              <a:rPr lang="en-US" sz="1300"/>
              <a:t>Very simple experiment to explore potential solutions</a:t>
            </a:r>
          </a:p>
          <a:p>
            <a:pPr lvl="1">
              <a:buFont typeface="Calibri" pitchFamily="34" charset="0"/>
              <a:buAutoNum type="arabicPeriod"/>
            </a:pPr>
            <a:r>
              <a:rPr lang="en-US" sz="1300"/>
              <a:t>Necessarily time-boxed</a:t>
            </a:r>
          </a:p>
          <a:p>
            <a:pPr lvl="1">
              <a:buFont typeface="Calibri" pitchFamily="34" charset="0"/>
              <a:buAutoNum type="arabicPeriod"/>
            </a:pPr>
            <a:r>
              <a:rPr lang="en-US" sz="1300"/>
              <a:t>Likely intended to be thrown away</a:t>
            </a:r>
          </a:p>
          <a:p>
            <a:pPr>
              <a:buFont typeface="Arial" charset="0"/>
              <a:buNone/>
            </a:pPr>
            <a:endParaRPr lang="en-US" sz="1600"/>
          </a:p>
          <a:p>
            <a:pPr>
              <a:buFont typeface="Arial" charset="0"/>
              <a:buNone/>
            </a:pPr>
            <a:r>
              <a:rPr lang="en-US" sz="1600"/>
              <a:t>	Spikes are very useful to figure out what teams do not know to understand the complexity of something so that it can be properly estimated, quoted, or analyzed for feasibility.</a:t>
            </a:r>
          </a:p>
          <a:p>
            <a:endParaRPr lang="en-US" sz="1600"/>
          </a:p>
          <a:p>
            <a:pPr>
              <a:buFont typeface="Arial" charset="0"/>
              <a:buNone/>
            </a:pPr>
            <a:r>
              <a:rPr lang="en-US" sz="1600"/>
              <a:t>	For more information: </a:t>
            </a:r>
            <a:r>
              <a:rPr lang="en-US" sz="1600">
                <a:hlinkClick r:id="rId2"/>
              </a:rPr>
              <a:t>http://www.extremeprogramming.org/rules/spike.html</a:t>
            </a:r>
            <a:endParaRPr lang="en-US" sz="1600"/>
          </a:p>
        </p:txBody>
      </p:sp>
    </p:spTree>
    <p:extLst>
      <p:ext uri="{BB962C8B-B14F-4D97-AF65-F5344CB8AC3E}">
        <p14:creationId xmlns:p14="http://schemas.microsoft.com/office/powerpoint/2010/main" val="20320766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3100"/>
              <a:t>Class Responsibility Collaboration (CRC)</a:t>
            </a:r>
          </a:p>
        </p:txBody>
      </p:sp>
      <p:sp>
        <p:nvSpPr>
          <p:cNvPr id="21507" name="Content Placeholder 2"/>
          <p:cNvSpPr>
            <a:spLocks noGrp="1"/>
          </p:cNvSpPr>
          <p:nvPr>
            <p:ph idx="1"/>
          </p:nvPr>
        </p:nvSpPr>
        <p:spPr>
          <a:xfrm>
            <a:off x="502920" y="1813560"/>
            <a:ext cx="9052560" cy="5065489"/>
          </a:xfrm>
        </p:spPr>
        <p:txBody>
          <a:bodyPr/>
          <a:lstStyle/>
          <a:p>
            <a:r>
              <a:rPr lang="en-US" sz="1600"/>
              <a:t>A Class Responsibility Collaborator model (from Extreme Programming) is a collection of standard index cards, often used to facilitate Model Storming, that have been divided into three sections:</a:t>
            </a:r>
          </a:p>
          <a:p>
            <a:pPr>
              <a:buFont typeface="Arial" charset="0"/>
              <a:buNone/>
            </a:pPr>
            <a:endParaRPr lang="en-US" sz="1600"/>
          </a:p>
          <a:p>
            <a:pPr lvl="1">
              <a:buFont typeface="Calibri" pitchFamily="34" charset="0"/>
              <a:buAutoNum type="arabicPeriod"/>
            </a:pPr>
            <a:r>
              <a:rPr lang="en-US" sz="1300"/>
              <a:t>Class Name</a:t>
            </a:r>
          </a:p>
          <a:p>
            <a:pPr lvl="1">
              <a:buFont typeface="Calibri" pitchFamily="34" charset="0"/>
              <a:buAutoNum type="arabicPeriod"/>
            </a:pPr>
            <a:r>
              <a:rPr lang="en-US" sz="1300"/>
              <a:t>Responsibilities</a:t>
            </a:r>
          </a:p>
          <a:p>
            <a:pPr lvl="1">
              <a:buFont typeface="Calibri" pitchFamily="34" charset="0"/>
              <a:buAutoNum type="arabicPeriod"/>
            </a:pPr>
            <a:r>
              <a:rPr lang="en-US" sz="1300"/>
              <a:t>Collaborators</a:t>
            </a:r>
          </a:p>
          <a:p>
            <a:pPr>
              <a:buFont typeface="Arial" charset="0"/>
              <a:buNone/>
            </a:pPr>
            <a:endParaRPr lang="en-US" sz="1600"/>
          </a:p>
          <a:p>
            <a:pPr>
              <a:buFont typeface="Arial" charset="0"/>
              <a:buNone/>
            </a:pPr>
            <a:r>
              <a:rPr lang="en-US" sz="1600"/>
              <a:t>	A class represents the entity that’s part of the system, a responsibility is something that the class knows or does, as in its attributes and functionalities, and a collaborator is another class that a class interacts with to fulfill its responsibilities. Creating CRC cards is typically done with a cross-functional team with the intent to collaborate and identify the primary classes and associated responsibilities.</a:t>
            </a:r>
          </a:p>
          <a:p>
            <a:pPr>
              <a:buFont typeface="Arial" charset="0"/>
              <a:buNone/>
            </a:pPr>
            <a:endParaRPr lang="en-US" sz="1600"/>
          </a:p>
          <a:p>
            <a:pPr>
              <a:buFont typeface="Arial" charset="0"/>
              <a:buNone/>
            </a:pPr>
            <a:r>
              <a:rPr lang="en-US" sz="1600"/>
              <a:t>	For more information: </a:t>
            </a:r>
            <a:r>
              <a:rPr lang="en-US" sz="1600">
                <a:hlinkClick r:id="rId2"/>
              </a:rPr>
              <a:t>http://www.agilemodeling.com/artifacts/crcModel.htm</a:t>
            </a:r>
            <a:endParaRPr lang="en-US" sz="1600"/>
          </a:p>
        </p:txBody>
      </p:sp>
    </p:spTree>
    <p:extLst>
      <p:ext uri="{BB962C8B-B14F-4D97-AF65-F5344CB8AC3E}">
        <p14:creationId xmlns:p14="http://schemas.microsoft.com/office/powerpoint/2010/main" val="38733269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z="3100"/>
              <a:t>Agile Use Cases</a:t>
            </a:r>
          </a:p>
        </p:txBody>
      </p:sp>
      <p:sp>
        <p:nvSpPr>
          <p:cNvPr id="22531" name="Content Placeholder 2"/>
          <p:cNvSpPr>
            <a:spLocks noGrp="1"/>
          </p:cNvSpPr>
          <p:nvPr>
            <p:ph idx="1"/>
          </p:nvPr>
        </p:nvSpPr>
        <p:spPr>
          <a:xfrm>
            <a:off x="502920" y="1813560"/>
            <a:ext cx="9052560" cy="3744615"/>
          </a:xfrm>
        </p:spPr>
        <p:txBody>
          <a:bodyPr/>
          <a:lstStyle/>
          <a:p>
            <a:r>
              <a:rPr lang="en-US" sz="1600"/>
              <a:t>A use case describes a sequence of actions that provide something of measurable value to an actor and is drawn as a horizontal ellipse. Agile use cases are like regular use cases but with the focus on keeping it as simple as possible, and keeping in mind that content is more important than representation, as long as the content is conveyed, it’s enough. It uses simple, flexible tools to model with such as whiteboard.  One should accept incomplete use cases and be open to changes in the future as more knowledge is gained, and use cases evolve. </a:t>
            </a:r>
          </a:p>
          <a:p>
            <a:pPr>
              <a:buFont typeface="Arial" charset="0"/>
              <a:buNone/>
            </a:pPr>
            <a:endParaRPr lang="en-US" sz="1600"/>
          </a:p>
          <a:p>
            <a:pPr>
              <a:buFont typeface="Arial" charset="0"/>
              <a:buNone/>
            </a:pPr>
            <a:r>
              <a:rPr lang="en-US" sz="1600"/>
              <a:t>	For more information: </a:t>
            </a:r>
          </a:p>
          <a:p>
            <a:pPr>
              <a:buFont typeface="Arial" charset="0"/>
              <a:buNone/>
            </a:pPr>
            <a:r>
              <a:rPr lang="en-US" sz="1600"/>
              <a:t>	</a:t>
            </a:r>
            <a:r>
              <a:rPr lang="en-US" sz="1600">
                <a:hlinkClick r:id="rId2"/>
              </a:rPr>
              <a:t>http://www.agilemodeling.com/artifacts/useCaseDiagram.htm</a:t>
            </a:r>
            <a:r>
              <a:rPr lang="en-US" sz="1600"/>
              <a:t>	</a:t>
            </a:r>
          </a:p>
          <a:p>
            <a:pPr>
              <a:buFont typeface="Arial" charset="0"/>
              <a:buNone/>
            </a:pPr>
            <a:r>
              <a:rPr lang="en-US" sz="1600"/>
              <a:t>	</a:t>
            </a:r>
            <a:r>
              <a:rPr lang="en-US" sz="1600">
                <a:hlinkClick r:id="rId3"/>
              </a:rPr>
              <a:t>http://alistair.cockburn.us/Agile+software+development+book</a:t>
            </a:r>
            <a:endParaRPr lang="en-US" sz="1600"/>
          </a:p>
        </p:txBody>
      </p:sp>
    </p:spTree>
    <p:extLst>
      <p:ext uri="{BB962C8B-B14F-4D97-AF65-F5344CB8AC3E}">
        <p14:creationId xmlns:p14="http://schemas.microsoft.com/office/powerpoint/2010/main" val="34938587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3100"/>
              <a:t>Non-functional Requirements</a:t>
            </a:r>
          </a:p>
        </p:txBody>
      </p:sp>
      <p:sp>
        <p:nvSpPr>
          <p:cNvPr id="23555" name="Content Placeholder 2"/>
          <p:cNvSpPr>
            <a:spLocks noGrp="1"/>
          </p:cNvSpPr>
          <p:nvPr>
            <p:ph idx="1"/>
          </p:nvPr>
        </p:nvSpPr>
        <p:spPr>
          <a:xfrm>
            <a:off x="502920" y="1813560"/>
            <a:ext cx="9052560" cy="2364750"/>
          </a:xfrm>
        </p:spPr>
        <p:txBody>
          <a:bodyPr/>
          <a:lstStyle/>
          <a:p>
            <a:r>
              <a:rPr lang="en-US" sz="1600"/>
              <a:t>Unlike functional requirements, which define specific behavior or functions, non-functional requirements describe qualities of a system (what it is), and are requirements that specify criteria that can be used to judge the operation of a system, rather than specific behaviors. For example, a non-functional requirement of a system may be to have “sufficient network bandwidth”. Technical tests are often written to verify non-functional requirements.</a:t>
            </a:r>
          </a:p>
          <a:p>
            <a:endParaRPr lang="en-US" sz="1600"/>
          </a:p>
          <a:p>
            <a:pPr>
              <a:buFont typeface="Arial" charset="0"/>
              <a:buNone/>
            </a:pPr>
            <a:r>
              <a:rPr lang="en-US" sz="1600"/>
              <a:t>	For more information: </a:t>
            </a:r>
            <a:r>
              <a:rPr lang="en-US" sz="1600">
                <a:hlinkClick r:id="rId2"/>
              </a:rPr>
              <a:t>http://www.infoq.com/news/2008/11/nonfunctional-requirements</a:t>
            </a:r>
            <a:endParaRPr lang="en-US" sz="1600"/>
          </a:p>
        </p:txBody>
      </p:sp>
    </p:spTree>
    <p:extLst>
      <p:ext uri="{BB962C8B-B14F-4D97-AF65-F5344CB8AC3E}">
        <p14:creationId xmlns:p14="http://schemas.microsoft.com/office/powerpoint/2010/main" val="8469713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z="3100"/>
              <a:t>System Context Diagrams</a:t>
            </a:r>
          </a:p>
        </p:txBody>
      </p:sp>
      <p:sp>
        <p:nvSpPr>
          <p:cNvPr id="24579" name="Content Placeholder 2"/>
          <p:cNvSpPr>
            <a:spLocks noGrp="1"/>
          </p:cNvSpPr>
          <p:nvPr>
            <p:ph idx="1"/>
          </p:nvPr>
        </p:nvSpPr>
        <p:spPr>
          <a:xfrm>
            <a:off x="502920" y="1813560"/>
            <a:ext cx="9052560" cy="2364750"/>
          </a:xfrm>
        </p:spPr>
        <p:txBody>
          <a:bodyPr/>
          <a:lstStyle/>
          <a:p>
            <a:r>
              <a:rPr lang="en-US" sz="1600"/>
              <a:t>System Context Diagrams are diagrams used to represent important external factors that interact with the system at hand in order to focus attention on external factors and events that should be considered in developing a complete set of system requirements and constraints. These diagrams usually pictures the system at the center, with no details of its interior structure, surrounded by all its interacting systems, environment and activities. </a:t>
            </a:r>
            <a:endParaRPr lang="en-US" sz="1600" baseline="30000"/>
          </a:p>
          <a:p>
            <a:endParaRPr lang="en-US" sz="1600"/>
          </a:p>
          <a:p>
            <a:pPr>
              <a:buFont typeface="Arial" charset="0"/>
              <a:buNone/>
            </a:pPr>
            <a:r>
              <a:rPr lang="en-US" sz="1600"/>
              <a:t>	For more information: </a:t>
            </a:r>
            <a:r>
              <a:rPr lang="en-US" sz="1600">
                <a:hlinkClick r:id="rId2"/>
              </a:rPr>
              <a:t>http://en.wikipedia.org/wiki/System_context_diagram</a:t>
            </a:r>
            <a:endParaRPr lang="en-US" sz="1600"/>
          </a:p>
        </p:txBody>
      </p:sp>
    </p:spTree>
    <p:extLst>
      <p:ext uri="{BB962C8B-B14F-4D97-AF65-F5344CB8AC3E}">
        <p14:creationId xmlns:p14="http://schemas.microsoft.com/office/powerpoint/2010/main" val="21803279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100"/>
              <a:t>Domain/Service Model</a:t>
            </a:r>
          </a:p>
        </p:txBody>
      </p:sp>
      <p:sp>
        <p:nvSpPr>
          <p:cNvPr id="25603" name="Content Placeholder 2"/>
          <p:cNvSpPr>
            <a:spLocks noGrp="1"/>
          </p:cNvSpPr>
          <p:nvPr>
            <p:ph idx="1"/>
          </p:nvPr>
        </p:nvSpPr>
        <p:spPr>
          <a:xfrm>
            <a:off x="502920" y="1813560"/>
            <a:ext cx="9052560" cy="2118529"/>
          </a:xfrm>
        </p:spPr>
        <p:txBody>
          <a:bodyPr/>
          <a:lstStyle/>
          <a:p>
            <a:r>
              <a:rPr lang="en-US" sz="1600"/>
              <a:t>The domain model is a model consisting of all entities within a problem domain, their relationships, attributes, and constraints. The purpose is to create a standardized vocabulary and key concepts of the problem domain. By doing so, it describes and constrains the scope of the problem domain, making it a very useful communication tool for the technical and business teams.</a:t>
            </a:r>
          </a:p>
          <a:p>
            <a:pPr>
              <a:buFont typeface="Arial" charset="0"/>
              <a:buNone/>
            </a:pPr>
            <a:endParaRPr lang="en-US" sz="1600"/>
          </a:p>
          <a:p>
            <a:pPr>
              <a:buFont typeface="Arial" charset="0"/>
              <a:buNone/>
            </a:pPr>
            <a:r>
              <a:rPr lang="en-US" sz="1600"/>
              <a:t>	For more information: </a:t>
            </a:r>
            <a:r>
              <a:rPr lang="en-US" sz="1600">
                <a:hlinkClick r:id="rId2"/>
              </a:rPr>
              <a:t>http://domaindrivendesign.org/resources/what_is_ddd</a:t>
            </a:r>
            <a:endParaRPr lang="en-US" sz="1600"/>
          </a:p>
        </p:txBody>
      </p:sp>
    </p:spTree>
    <p:extLst>
      <p:ext uri="{BB962C8B-B14F-4D97-AF65-F5344CB8AC3E}">
        <p14:creationId xmlns:p14="http://schemas.microsoft.com/office/powerpoint/2010/main" val="8512748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z="3100"/>
              <a:t>Ubiquitous Language</a:t>
            </a:r>
          </a:p>
        </p:txBody>
      </p:sp>
      <p:sp>
        <p:nvSpPr>
          <p:cNvPr id="26627" name="Content Placeholder 2"/>
          <p:cNvSpPr>
            <a:spLocks noGrp="1"/>
          </p:cNvSpPr>
          <p:nvPr>
            <p:ph idx="1"/>
          </p:nvPr>
        </p:nvSpPr>
        <p:spPr>
          <a:xfrm>
            <a:off x="502920" y="1813560"/>
            <a:ext cx="9052560" cy="2044149"/>
          </a:xfrm>
        </p:spPr>
        <p:txBody>
          <a:bodyPr/>
          <a:lstStyle/>
          <a:p>
            <a:r>
              <a:rPr lang="en-US" sz="1600"/>
              <a:t>Ubiquitous Language is a term from Domain Driven Design defining the practice of building up a common, rigorous language between developers and users. This language should be based on the Domain Model used in the software. Using ubiquitous language allows more effective conversations between domain experts, and is an important part of development and testing. As the domain model evolves, it is also natural that the language evolves.</a:t>
            </a:r>
            <a:br>
              <a:rPr lang="en-US" sz="1600"/>
            </a:br>
            <a:endParaRPr lang="en-US" sz="1600"/>
          </a:p>
          <a:p>
            <a:pPr>
              <a:buFont typeface="Arial" charset="0"/>
              <a:buNone/>
            </a:pPr>
            <a:r>
              <a:rPr lang="en-US" sz="1600"/>
              <a:t>	For more information: </a:t>
            </a:r>
            <a:r>
              <a:rPr lang="en-US" sz="1600">
                <a:hlinkClick r:id="rId2"/>
              </a:rPr>
              <a:t>http://martinfowler.com/bliki/UbiquitousLanguage.html</a:t>
            </a:r>
            <a:endParaRPr lang="en-US" sz="1600"/>
          </a:p>
        </p:txBody>
      </p:sp>
    </p:spTree>
    <p:extLst>
      <p:ext uri="{BB962C8B-B14F-4D97-AF65-F5344CB8AC3E}">
        <p14:creationId xmlns:p14="http://schemas.microsoft.com/office/powerpoint/2010/main" val="8953764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z="3100"/>
              <a:t>Bounded Context Maps</a:t>
            </a:r>
          </a:p>
        </p:txBody>
      </p:sp>
      <p:sp>
        <p:nvSpPr>
          <p:cNvPr id="27651" name="Content Placeholder 2"/>
          <p:cNvSpPr>
            <a:spLocks noGrp="1"/>
          </p:cNvSpPr>
          <p:nvPr>
            <p:ph idx="1"/>
          </p:nvPr>
        </p:nvSpPr>
        <p:spPr>
          <a:xfrm>
            <a:off x="502920" y="1813560"/>
            <a:ext cx="9052560" cy="3424014"/>
          </a:xfrm>
        </p:spPr>
        <p:txBody>
          <a:bodyPr/>
          <a:lstStyle/>
          <a:p>
            <a:r>
              <a:rPr lang="en-US" sz="1600"/>
              <a:t>A Bounded Context Map is a representation of the Bounded Contexts involved in a project and the actual relationships between them and their models. They are used in large projects where multiple models are used, in order to clarify in what context a model should/should not be applied. Bounded contexts allow a team to explicitly set boundaries in terms of team organization, avoid changes made that would unintentionally blur the edges or complicate the interconnections usage within specific parts of the application, and physical manifestations, each with its owns Ubiquitous Language. The name each bounded context becomes part of the ubiquitous language.</a:t>
            </a:r>
          </a:p>
          <a:p>
            <a:endParaRPr lang="en-US" sz="1600"/>
          </a:p>
          <a:p>
            <a:pPr>
              <a:buFont typeface="Arial" charset="0"/>
              <a:buNone/>
            </a:pPr>
            <a:r>
              <a:rPr lang="en-US" sz="1600"/>
              <a:t>	For more information: </a:t>
            </a:r>
            <a:r>
              <a:rPr lang="en-US" sz="1600">
                <a:hlinkClick r:id="rId2"/>
              </a:rPr>
              <a:t>http://domaindrivendesign.org/node/98</a:t>
            </a:r>
            <a:endParaRPr lang="en-US" sz="1600"/>
          </a:p>
          <a:p>
            <a:pPr>
              <a:buFont typeface="Arial" charset="0"/>
              <a:buNone/>
            </a:pPr>
            <a:r>
              <a:rPr lang="en-US" sz="1600"/>
              <a:t>	</a:t>
            </a:r>
            <a:r>
              <a:rPr lang="en-US" sz="1600">
                <a:hlinkClick r:id="rId3"/>
              </a:rPr>
              <a:t>http://domaindrivendesign.org/books/evans_2003</a:t>
            </a:r>
            <a:endParaRPr lang="en-US" sz="1600" b="1"/>
          </a:p>
        </p:txBody>
      </p:sp>
    </p:spTree>
    <p:extLst>
      <p:ext uri="{BB962C8B-B14F-4D97-AF65-F5344CB8AC3E}">
        <p14:creationId xmlns:p14="http://schemas.microsoft.com/office/powerpoint/2010/main" val="20939030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z="3100"/>
              <a:t>Low Fidelity UI Mockup (Agile Modeling)</a:t>
            </a:r>
          </a:p>
        </p:txBody>
      </p:sp>
      <p:sp>
        <p:nvSpPr>
          <p:cNvPr id="28675" name="Content Placeholder 2"/>
          <p:cNvSpPr>
            <a:spLocks noGrp="1"/>
          </p:cNvSpPr>
          <p:nvPr>
            <p:ph idx="1"/>
          </p:nvPr>
        </p:nvSpPr>
        <p:spPr>
          <a:xfrm>
            <a:off x="502920" y="1813560"/>
            <a:ext cx="9052560" cy="2118529"/>
          </a:xfrm>
        </p:spPr>
        <p:txBody>
          <a:bodyPr/>
          <a:lstStyle/>
          <a:p>
            <a:r>
              <a:rPr lang="en-US" sz="1600"/>
              <a:t>Low fidelity UI Mockups are prototype or models of the UI that has the most essential features without the exact details. It should be technology independent and illustrates the interaction behaviors allowed by modeling user interface requirements. They are sketchy, low-fidelity wireframes that let you focus design conversations on functionality.</a:t>
            </a:r>
          </a:p>
          <a:p>
            <a:pPr>
              <a:buFont typeface="Arial" charset="0"/>
              <a:buNone/>
            </a:pPr>
            <a:endParaRPr lang="en-US" sz="1600"/>
          </a:p>
          <a:p>
            <a:pPr>
              <a:buFont typeface="Arial" charset="0"/>
              <a:buNone/>
            </a:pPr>
            <a:r>
              <a:rPr lang="en-US" sz="1600"/>
              <a:t>	For more information: </a:t>
            </a:r>
            <a:r>
              <a:rPr lang="en-US" sz="1600">
                <a:hlinkClick r:id="rId2"/>
              </a:rPr>
              <a:t>http://www.agilemodeling.com/artifacts/essentialUI.htm</a:t>
            </a:r>
            <a:endParaRPr lang="en-US" sz="1600"/>
          </a:p>
        </p:txBody>
      </p:sp>
    </p:spTree>
    <p:extLst>
      <p:ext uri="{BB962C8B-B14F-4D97-AF65-F5344CB8AC3E}">
        <p14:creationId xmlns:p14="http://schemas.microsoft.com/office/powerpoint/2010/main" val="24368136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sz="3100"/>
              <a:t>Features (Agile Modeling)</a:t>
            </a:r>
          </a:p>
        </p:txBody>
      </p:sp>
      <p:sp>
        <p:nvSpPr>
          <p:cNvPr id="29699" name="Content Placeholder 2"/>
          <p:cNvSpPr>
            <a:spLocks noGrp="1"/>
          </p:cNvSpPr>
          <p:nvPr>
            <p:ph idx="1"/>
          </p:nvPr>
        </p:nvSpPr>
        <p:spPr>
          <a:xfrm>
            <a:off x="502920" y="1813560"/>
            <a:ext cx="9052560" cy="5365571"/>
          </a:xfrm>
        </p:spPr>
        <p:txBody>
          <a:bodyPr/>
          <a:lstStyle/>
          <a:p>
            <a:r>
              <a:rPr lang="en-US" sz="1600"/>
              <a:t>A feature is a client-valued function that can be implemented in two weeks or less, named using this template:</a:t>
            </a:r>
          </a:p>
          <a:p>
            <a:pPr>
              <a:buFont typeface="Arial" charset="0"/>
              <a:buNone/>
            </a:pPr>
            <a:endParaRPr lang="en-US" sz="1600"/>
          </a:p>
          <a:p>
            <a:pPr lvl="1"/>
            <a:r>
              <a:rPr lang="en-US" sz="1300"/>
              <a:t>&lt;action&gt; the &lt;result&gt; &lt;by|for|of|to&gt; a(n) &lt;object&gt;</a:t>
            </a:r>
          </a:p>
          <a:p>
            <a:pPr>
              <a:buFont typeface="Arial" charset="0"/>
              <a:buNone/>
            </a:pPr>
            <a:endParaRPr lang="en-US" sz="1600"/>
          </a:p>
          <a:p>
            <a:pPr>
              <a:buFont typeface="Arial" charset="0"/>
              <a:buNone/>
            </a:pPr>
            <a:r>
              <a:rPr lang="en-US" sz="1600"/>
              <a:t>	An object is a person, place, or thing (including roles, moments in time or intervals of time, or catalog-entry-like descriptions)</a:t>
            </a:r>
          </a:p>
          <a:p>
            <a:pPr>
              <a:buFont typeface="Arial" charset="0"/>
              <a:buNone/>
            </a:pPr>
            <a:endParaRPr lang="en-US" sz="1600"/>
          </a:p>
          <a:p>
            <a:pPr>
              <a:buFont typeface="Arial" charset="0"/>
              <a:buNone/>
            </a:pPr>
            <a:r>
              <a:rPr lang="en-US" sz="1600"/>
              <a:t>	For example,</a:t>
            </a:r>
          </a:p>
          <a:p>
            <a:pPr lvl="1"/>
            <a:r>
              <a:rPr lang="en-US" sz="1300"/>
              <a:t>Calculate the total of a sale</a:t>
            </a:r>
          </a:p>
          <a:p>
            <a:pPr lvl="1"/>
            <a:r>
              <a:rPr lang="en-US" sz="1300"/>
              <a:t>Assess the fulﬁllment timeliness of a sale</a:t>
            </a:r>
          </a:p>
          <a:p>
            <a:pPr lvl="1"/>
            <a:r>
              <a:rPr lang="en-US" sz="1300"/>
              <a:t>Calculate the total purchases by a customer</a:t>
            </a:r>
          </a:p>
          <a:p>
            <a:pPr lvl="1">
              <a:buFont typeface="Arial" charset="0"/>
              <a:buNone/>
            </a:pPr>
            <a:endParaRPr lang="en-US" sz="1100"/>
          </a:p>
          <a:p>
            <a:pPr>
              <a:buFont typeface="Arial" charset="0"/>
              <a:buNone/>
            </a:pPr>
            <a:r>
              <a:rPr lang="en-US" sz="1600"/>
              <a:t>	For more information: </a:t>
            </a:r>
            <a:r>
              <a:rPr lang="en-US" sz="1600">
                <a:hlinkClick r:id="rId2"/>
              </a:rPr>
              <a:t>http://www.petercoad.com/download/bookpdfs/jmcuch06.pdf</a:t>
            </a:r>
            <a:endParaRPr lang="en-US" sz="1600"/>
          </a:p>
        </p:txBody>
      </p:sp>
    </p:spTree>
    <p:extLst>
      <p:ext uri="{BB962C8B-B14F-4D97-AF65-F5344CB8AC3E}">
        <p14:creationId xmlns:p14="http://schemas.microsoft.com/office/powerpoint/2010/main" val="346118200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5772" y="139598"/>
            <a:ext cx="9163202" cy="743793"/>
          </a:xfrm>
        </p:spPr>
        <p:txBody>
          <a:bodyPr/>
          <a:lstStyle/>
          <a:p>
            <a:r>
              <a:rPr lang="en-US" sz="3100"/>
              <a:t>Minimum Marketable Feature Set (Agile Modeling)</a:t>
            </a:r>
          </a:p>
        </p:txBody>
      </p:sp>
      <p:sp>
        <p:nvSpPr>
          <p:cNvPr id="30723" name="Content Placeholder 2"/>
          <p:cNvSpPr>
            <a:spLocks noGrp="1"/>
          </p:cNvSpPr>
          <p:nvPr>
            <p:ph idx="1"/>
          </p:nvPr>
        </p:nvSpPr>
        <p:spPr>
          <a:xfrm>
            <a:off x="502920" y="1813560"/>
            <a:ext cx="9052560" cy="4593565"/>
          </a:xfrm>
        </p:spPr>
        <p:txBody>
          <a:bodyPr/>
          <a:lstStyle/>
          <a:p>
            <a:r>
              <a:rPr lang="en-US" sz="1600"/>
              <a:t>A minimum marketable feature set is the set of the smallest increments of functionality that has value to the end users on its own. There isn’t much reason to release</a:t>
            </a:r>
            <a:r>
              <a:rPr lang="en-US" sz="1600" i="1"/>
              <a:t> </a:t>
            </a:r>
            <a:r>
              <a:rPr lang="en-US" sz="1600"/>
              <a:t>anything smaller than the MMF, when thinking about MMFs, keep in mind of the following:</a:t>
            </a:r>
          </a:p>
          <a:p>
            <a:pPr>
              <a:buFont typeface="Arial" charset="0"/>
              <a:buNone/>
            </a:pPr>
            <a:endParaRPr lang="en-US" sz="1600"/>
          </a:p>
          <a:p>
            <a:pPr lvl="1"/>
            <a:r>
              <a:rPr lang="en-US" sz="1300" b="1"/>
              <a:t>Minimum: </a:t>
            </a:r>
            <a:r>
              <a:rPr lang="en-US" sz="1300"/>
              <a:t>If a split would result in a story so small that it couldn’t be marketed to your customers, then the split shouldn’t be made</a:t>
            </a:r>
          </a:p>
          <a:p>
            <a:pPr lvl="1">
              <a:buFont typeface="Arial" charset="0"/>
              <a:buNone/>
            </a:pPr>
            <a:endParaRPr lang="en-US" sz="1300"/>
          </a:p>
          <a:p>
            <a:pPr lvl="1"/>
            <a:r>
              <a:rPr lang="en-US" sz="1300" b="1"/>
              <a:t>Marketable: </a:t>
            </a:r>
            <a:r>
              <a:rPr lang="en-US" sz="1300"/>
              <a:t>If the feature isn’t marketable, there is little reason to keep it</a:t>
            </a:r>
          </a:p>
          <a:p>
            <a:pPr lvl="1">
              <a:buFont typeface="Arial" charset="0"/>
              <a:buNone/>
            </a:pPr>
            <a:endParaRPr lang="en-US" sz="1300"/>
          </a:p>
          <a:p>
            <a:pPr lvl="1"/>
            <a:r>
              <a:rPr lang="en-US" sz="1300" b="1"/>
              <a:t>Feature: </a:t>
            </a:r>
            <a:r>
              <a:rPr lang="en-US" sz="1300"/>
              <a:t>A feature is demonstrable behavior of the product, avoid confusing them with items that are necessary to implement a feature</a:t>
            </a:r>
          </a:p>
          <a:p>
            <a:pPr lvl="1">
              <a:buFont typeface="Arial" charset="0"/>
              <a:buNone/>
            </a:pPr>
            <a:endParaRPr lang="en-US" sz="1300"/>
          </a:p>
          <a:p>
            <a:pPr>
              <a:buFont typeface="Arial" charset="0"/>
              <a:buNone/>
            </a:pPr>
            <a:r>
              <a:rPr lang="en-US" sz="1600"/>
              <a:t>	For more information: </a:t>
            </a:r>
            <a:r>
              <a:rPr lang="en-US" sz="1600">
                <a:hlinkClick r:id="rId2"/>
              </a:rPr>
              <a:t>http://www.upstarthq.com/2010/04/introduction-to-minimum-marketable-features-mmf/</a:t>
            </a:r>
            <a:endParaRPr lang="en-US" sz="1600"/>
          </a:p>
          <a:p>
            <a:pPr>
              <a:buFont typeface="Arial" charset="0"/>
              <a:buNone/>
            </a:pPr>
            <a:endParaRPr lang="en-US" sz="1600" b="1"/>
          </a:p>
        </p:txBody>
      </p:sp>
    </p:spTree>
    <p:extLst>
      <p:ext uri="{BB962C8B-B14F-4D97-AF65-F5344CB8AC3E}">
        <p14:creationId xmlns:p14="http://schemas.microsoft.com/office/powerpoint/2010/main" val="34003929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sz="3100"/>
              <a:t>User Story</a:t>
            </a:r>
          </a:p>
        </p:txBody>
      </p:sp>
      <p:sp>
        <p:nvSpPr>
          <p:cNvPr id="31747" name="Content Placeholder 2"/>
          <p:cNvSpPr>
            <a:spLocks noGrp="1"/>
          </p:cNvSpPr>
          <p:nvPr>
            <p:ph idx="1"/>
          </p:nvPr>
        </p:nvSpPr>
        <p:spPr>
          <a:xfrm>
            <a:off x="502920" y="1813560"/>
            <a:ext cx="9052560" cy="6809556"/>
          </a:xfrm>
        </p:spPr>
        <p:txBody>
          <a:bodyPr/>
          <a:lstStyle/>
          <a:p>
            <a:r>
              <a:rPr lang="en-US" sz="1600"/>
              <a:t>A user story is the basic unit of work, typically 2 weeks of dev effort, representing some business value that can be tested, estimated and delivered within an iteration. The title of each story is written on an index card. User stories should only provide enough detail to make a reasonably low risk estimate of how long the story will take to implement.  User stories have three critical aspects: Card, Conversation, and Confirmation.</a:t>
            </a:r>
          </a:p>
          <a:p>
            <a:pPr>
              <a:buFont typeface="Arial" charset="0"/>
              <a:buNone/>
            </a:pPr>
            <a:endParaRPr lang="en-US" sz="1300"/>
          </a:p>
          <a:p>
            <a:pPr>
              <a:buFontTx/>
              <a:buChar char="-"/>
            </a:pPr>
            <a:r>
              <a:rPr lang="en-US" sz="1300" b="1"/>
              <a:t>Card:</a:t>
            </a:r>
            <a:r>
              <a:rPr lang="en-US" sz="1300"/>
              <a:t>  user stories are written on cards that has just enough text to identify the requirement but doesn’t contain all the information that makes up the requirement. It’s used for planning and understanding what to develop </a:t>
            </a:r>
          </a:p>
          <a:p>
            <a:pPr>
              <a:buFont typeface="Arial" charset="0"/>
              <a:buNone/>
            </a:pPr>
            <a:endParaRPr lang="en-US" sz="1300"/>
          </a:p>
          <a:p>
            <a:pPr>
              <a:buFontTx/>
              <a:buChar char="-"/>
            </a:pPr>
            <a:r>
              <a:rPr lang="en-US" sz="1300" b="1"/>
              <a:t>Conversation</a:t>
            </a:r>
            <a:r>
              <a:rPr lang="en-US" sz="1300"/>
              <a:t>: the requirement itself is communicated from customer to programmers through conversation when the story is estimated, and again at the iteration planning meeting when the story is scheduled for implementation</a:t>
            </a:r>
          </a:p>
          <a:p>
            <a:pPr>
              <a:buFont typeface="Arial" charset="0"/>
              <a:buNone/>
            </a:pPr>
            <a:endParaRPr lang="en-US" sz="1300"/>
          </a:p>
          <a:p>
            <a:pPr>
              <a:buFontTx/>
              <a:buChar char="-"/>
            </a:pPr>
            <a:r>
              <a:rPr lang="en-US" sz="1300" b="1"/>
              <a:t>Confirmation:</a:t>
            </a:r>
            <a:r>
              <a:rPr lang="en-US" sz="1300"/>
              <a:t>  at the beginning of the iteration, the customer communicates to the programmers is wanted  by defining the acceptance tests that will be used to show that the story has been implemented correctly, confirmation is the pass/fail result of these acceptance tests</a:t>
            </a:r>
            <a:endParaRPr lang="en-US" sz="1300" u="sng"/>
          </a:p>
          <a:p>
            <a:pPr>
              <a:buFont typeface="Arial" charset="0"/>
              <a:buNone/>
            </a:pPr>
            <a:endParaRPr lang="en-US" sz="1300"/>
          </a:p>
          <a:p>
            <a:pPr>
              <a:buFont typeface="Arial" charset="0"/>
              <a:buNone/>
            </a:pPr>
            <a:r>
              <a:rPr lang="en-US" sz="1600"/>
              <a:t>	For more information: </a:t>
            </a:r>
            <a:r>
              <a:rPr lang="en-US" sz="1600">
                <a:hlinkClick r:id="rId2"/>
              </a:rPr>
              <a:t>http://www.extremeprogramming.org/rules/userstories.html</a:t>
            </a:r>
            <a:endParaRPr lang="en-US" sz="1600"/>
          </a:p>
          <a:p>
            <a:pPr>
              <a:buFont typeface="Arial" charset="0"/>
              <a:buNone/>
            </a:pPr>
            <a:r>
              <a:rPr lang="en-US" sz="1600"/>
              <a:t>	</a:t>
            </a:r>
            <a:r>
              <a:rPr lang="en-US" sz="1600">
                <a:hlinkClick r:id="rId3"/>
              </a:rPr>
              <a:t>http://xprogramming.com/articles/expcardconversationconfirmation/</a:t>
            </a:r>
            <a:endParaRPr lang="en-US" sz="1600" b="1"/>
          </a:p>
        </p:txBody>
      </p:sp>
    </p:spTree>
    <p:extLst>
      <p:ext uri="{BB962C8B-B14F-4D97-AF65-F5344CB8AC3E}">
        <p14:creationId xmlns:p14="http://schemas.microsoft.com/office/powerpoint/2010/main" val="92513014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sz="3100"/>
              <a:t>Story Map</a:t>
            </a:r>
          </a:p>
        </p:txBody>
      </p:sp>
      <p:sp>
        <p:nvSpPr>
          <p:cNvPr id="32771" name="Content Placeholder 2"/>
          <p:cNvSpPr>
            <a:spLocks noGrp="1"/>
          </p:cNvSpPr>
          <p:nvPr>
            <p:ph idx="1"/>
          </p:nvPr>
        </p:nvSpPr>
        <p:spPr>
          <a:xfrm>
            <a:off x="502920" y="1813560"/>
            <a:ext cx="9052560" cy="4434547"/>
          </a:xfrm>
        </p:spPr>
        <p:txBody>
          <a:bodyPr/>
          <a:lstStyle/>
          <a:p>
            <a:r>
              <a:rPr lang="en-US" sz="1600"/>
              <a:t>User Story Maps organize stories to help visualize the backlog, but it does not replace the backlog. They are usually created with sticky notes on large sheets of paper and posted to a wall. The idea is to think about what users want the product to do and group into 3 different levels in an hierarchy:</a:t>
            </a:r>
          </a:p>
          <a:p>
            <a:pPr>
              <a:buFont typeface="Arial" charset="0"/>
              <a:buNone/>
            </a:pPr>
            <a:endParaRPr lang="en-US" sz="1600"/>
          </a:p>
          <a:p>
            <a:pPr lvl="1"/>
            <a:r>
              <a:rPr lang="en-US" sz="1300"/>
              <a:t>User Activity (highest level)</a:t>
            </a:r>
          </a:p>
          <a:p>
            <a:pPr lvl="1"/>
            <a:r>
              <a:rPr lang="en-US" sz="1300"/>
              <a:t>User Task (middle level)</a:t>
            </a:r>
          </a:p>
          <a:p>
            <a:pPr lvl="1"/>
            <a:r>
              <a:rPr lang="en-US" sz="1300"/>
              <a:t>Sub-Task (lowest level)</a:t>
            </a:r>
          </a:p>
          <a:p>
            <a:pPr lvl="1"/>
            <a:endParaRPr lang="en-US" sz="1300"/>
          </a:p>
          <a:p>
            <a:pPr lvl="1">
              <a:buFont typeface="Arial" charset="0"/>
              <a:buNone/>
            </a:pPr>
            <a:r>
              <a:rPr lang="en-US" sz="1600"/>
              <a:t>	There is no limit on how many user tasks per activity, or subtasks per user task. The activities are laid out so that time flows from left to right and sub tasks can also be laid out from top to bottom with higher priority on top. The map is useful for setting the boundaries of what to be included in a release.</a:t>
            </a:r>
          </a:p>
          <a:p>
            <a:pPr>
              <a:buFont typeface="Arial" charset="0"/>
              <a:buNone/>
            </a:pPr>
            <a:endParaRPr lang="en-US" sz="1300"/>
          </a:p>
          <a:p>
            <a:pPr>
              <a:buFont typeface="Arial" charset="0"/>
              <a:buNone/>
            </a:pPr>
            <a:r>
              <a:rPr lang="en-US" sz="1600"/>
              <a:t>	For more information: </a:t>
            </a:r>
            <a:r>
              <a:rPr lang="en-US" sz="1600">
                <a:hlinkClick r:id="rId2"/>
              </a:rPr>
              <a:t>http://scrumcoaching.wordpress.com/2010/10/26/story-mapping/</a:t>
            </a:r>
            <a:endParaRPr lang="en-US" sz="1600" b="1"/>
          </a:p>
        </p:txBody>
      </p:sp>
    </p:spTree>
    <p:extLst>
      <p:ext uri="{BB962C8B-B14F-4D97-AF65-F5344CB8AC3E}">
        <p14:creationId xmlns:p14="http://schemas.microsoft.com/office/powerpoint/2010/main" val="8218916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sz="3100"/>
              <a:t>Usage Scenarios</a:t>
            </a:r>
          </a:p>
        </p:txBody>
      </p:sp>
      <p:sp>
        <p:nvSpPr>
          <p:cNvPr id="33795" name="Content Placeholder 2"/>
          <p:cNvSpPr>
            <a:spLocks noGrp="1"/>
          </p:cNvSpPr>
          <p:nvPr>
            <p:ph idx="1"/>
          </p:nvPr>
        </p:nvSpPr>
        <p:spPr>
          <a:xfrm>
            <a:off x="502920" y="1813560"/>
            <a:ext cx="9052560" cy="1826141"/>
          </a:xfrm>
        </p:spPr>
        <p:txBody>
          <a:bodyPr/>
          <a:lstStyle/>
          <a:p>
            <a:r>
              <a:rPr lang="en-US" sz="1600"/>
              <a:t>A usage scenario describes a real-world example of how one or more people or organizations interact with a system.  The level of detail may vary, from exact steps of UI interactions to simple but critical business actions without explaining how they are followed.</a:t>
            </a:r>
          </a:p>
          <a:p>
            <a:pPr>
              <a:buFont typeface="Arial" charset="0"/>
              <a:buNone/>
            </a:pPr>
            <a:endParaRPr lang="en-US" sz="1300"/>
          </a:p>
          <a:p>
            <a:pPr>
              <a:buFont typeface="Arial" charset="0"/>
              <a:buNone/>
            </a:pPr>
            <a:r>
              <a:rPr lang="en-US" sz="1600"/>
              <a:t>	For more information: </a:t>
            </a:r>
            <a:r>
              <a:rPr lang="en-US" sz="1600">
                <a:hlinkClick r:id="rId2"/>
              </a:rPr>
              <a:t>http://www.agilemodeling.com/artifacts/usageScenario.htm</a:t>
            </a:r>
            <a:endParaRPr lang="en-US" sz="1600" b="1"/>
          </a:p>
        </p:txBody>
      </p:sp>
    </p:spTree>
    <p:extLst>
      <p:ext uri="{BB962C8B-B14F-4D97-AF65-F5344CB8AC3E}">
        <p14:creationId xmlns:p14="http://schemas.microsoft.com/office/powerpoint/2010/main" val="30631801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z="3100"/>
              <a:t>Epics/Themes</a:t>
            </a:r>
          </a:p>
        </p:txBody>
      </p:sp>
      <p:sp>
        <p:nvSpPr>
          <p:cNvPr id="34819" name="Content Placeholder 2"/>
          <p:cNvSpPr>
            <a:spLocks noGrp="1"/>
          </p:cNvSpPr>
          <p:nvPr>
            <p:ph idx="1"/>
          </p:nvPr>
        </p:nvSpPr>
        <p:spPr>
          <a:xfrm>
            <a:off x="502920" y="1813560"/>
            <a:ext cx="9052560" cy="2959785"/>
          </a:xfrm>
        </p:spPr>
        <p:txBody>
          <a:bodyPr/>
          <a:lstStyle/>
          <a:p>
            <a:r>
              <a:rPr lang="en-US" sz="1600"/>
              <a:t>An Epic is a large story for capturing relatively low priority requirements that are often too complex to estimate right away and that are going to be detailed later. </a:t>
            </a:r>
          </a:p>
          <a:p>
            <a:endParaRPr lang="en-US" sz="1600"/>
          </a:p>
          <a:p>
            <a:r>
              <a:rPr lang="en-US" sz="1600"/>
              <a:t>A theme is a set of stories grouped together by functional area, user group or anything that makes sense. For example, a theme could be a set of stories for: migrating UI to Windows 7</a:t>
            </a:r>
          </a:p>
          <a:p>
            <a:pPr>
              <a:buFont typeface="Arial" charset="0"/>
              <a:buNone/>
            </a:pPr>
            <a:endParaRPr lang="en-US" sz="1300"/>
          </a:p>
          <a:p>
            <a:pPr>
              <a:buFont typeface="Arial" charset="0"/>
              <a:buNone/>
            </a:pPr>
            <a:r>
              <a:rPr lang="en-US" sz="1600"/>
              <a:t>	For more information: </a:t>
            </a:r>
            <a:r>
              <a:rPr lang="en-US" sz="1600">
                <a:hlinkClick r:id="rId2"/>
              </a:rPr>
              <a:t>http://agilesoftwaredevelopment.com/blog/artem/epics-and-themes</a:t>
            </a:r>
            <a:endParaRPr lang="en-US" sz="1600" b="1"/>
          </a:p>
        </p:txBody>
      </p:sp>
    </p:spTree>
    <p:extLst>
      <p:ext uri="{BB962C8B-B14F-4D97-AF65-F5344CB8AC3E}">
        <p14:creationId xmlns:p14="http://schemas.microsoft.com/office/powerpoint/2010/main" val="205171484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sz="3100"/>
              <a:t>A3</a:t>
            </a:r>
          </a:p>
        </p:txBody>
      </p:sp>
      <p:sp>
        <p:nvSpPr>
          <p:cNvPr id="35843" name="Content Placeholder 2"/>
          <p:cNvSpPr>
            <a:spLocks noGrp="1"/>
          </p:cNvSpPr>
          <p:nvPr>
            <p:ph idx="1"/>
          </p:nvPr>
        </p:nvSpPr>
        <p:spPr>
          <a:xfrm>
            <a:off x="502920" y="1813560"/>
            <a:ext cx="9052560" cy="5216813"/>
          </a:xfrm>
        </p:spPr>
        <p:txBody>
          <a:bodyPr/>
          <a:lstStyle/>
          <a:p>
            <a:r>
              <a:rPr lang="en-US" sz="1600"/>
              <a:t>A3 refers to a European paper size that is roughly equivalent to an American 11-inch by 17-inch tabloid-sized paper. The A3 format is used as a template for problem solving in lean. There is no “magic” in the steps through which the structured A3 Problem Solving template takes a team. These steps are basically:</a:t>
            </a:r>
          </a:p>
          <a:p>
            <a:pPr>
              <a:buFont typeface="Arial" charset="0"/>
              <a:buNone/>
            </a:pPr>
            <a:endParaRPr lang="en-US" sz="1600"/>
          </a:p>
          <a:p>
            <a:pPr lvl="1">
              <a:buFont typeface="Calibri" pitchFamily="34" charset="0"/>
              <a:buAutoNum type="arabicPeriod"/>
            </a:pPr>
            <a:r>
              <a:rPr lang="en-US" sz="1300"/>
              <a:t>Identify the problem or need</a:t>
            </a:r>
          </a:p>
          <a:p>
            <a:pPr lvl="1">
              <a:buFont typeface="Calibri" pitchFamily="34" charset="0"/>
              <a:buAutoNum type="arabicPeriod"/>
            </a:pPr>
            <a:r>
              <a:rPr lang="en-US" sz="1300"/>
              <a:t>Understand the current situation/state</a:t>
            </a:r>
          </a:p>
          <a:p>
            <a:pPr lvl="1">
              <a:buFont typeface="Calibri" pitchFamily="34" charset="0"/>
              <a:buAutoNum type="arabicPeriod"/>
            </a:pPr>
            <a:r>
              <a:rPr lang="en-US" sz="1300"/>
              <a:t>Develop the goal statement – develop the target state</a:t>
            </a:r>
          </a:p>
          <a:p>
            <a:pPr lvl="1">
              <a:buFont typeface="Calibri" pitchFamily="34" charset="0"/>
              <a:buAutoNum type="arabicPeriod"/>
            </a:pPr>
            <a:r>
              <a:rPr lang="en-US" sz="1300"/>
              <a:t>Perform root cause analysis</a:t>
            </a:r>
          </a:p>
          <a:p>
            <a:pPr lvl="1">
              <a:buFont typeface="Calibri" pitchFamily="34" charset="0"/>
              <a:buAutoNum type="arabicPeriod"/>
            </a:pPr>
            <a:r>
              <a:rPr lang="en-US" sz="1300"/>
              <a:t>Brainstorm/determine countermeasures</a:t>
            </a:r>
          </a:p>
          <a:p>
            <a:pPr lvl="1">
              <a:buFont typeface="Calibri" pitchFamily="34" charset="0"/>
              <a:buAutoNum type="arabicPeriod"/>
            </a:pPr>
            <a:r>
              <a:rPr lang="en-US" sz="1300"/>
              <a:t>Create a countermeasures implementation plan</a:t>
            </a:r>
          </a:p>
          <a:p>
            <a:pPr lvl="1">
              <a:buFont typeface="Calibri" pitchFamily="34" charset="0"/>
              <a:buAutoNum type="arabicPeriod"/>
            </a:pPr>
            <a:r>
              <a:rPr lang="en-US" sz="1300"/>
              <a:t>Check results – confirm the effect</a:t>
            </a:r>
          </a:p>
          <a:p>
            <a:pPr lvl="1">
              <a:buFont typeface="Calibri" pitchFamily="34" charset="0"/>
              <a:buAutoNum type="arabicPeriod"/>
            </a:pPr>
            <a:r>
              <a:rPr lang="en-US" sz="1300"/>
              <a:t>Update standard work</a:t>
            </a:r>
          </a:p>
          <a:p>
            <a:endParaRPr lang="en-US" sz="1600"/>
          </a:p>
          <a:p>
            <a:pPr>
              <a:buFont typeface="Arial" charset="0"/>
              <a:buNone/>
            </a:pPr>
            <a:endParaRPr lang="en-US" sz="1300"/>
          </a:p>
          <a:p>
            <a:pPr>
              <a:buFont typeface="Arial" charset="0"/>
              <a:buNone/>
            </a:pPr>
            <a:r>
              <a:rPr lang="en-US" sz="1600"/>
              <a:t>	For more information: </a:t>
            </a:r>
            <a:r>
              <a:rPr lang="en-US" sz="1600">
                <a:hlinkClick r:id="rId2"/>
              </a:rPr>
              <a:t>http://www.reliableplant.com/Read/22984/a3-problem-solving-lean</a:t>
            </a:r>
            <a:endParaRPr lang="en-US" sz="1600" b="1"/>
          </a:p>
        </p:txBody>
      </p:sp>
    </p:spTree>
    <p:extLst>
      <p:ext uri="{BB962C8B-B14F-4D97-AF65-F5344CB8AC3E}">
        <p14:creationId xmlns:p14="http://schemas.microsoft.com/office/powerpoint/2010/main" val="298136027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sz="3100"/>
              <a:t>Backlog</a:t>
            </a:r>
          </a:p>
        </p:txBody>
      </p:sp>
      <p:sp>
        <p:nvSpPr>
          <p:cNvPr id="36867" name="Content Placeholder 2"/>
          <p:cNvSpPr>
            <a:spLocks noGrp="1"/>
          </p:cNvSpPr>
          <p:nvPr>
            <p:ph idx="1"/>
          </p:nvPr>
        </p:nvSpPr>
        <p:spPr>
          <a:xfrm>
            <a:off x="502920" y="1813560"/>
            <a:ext cx="9052560" cy="2318583"/>
          </a:xfrm>
        </p:spPr>
        <p:txBody>
          <a:bodyPr/>
          <a:lstStyle/>
          <a:p>
            <a:r>
              <a:rPr lang="en-US" sz="1600"/>
              <a:t>The Product Backlog is a compilation of all the functionality desired in the end product.  Usually an initial backlog is created with everything that the team can think of easily, which is almost always more than enough for a first sprint, then the backlog grows and changes organically as the team understands the product and customers better. The backlog items are often in the form of user stories.</a:t>
            </a:r>
          </a:p>
          <a:p>
            <a:pPr>
              <a:buFont typeface="Arial" charset="0"/>
              <a:buNone/>
            </a:pPr>
            <a:endParaRPr lang="en-US" sz="1300"/>
          </a:p>
          <a:p>
            <a:pPr>
              <a:buFont typeface="Arial" charset="0"/>
              <a:buNone/>
            </a:pPr>
            <a:r>
              <a:rPr lang="en-US" sz="1600"/>
              <a:t>	For more information: </a:t>
            </a:r>
            <a:r>
              <a:rPr lang="en-US" sz="1600">
                <a:hlinkClick r:id="rId2"/>
              </a:rPr>
              <a:t>http://www.mountaingoatsoftware.com/scrum/product-backlog</a:t>
            </a:r>
            <a:endParaRPr lang="en-US" sz="1600" b="1"/>
          </a:p>
        </p:txBody>
      </p:sp>
    </p:spTree>
    <p:extLst>
      <p:ext uri="{BB962C8B-B14F-4D97-AF65-F5344CB8AC3E}">
        <p14:creationId xmlns:p14="http://schemas.microsoft.com/office/powerpoint/2010/main" val="350925857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z="3100"/>
              <a:t>The 5 Whys</a:t>
            </a:r>
          </a:p>
        </p:txBody>
      </p:sp>
      <p:sp>
        <p:nvSpPr>
          <p:cNvPr id="37891" name="Content Placeholder 2"/>
          <p:cNvSpPr>
            <a:spLocks noGrp="1"/>
          </p:cNvSpPr>
          <p:nvPr>
            <p:ph idx="1"/>
          </p:nvPr>
        </p:nvSpPr>
        <p:spPr>
          <a:xfrm>
            <a:off x="502920" y="1813560"/>
            <a:ext cx="9052560" cy="1826141"/>
          </a:xfrm>
        </p:spPr>
        <p:txBody>
          <a:bodyPr/>
          <a:lstStyle/>
          <a:p>
            <a:r>
              <a:rPr lang="en-US" sz="1600"/>
              <a:t>The 5 Whys is a questions-asking method used to explore the cause/effect relationships underlying a particular problem with the goal of determining the root cause of a defect or problem. The process isn’t limited to 5, but it is generally sufficient to get to a root cause with asking Why 5 times. </a:t>
            </a:r>
          </a:p>
          <a:p>
            <a:pPr>
              <a:buFont typeface="Arial" charset="0"/>
              <a:buNone/>
            </a:pPr>
            <a:endParaRPr lang="en-US" sz="1300"/>
          </a:p>
          <a:p>
            <a:pPr>
              <a:buFont typeface="Arial" charset="0"/>
              <a:buNone/>
            </a:pPr>
            <a:r>
              <a:rPr lang="en-US" sz="1600"/>
              <a:t>	For more information: </a:t>
            </a:r>
            <a:r>
              <a:rPr lang="en-US" sz="1600">
                <a:hlinkClick r:id="rId2"/>
              </a:rPr>
              <a:t>http://en.wikipedia.org/wiki/5_Whys</a:t>
            </a:r>
            <a:endParaRPr lang="en-US" sz="1600" b="1"/>
          </a:p>
        </p:txBody>
      </p:sp>
    </p:spTree>
    <p:extLst>
      <p:ext uri="{BB962C8B-B14F-4D97-AF65-F5344CB8AC3E}">
        <p14:creationId xmlns:p14="http://schemas.microsoft.com/office/powerpoint/2010/main" val="42021154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z="3100"/>
              <a:t>Value Stream Map (Lean)</a:t>
            </a:r>
          </a:p>
        </p:txBody>
      </p:sp>
      <p:sp>
        <p:nvSpPr>
          <p:cNvPr id="38915" name="Content Placeholder 2"/>
          <p:cNvSpPr>
            <a:spLocks noGrp="1"/>
          </p:cNvSpPr>
          <p:nvPr>
            <p:ph idx="1"/>
          </p:nvPr>
        </p:nvSpPr>
        <p:spPr>
          <a:xfrm>
            <a:off x="502920" y="1813560"/>
            <a:ext cx="9052560" cy="2564805"/>
          </a:xfrm>
        </p:spPr>
        <p:txBody>
          <a:bodyPr/>
          <a:lstStyle/>
          <a:p>
            <a:r>
              <a:rPr lang="en-US" sz="1600"/>
              <a:t>Value stream mapping is a technique used to analyze and design the flow of materials and information required to bring a product or service to a consumer. It allows one to see a one page view of all the processes that occur in a company, from when the customer places an order to receiving it. The goal is to show all information and work required throughout all the value-adding processes. Because a Value Stream Map includes both value-adding and non-value-adding processes, it is very useful to identify and reduce waste.</a:t>
            </a:r>
          </a:p>
          <a:p>
            <a:pPr>
              <a:buFont typeface="Arial" charset="0"/>
              <a:buNone/>
            </a:pPr>
            <a:endParaRPr lang="en-US" sz="1300"/>
          </a:p>
          <a:p>
            <a:pPr>
              <a:buFont typeface="Arial" charset="0"/>
              <a:buNone/>
            </a:pPr>
            <a:r>
              <a:rPr lang="en-US" sz="1600"/>
              <a:t>	For more information: </a:t>
            </a:r>
            <a:r>
              <a:rPr lang="en-US" sz="1600">
                <a:hlinkClick r:id="rId2"/>
              </a:rPr>
              <a:t>http://en.wikipedia.org/wiki/Value_stream_mapping</a:t>
            </a:r>
            <a:endParaRPr lang="en-US" sz="1600" b="1"/>
          </a:p>
        </p:txBody>
      </p:sp>
    </p:spTree>
    <p:extLst>
      <p:ext uri="{BB962C8B-B14F-4D97-AF65-F5344CB8AC3E}">
        <p14:creationId xmlns:p14="http://schemas.microsoft.com/office/powerpoint/2010/main" val="19914192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sz="3100"/>
              <a:t>Kaizen (Lean)</a:t>
            </a:r>
          </a:p>
        </p:txBody>
      </p:sp>
      <p:sp>
        <p:nvSpPr>
          <p:cNvPr id="39939" name="Content Placeholder 2"/>
          <p:cNvSpPr>
            <a:spLocks noGrp="1"/>
          </p:cNvSpPr>
          <p:nvPr>
            <p:ph idx="1"/>
          </p:nvPr>
        </p:nvSpPr>
        <p:spPr>
          <a:xfrm>
            <a:off x="502920" y="1813560"/>
            <a:ext cx="9052560" cy="2564805"/>
          </a:xfrm>
        </p:spPr>
        <p:txBody>
          <a:bodyPr/>
          <a:lstStyle/>
          <a:p>
            <a:r>
              <a:rPr lang="en-US" sz="1600"/>
              <a:t>Kaizen Japanese for "improvement", or "change for the better" refers to philosophy or practices that focus upon continuous improvement of processes to reduce waste.  When applied in the workplace, kaizen refers to activities that continually improve all functions, and involves all employees from the CXOs to developers. While kaizen usually delivers small improvements, the culture of continual aligned small improvements and standardization yields large results in the form of compound productivity improvement.</a:t>
            </a:r>
          </a:p>
          <a:p>
            <a:pPr>
              <a:buFont typeface="Arial" charset="0"/>
              <a:buNone/>
            </a:pPr>
            <a:endParaRPr lang="en-US" sz="1300"/>
          </a:p>
          <a:p>
            <a:pPr>
              <a:buFont typeface="Arial" charset="0"/>
              <a:buNone/>
            </a:pPr>
            <a:r>
              <a:rPr lang="en-US" sz="1600"/>
              <a:t>	For more information: </a:t>
            </a:r>
            <a:r>
              <a:rPr lang="en-US" sz="1600">
                <a:hlinkClick r:id="rId2"/>
              </a:rPr>
              <a:t>http://en.wikipedia.org/wiki/Kaizen</a:t>
            </a:r>
            <a:endParaRPr lang="en-US" sz="1600"/>
          </a:p>
        </p:txBody>
      </p:sp>
    </p:spTree>
    <p:extLst>
      <p:ext uri="{BB962C8B-B14F-4D97-AF65-F5344CB8AC3E}">
        <p14:creationId xmlns:p14="http://schemas.microsoft.com/office/powerpoint/2010/main" val="37255690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sz="3100"/>
              <a:t>Work in Progress Limits (Kanban)</a:t>
            </a:r>
          </a:p>
        </p:txBody>
      </p:sp>
      <p:sp>
        <p:nvSpPr>
          <p:cNvPr id="40963" name="Content Placeholder 2"/>
          <p:cNvSpPr>
            <a:spLocks noGrp="1"/>
          </p:cNvSpPr>
          <p:nvPr>
            <p:ph idx="1"/>
          </p:nvPr>
        </p:nvSpPr>
        <p:spPr>
          <a:xfrm>
            <a:off x="502920" y="1813560"/>
            <a:ext cx="9052560" cy="4147289"/>
          </a:xfrm>
        </p:spPr>
        <p:txBody>
          <a:bodyPr/>
          <a:lstStyle/>
          <a:p>
            <a:r>
              <a:rPr lang="en-US" sz="1600"/>
              <a:t>Work in Progress (WIP) Limits are used to manage work and increase flow when the team is experiencing bottlenecks for work items on the board. The limits are often resource based, for example if you have 4 developers, then you can put a WIP limit of 4 on your development lane. WIP Limits can be written in the respective lane for each step. Benefits of limiting WIP include:</a:t>
            </a:r>
          </a:p>
          <a:p>
            <a:pPr>
              <a:buFont typeface="Arial" charset="0"/>
              <a:buNone/>
            </a:pPr>
            <a:endParaRPr lang="en-US" sz="1600"/>
          </a:p>
          <a:p>
            <a:pPr lvl="1"/>
            <a:r>
              <a:rPr lang="en-US" sz="1300"/>
              <a:t>Reduce task switching to avoid reloading your brain multiple times</a:t>
            </a:r>
          </a:p>
          <a:p>
            <a:pPr lvl="1"/>
            <a:r>
              <a:rPr lang="en-US" sz="1300"/>
              <a:t>Attain a regular flow of work that is done so you can be more predictable in delivery</a:t>
            </a:r>
          </a:p>
          <a:p>
            <a:pPr lvl="1"/>
            <a:r>
              <a:rPr lang="en-US" sz="1300"/>
              <a:t>Measure the real amount of time tasks take to do and adjust sizing / estimation efforts</a:t>
            </a:r>
          </a:p>
          <a:p>
            <a:pPr lvl="1"/>
            <a:r>
              <a:rPr lang="en-US" sz="1300"/>
              <a:t>Keep your software inventory low to reduce cost of change and adaptation</a:t>
            </a:r>
          </a:p>
          <a:p>
            <a:pPr lvl="1"/>
            <a:r>
              <a:rPr lang="en-US" sz="1300"/>
              <a:t>Fast feedback to limit waste due to rework and incorrect assumptions</a:t>
            </a:r>
          </a:p>
          <a:p>
            <a:pPr lvl="1"/>
            <a:r>
              <a:rPr lang="en-US" sz="1300"/>
              <a:t>Enable a pull model where only as much work is done as can be consumed</a:t>
            </a:r>
            <a:endParaRPr lang="en-US" sz="1100"/>
          </a:p>
          <a:p>
            <a:pPr>
              <a:buFont typeface="Arial" charset="0"/>
              <a:buNone/>
            </a:pPr>
            <a:endParaRPr lang="en-US" sz="1300"/>
          </a:p>
          <a:p>
            <a:pPr>
              <a:buFont typeface="Arial" charset="0"/>
              <a:buNone/>
            </a:pPr>
            <a:r>
              <a:rPr lang="en-US" sz="1600"/>
              <a:t>	For more information: </a:t>
            </a:r>
            <a:r>
              <a:rPr lang="en-US" sz="1600">
                <a:hlinkClick r:id="rId2"/>
              </a:rPr>
              <a:t>http://leanagilemachine.blogspot.com/p/kanban.html</a:t>
            </a:r>
            <a:endParaRPr lang="en-US" sz="1600"/>
          </a:p>
        </p:txBody>
      </p:sp>
    </p:spTree>
    <p:extLst>
      <p:ext uri="{BB962C8B-B14F-4D97-AF65-F5344CB8AC3E}">
        <p14:creationId xmlns:p14="http://schemas.microsoft.com/office/powerpoint/2010/main" val="30143442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sz="3100"/>
              <a:t>Operational Review (Kanban) </a:t>
            </a:r>
          </a:p>
        </p:txBody>
      </p:sp>
      <p:sp>
        <p:nvSpPr>
          <p:cNvPr id="41987" name="Content Placeholder 2"/>
          <p:cNvSpPr>
            <a:spLocks noGrp="1"/>
          </p:cNvSpPr>
          <p:nvPr>
            <p:ph idx="1"/>
          </p:nvPr>
        </p:nvSpPr>
        <p:spPr>
          <a:xfrm>
            <a:off x="502920" y="1813560"/>
            <a:ext cx="9052560" cy="2811026"/>
          </a:xfrm>
        </p:spPr>
        <p:txBody>
          <a:bodyPr/>
          <a:lstStyle/>
          <a:p>
            <a:r>
              <a:rPr lang="en-US" sz="1600"/>
              <a:t>Kanban uses a monthly operations review meeting that involves all team members across an organization, plus senior management, and up- and down-stream stakeholders. At operations review quantitative, objective, statistical data on the performance and capability of the system is reviewed openly by all involved and design changes to the system are proposed and assigned to managers for implementation. Through this operations review process Kanban insures that performance is boosted continuously through the wider group of stakeholders taking shared responsibility for the effectiveness of the system and the team of people operating it.</a:t>
            </a:r>
          </a:p>
          <a:p>
            <a:pPr>
              <a:buFont typeface="Arial" charset="0"/>
              <a:buNone/>
            </a:pPr>
            <a:endParaRPr lang="en-US" sz="1300"/>
          </a:p>
          <a:p>
            <a:pPr>
              <a:buFont typeface="Arial" charset="0"/>
              <a:buNone/>
            </a:pPr>
            <a:r>
              <a:rPr lang="en-US" sz="1600"/>
              <a:t>	For more information: </a:t>
            </a:r>
            <a:r>
              <a:rPr lang="en-US" sz="1600">
                <a:hlinkClick r:id="rId2"/>
              </a:rPr>
              <a:t>http://agilemanagement.net/index.php/Blog/kanban_and_the_doi/</a:t>
            </a:r>
            <a:endParaRPr lang="en-US" sz="1600"/>
          </a:p>
        </p:txBody>
      </p:sp>
    </p:spTree>
    <p:extLst>
      <p:ext uri="{BB962C8B-B14F-4D97-AF65-F5344CB8AC3E}">
        <p14:creationId xmlns:p14="http://schemas.microsoft.com/office/powerpoint/2010/main" val="108692590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sz="3100"/>
              <a:t>Portfolio Kanban</a:t>
            </a:r>
          </a:p>
        </p:txBody>
      </p:sp>
      <p:sp>
        <p:nvSpPr>
          <p:cNvPr id="43011" name="Content Placeholder 2"/>
          <p:cNvSpPr>
            <a:spLocks noGrp="1"/>
          </p:cNvSpPr>
          <p:nvPr>
            <p:ph idx="1"/>
          </p:nvPr>
        </p:nvSpPr>
        <p:spPr>
          <a:xfrm>
            <a:off x="502920" y="1813560"/>
            <a:ext cx="9052560" cy="2882840"/>
          </a:xfrm>
        </p:spPr>
        <p:txBody>
          <a:bodyPr/>
          <a:lstStyle/>
          <a:p>
            <a:r>
              <a:rPr lang="en-US" sz="1600"/>
              <a:t>The Product Portfolio Kanban layers a Kanban flow on top of the agile delivery process to manage and optimize the delivery of organizational value. It is used to provide:</a:t>
            </a:r>
          </a:p>
          <a:p>
            <a:pPr>
              <a:buFont typeface="Arial" charset="0"/>
              <a:buNone/>
            </a:pPr>
            <a:endParaRPr lang="en-US" sz="1600"/>
          </a:p>
          <a:p>
            <a:pPr lvl="1"/>
            <a:r>
              <a:rPr lang="en-US" sz="1300"/>
              <a:t>Executive visibility into the product development flow </a:t>
            </a:r>
          </a:p>
          <a:p>
            <a:pPr lvl="1"/>
            <a:r>
              <a:rPr lang="en-US" sz="1300"/>
              <a:t>Strategic allocation and bottleneck avoidance </a:t>
            </a:r>
          </a:p>
          <a:p>
            <a:pPr lvl="1"/>
            <a:r>
              <a:rPr lang="en-US" sz="1300"/>
              <a:t>Full cycle mapping of delivered functionality back to requirements and revenue targets</a:t>
            </a:r>
          </a:p>
          <a:p>
            <a:pPr lvl="1"/>
            <a:r>
              <a:rPr lang="en-US" sz="1300"/>
              <a:t>Results-based prioritization</a:t>
            </a:r>
          </a:p>
          <a:p>
            <a:pPr lvl="1">
              <a:buFont typeface="Arial" charset="0"/>
              <a:buNone/>
            </a:pPr>
            <a:endParaRPr lang="en-US" sz="1300"/>
          </a:p>
          <a:p>
            <a:pPr>
              <a:buFont typeface="Arial" charset="0"/>
              <a:buNone/>
            </a:pPr>
            <a:r>
              <a:rPr lang="en-US" sz="1600"/>
              <a:t>	For more information: </a:t>
            </a:r>
            <a:r>
              <a:rPr lang="en-US" sz="1600">
                <a:hlinkClick r:id="rId2"/>
              </a:rPr>
              <a:t>http://leankitblog.com/2011/06/make-process-policies-explicit/</a:t>
            </a:r>
            <a:endParaRPr lang="en-US" sz="1600"/>
          </a:p>
        </p:txBody>
      </p:sp>
    </p:spTree>
    <p:extLst>
      <p:ext uri="{BB962C8B-B14F-4D97-AF65-F5344CB8AC3E}">
        <p14:creationId xmlns:p14="http://schemas.microsoft.com/office/powerpoint/2010/main" val="7144047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sz="3100"/>
              <a:t>Policies with Kanban</a:t>
            </a:r>
          </a:p>
        </p:txBody>
      </p:sp>
      <p:sp>
        <p:nvSpPr>
          <p:cNvPr id="44035" name="Content Placeholder 2"/>
          <p:cNvSpPr>
            <a:spLocks noGrp="1"/>
          </p:cNvSpPr>
          <p:nvPr>
            <p:ph idx="1"/>
          </p:nvPr>
        </p:nvSpPr>
        <p:spPr>
          <a:xfrm>
            <a:off x="502920" y="1813560"/>
            <a:ext cx="9052560" cy="2364750"/>
          </a:xfrm>
        </p:spPr>
        <p:txBody>
          <a:bodyPr/>
          <a:lstStyle/>
          <a:p>
            <a:r>
              <a:rPr lang="en-US" sz="1600"/>
              <a:t>Explicit Policies used with Kanban are policies set to govern the usage of Kanban for the team to always keep in mind. Often policies are written on cards and placed on whiteboards at the top of the line that denotes the state transition, this visibility increases the effectiveness and ensures that it is followed to a greater degree.  As an example, policies may be set regarding the frequency of stand-ups, the method of demonstrating work completion etc.</a:t>
            </a:r>
          </a:p>
          <a:p>
            <a:pPr>
              <a:buFont typeface="Arial" charset="0"/>
              <a:buNone/>
            </a:pPr>
            <a:endParaRPr lang="en-US" sz="1600"/>
          </a:p>
          <a:p>
            <a:pPr>
              <a:buFont typeface="Arial" charset="0"/>
              <a:buNone/>
            </a:pPr>
            <a:r>
              <a:rPr lang="en-US" sz="1600"/>
              <a:t>	For more information: </a:t>
            </a:r>
            <a:r>
              <a:rPr lang="en-US" sz="1600">
                <a:hlinkClick r:id="rId2"/>
              </a:rPr>
              <a:t>http://leankitblog.com/2011/06/make-process-policies-explicit/</a:t>
            </a:r>
            <a:endParaRPr lang="en-US" sz="1600"/>
          </a:p>
        </p:txBody>
      </p:sp>
    </p:spTree>
    <p:extLst>
      <p:ext uri="{BB962C8B-B14F-4D97-AF65-F5344CB8AC3E}">
        <p14:creationId xmlns:p14="http://schemas.microsoft.com/office/powerpoint/2010/main" val="168473253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455772" y="139598"/>
            <a:ext cx="9163202" cy="743793"/>
          </a:xfrm>
        </p:spPr>
        <p:txBody>
          <a:bodyPr/>
          <a:lstStyle/>
          <a:p>
            <a:r>
              <a:rPr lang="en-US" sz="3100"/>
              <a:t>Classes of Service with Delivery Promise (Kanban) </a:t>
            </a:r>
          </a:p>
        </p:txBody>
      </p:sp>
      <p:sp>
        <p:nvSpPr>
          <p:cNvPr id="45059" name="Content Placeholder 2"/>
          <p:cNvSpPr>
            <a:spLocks noGrp="1"/>
          </p:cNvSpPr>
          <p:nvPr>
            <p:ph idx="1"/>
          </p:nvPr>
        </p:nvSpPr>
        <p:spPr>
          <a:xfrm>
            <a:off x="502920" y="1813560"/>
            <a:ext cx="9052560" cy="2364750"/>
          </a:xfrm>
        </p:spPr>
        <p:txBody>
          <a:bodyPr/>
          <a:lstStyle/>
          <a:p>
            <a:r>
              <a:rPr lang="en-US" sz="1600" dirty="0"/>
              <a:t>Classes of Service are categories of work separated by risk type. Since not all work are the same, organizations should try to prioritize work differently and allocate capacity appropriately. Using classes of service allows software delivery professionals to manage risk, flow of work, and improve predictability of work output. </a:t>
            </a:r>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smtClean="0">
                <a:hlinkClick r:id="rId2"/>
              </a:rPr>
              <a:t>http</a:t>
            </a:r>
            <a:r>
              <a:rPr lang="en-US" sz="1600" dirty="0">
                <a:hlinkClick r:id="rId2"/>
              </a:rPr>
              <a:t>://agileconsulting.blogspot.com/2010/07/using-class-of-service-concept.html</a:t>
            </a:r>
            <a:endParaRPr lang="en-US" sz="1600" dirty="0"/>
          </a:p>
        </p:txBody>
      </p:sp>
    </p:spTree>
    <p:extLst>
      <p:ext uri="{BB962C8B-B14F-4D97-AF65-F5344CB8AC3E}">
        <p14:creationId xmlns:p14="http://schemas.microsoft.com/office/powerpoint/2010/main" val="16120476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sz="3100"/>
              <a:t>Information Radiators</a:t>
            </a:r>
          </a:p>
        </p:txBody>
      </p:sp>
      <p:sp>
        <p:nvSpPr>
          <p:cNvPr id="46083" name="Content Placeholder 2"/>
          <p:cNvSpPr>
            <a:spLocks noGrp="1"/>
          </p:cNvSpPr>
          <p:nvPr>
            <p:ph idx="1"/>
          </p:nvPr>
        </p:nvSpPr>
        <p:spPr>
          <a:xfrm>
            <a:off x="502920" y="1813560"/>
            <a:ext cx="9052560" cy="2364750"/>
          </a:xfrm>
        </p:spPr>
        <p:txBody>
          <a:bodyPr/>
          <a:lstStyle/>
          <a:p>
            <a:r>
              <a:rPr lang="en-US" sz="1600"/>
              <a:t>An information radiator is an easily accessible large display of critical team information that is continuously updated. They are useful for displaying project progress in the form of work package states. Whiteboards, flip charts, poster boards or large electronic displays can all be used as the base media for an information radiator. How to update the information radiators may vary depending on rules set by the team.</a:t>
            </a:r>
          </a:p>
          <a:p>
            <a:pPr>
              <a:buFont typeface="Arial" charset="0"/>
              <a:buNone/>
            </a:pPr>
            <a:endParaRPr lang="en-US" sz="1600"/>
          </a:p>
          <a:p>
            <a:pPr>
              <a:buFont typeface="Arial" charset="0"/>
              <a:buNone/>
            </a:pPr>
            <a:r>
              <a:rPr lang="en-US" sz="1600"/>
              <a:t>	For more information: </a:t>
            </a:r>
            <a:r>
              <a:rPr lang="en-US" sz="1600">
                <a:hlinkClick r:id="rId2"/>
              </a:rPr>
              <a:t>http://www.agileadvice.com/archives/2005/05/information_rad.html</a:t>
            </a:r>
            <a:endParaRPr lang="en-US" sz="1600"/>
          </a:p>
        </p:txBody>
      </p:sp>
    </p:spTree>
    <p:extLst>
      <p:ext uri="{BB962C8B-B14F-4D97-AF65-F5344CB8AC3E}">
        <p14:creationId xmlns:p14="http://schemas.microsoft.com/office/powerpoint/2010/main" val="4103290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sz="3100"/>
              <a:t>Collaborative Workspaces</a:t>
            </a:r>
          </a:p>
        </p:txBody>
      </p:sp>
      <p:sp>
        <p:nvSpPr>
          <p:cNvPr id="47107" name="Content Placeholder 2"/>
          <p:cNvSpPr>
            <a:spLocks noGrp="1"/>
          </p:cNvSpPr>
          <p:nvPr>
            <p:ph idx="1"/>
          </p:nvPr>
        </p:nvSpPr>
        <p:spPr>
          <a:xfrm>
            <a:off x="502920" y="1813560"/>
            <a:ext cx="9052560" cy="3103414"/>
          </a:xfrm>
        </p:spPr>
        <p:txBody>
          <a:bodyPr/>
          <a:lstStyle/>
          <a:p>
            <a:r>
              <a:rPr lang="en-US" sz="1600"/>
              <a:t>Collaborative workspaces in Agile are workspaces that allows a team to physically work close together and promote flexible communication with minimal interruptions. The best form of communication is face-to-face engagement, where thoughts and feelings are best exchanged. With traditional workspaces, in order to communicate face to face, a meeting is typically setup, with the overhead caused by waits, cancelations, etc. This is avoided in a collaborative workspace where people may speak to each other whenever they need to, as long as the importance is reasonable. These workspaces are most effective with equipped with markers, a whiteboard, and information radiators.</a:t>
            </a:r>
          </a:p>
          <a:p>
            <a:pPr>
              <a:buFont typeface="Arial" charset="0"/>
              <a:buNone/>
            </a:pPr>
            <a:endParaRPr lang="en-US" sz="1600"/>
          </a:p>
          <a:p>
            <a:pPr>
              <a:buFont typeface="Arial" charset="0"/>
              <a:buNone/>
            </a:pPr>
            <a:r>
              <a:rPr lang="en-US" sz="1600"/>
              <a:t>	For more information: </a:t>
            </a:r>
            <a:r>
              <a:rPr lang="en-US" sz="1600">
                <a:hlinkClick r:id="rId2"/>
              </a:rPr>
              <a:t>http://www.infoq.com/articles/agile-team-room-wishlist</a:t>
            </a:r>
            <a:endParaRPr lang="en-US" sz="1600"/>
          </a:p>
        </p:txBody>
      </p:sp>
    </p:spTree>
    <p:extLst>
      <p:ext uri="{BB962C8B-B14F-4D97-AF65-F5344CB8AC3E}">
        <p14:creationId xmlns:p14="http://schemas.microsoft.com/office/powerpoint/2010/main" val="20403988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z="3100"/>
              <a:t>Product Lifecycle (RUP)</a:t>
            </a:r>
          </a:p>
        </p:txBody>
      </p:sp>
      <p:sp>
        <p:nvSpPr>
          <p:cNvPr id="48131" name="Content Placeholder 2"/>
          <p:cNvSpPr>
            <a:spLocks noGrp="1"/>
          </p:cNvSpPr>
          <p:nvPr>
            <p:ph idx="1"/>
          </p:nvPr>
        </p:nvSpPr>
        <p:spPr>
          <a:xfrm>
            <a:off x="502920" y="1813560"/>
            <a:ext cx="9052560" cy="4262705"/>
          </a:xfrm>
        </p:spPr>
        <p:txBody>
          <a:bodyPr/>
          <a:lstStyle/>
          <a:p>
            <a:r>
              <a:rPr lang="en-US" sz="1600" dirty="0"/>
              <a:t>A Product Lifecycle from RUP’s perspective consists of the following phases in order:</a:t>
            </a:r>
          </a:p>
          <a:p>
            <a:pPr>
              <a:buFont typeface="Arial" charset="0"/>
              <a:buNone/>
            </a:pPr>
            <a:endParaRPr lang="en-US" sz="1600" dirty="0"/>
          </a:p>
          <a:p>
            <a:pPr lvl="1">
              <a:buFont typeface="Calibri" pitchFamily="34" charset="0"/>
              <a:buAutoNum type="arabicPeriod"/>
            </a:pPr>
            <a:r>
              <a:rPr lang="en-US" sz="1300" dirty="0"/>
              <a:t>Inception</a:t>
            </a:r>
          </a:p>
          <a:p>
            <a:pPr lvl="1">
              <a:buFont typeface="Calibri" pitchFamily="34" charset="0"/>
              <a:buAutoNum type="arabicPeriod"/>
            </a:pPr>
            <a:r>
              <a:rPr lang="en-US" sz="1300" dirty="0"/>
              <a:t>Elaboration</a:t>
            </a:r>
          </a:p>
          <a:p>
            <a:pPr lvl="1">
              <a:buFont typeface="Calibri" pitchFamily="34" charset="0"/>
              <a:buAutoNum type="arabicPeriod"/>
            </a:pPr>
            <a:r>
              <a:rPr lang="en-US" sz="1300" dirty="0"/>
              <a:t>Construction</a:t>
            </a:r>
          </a:p>
          <a:p>
            <a:pPr lvl="1">
              <a:buFont typeface="Calibri" pitchFamily="34" charset="0"/>
              <a:buAutoNum type="arabicPeriod"/>
            </a:pPr>
            <a:r>
              <a:rPr lang="en-US" sz="1300" dirty="0"/>
              <a:t>Transition </a:t>
            </a:r>
          </a:p>
          <a:p>
            <a:pPr lvl="1">
              <a:buFont typeface="Arial" charset="0"/>
              <a:buNone/>
            </a:pPr>
            <a:endParaRPr lang="en-US" sz="1300" dirty="0"/>
          </a:p>
          <a:p>
            <a:r>
              <a:rPr lang="en-US" sz="1600" dirty="0"/>
              <a:t>Different workflows falls under one or more of the above phases more often than others. For example, throughout a product’s lifecycle, Business Modeling happens mostly in the Inception phase, and dies off towards the transition stage.</a:t>
            </a:r>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a:hlinkClick r:id="rId2"/>
              </a:rPr>
              <a:t>http://www.ibm.com/developerworks/rational/library/sep05/rose/index.html</a:t>
            </a:r>
            <a:endParaRPr lang="en-US" sz="1600" dirty="0"/>
          </a:p>
        </p:txBody>
      </p:sp>
    </p:spTree>
    <p:extLst>
      <p:ext uri="{BB962C8B-B14F-4D97-AF65-F5344CB8AC3E}">
        <p14:creationId xmlns:p14="http://schemas.microsoft.com/office/powerpoint/2010/main" val="10620970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sz="3100"/>
              <a:t>Work Ticket Types</a:t>
            </a:r>
          </a:p>
        </p:txBody>
      </p:sp>
      <p:sp>
        <p:nvSpPr>
          <p:cNvPr id="49155" name="Content Placeholder 2"/>
          <p:cNvSpPr>
            <a:spLocks noGrp="1"/>
          </p:cNvSpPr>
          <p:nvPr>
            <p:ph idx="1"/>
          </p:nvPr>
        </p:nvSpPr>
        <p:spPr>
          <a:xfrm>
            <a:off x="502920" y="1813560"/>
            <a:ext cx="9052560" cy="2290371"/>
          </a:xfrm>
        </p:spPr>
        <p:txBody>
          <a:bodyPr/>
          <a:lstStyle/>
          <a:p>
            <a:r>
              <a:rPr lang="en-US" sz="1600" dirty="0"/>
              <a:t>Work Ticket Types are categories of the work matching the context of a particular software delivery environment. When all work is tagged and defined using standardized work ticket types, managing and measuring becomes easier, and thus improving overall process effectiveness. It is used to model inherent variability for different types of work. Types may be based on a number of dimensions, source, complexity, effort, technology, specialization, frequency, risk, value, etc.</a:t>
            </a:r>
            <a:br>
              <a:rPr lang="en-US" sz="1600" dirty="0"/>
            </a:br>
            <a:endParaRPr lang="en-US" sz="1600" dirty="0"/>
          </a:p>
          <a:p>
            <a:pPr>
              <a:buFont typeface="Arial" charset="0"/>
              <a:buNone/>
            </a:pPr>
            <a:r>
              <a:rPr lang="en-US" sz="1600" dirty="0" smtClean="0"/>
              <a:t>For </a:t>
            </a:r>
            <a:r>
              <a:rPr lang="en-US" sz="1600" dirty="0"/>
              <a:t>more information: </a:t>
            </a:r>
            <a:r>
              <a:rPr lang="en-US" sz="1600" dirty="0">
                <a:hlinkClick r:id="rId2"/>
              </a:rPr>
              <a:t>http://agileconsulting.blogspot.com/2010/12/using-standardized-work-types-to-enable.html</a:t>
            </a:r>
            <a:endParaRPr lang="en-US" sz="1600" dirty="0"/>
          </a:p>
        </p:txBody>
      </p:sp>
    </p:spTree>
    <p:extLst>
      <p:ext uri="{BB962C8B-B14F-4D97-AF65-F5344CB8AC3E}">
        <p14:creationId xmlns:p14="http://schemas.microsoft.com/office/powerpoint/2010/main" val="129505655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sz="3100"/>
              <a:t>Statistical Process Control (SPC) Charts </a:t>
            </a:r>
          </a:p>
        </p:txBody>
      </p:sp>
      <p:sp>
        <p:nvSpPr>
          <p:cNvPr id="50179" name="Content Placeholder 2"/>
          <p:cNvSpPr>
            <a:spLocks noGrp="1"/>
          </p:cNvSpPr>
          <p:nvPr>
            <p:ph idx="1"/>
          </p:nvPr>
        </p:nvSpPr>
        <p:spPr>
          <a:xfrm>
            <a:off x="502920" y="1813560"/>
            <a:ext cx="9052560" cy="3177793"/>
          </a:xfrm>
        </p:spPr>
        <p:txBody>
          <a:bodyPr/>
          <a:lstStyle/>
          <a:p>
            <a:r>
              <a:rPr lang="en-US" sz="1600"/>
              <a:t>Statistical Process Control Charts are charts to determine whether or not a business process is in a state of statistical control. The goal of SPC is to ensure that a process behaves predictably to produce the end product as much as possible while minimizing waste. The chart allows the team to monitor and control of a process to ensure that it operates at its full potential. It is used to measure and understand variability in work types and help with identifying outliers for improvement opportunities, which can help with setting delivery promises and due date performance.</a:t>
            </a:r>
          </a:p>
          <a:p>
            <a:endParaRPr lang="en-US" sz="1600"/>
          </a:p>
          <a:p>
            <a:endParaRPr lang="en-US" sz="1600"/>
          </a:p>
          <a:p>
            <a:pPr>
              <a:buFont typeface="Arial" charset="0"/>
              <a:buNone/>
            </a:pPr>
            <a:r>
              <a:rPr lang="en-US" sz="1600"/>
              <a:t>	For more information: </a:t>
            </a:r>
            <a:r>
              <a:rPr lang="en-US" sz="1600">
                <a:hlinkClick r:id="rId2"/>
              </a:rPr>
              <a:t>http://en.wikipedia.org/wiki/Statistical_process_control</a:t>
            </a:r>
            <a:endParaRPr lang="en-US" sz="1600"/>
          </a:p>
        </p:txBody>
      </p:sp>
    </p:spTree>
    <p:extLst>
      <p:ext uri="{BB962C8B-B14F-4D97-AF65-F5344CB8AC3E}">
        <p14:creationId xmlns:p14="http://schemas.microsoft.com/office/powerpoint/2010/main" val="17247900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sz="3100"/>
              <a:t>Cumulative Flow Diagrams</a:t>
            </a:r>
          </a:p>
        </p:txBody>
      </p:sp>
      <p:sp>
        <p:nvSpPr>
          <p:cNvPr id="51203" name="Content Placeholder 2"/>
          <p:cNvSpPr>
            <a:spLocks noGrp="1"/>
          </p:cNvSpPr>
          <p:nvPr>
            <p:ph idx="1"/>
          </p:nvPr>
        </p:nvSpPr>
        <p:spPr>
          <a:xfrm>
            <a:off x="502920" y="1813560"/>
            <a:ext cx="9052560" cy="2857192"/>
          </a:xfrm>
        </p:spPr>
        <p:txBody>
          <a:bodyPr/>
          <a:lstStyle/>
          <a:p>
            <a:r>
              <a:rPr lang="en-US" sz="1600" dirty="0"/>
              <a:t>Cumulative Flow Diagrams are used in Lean to intuitively display in a visual way the amount of work done, being worked on (WIP), and to be worked on, in a time series, as well as throughput and average lead time. It is used to track project progress and allows the team to quickly see how close they are to completion of a project,  and can also help analyze flow problems, spikes in WIP over time and identify themes and trends in work and where bottlenecks or waste appears. </a:t>
            </a:r>
          </a:p>
          <a:p>
            <a:pPr>
              <a:buFont typeface="Arial" charset="0"/>
              <a:buNone/>
            </a:pPr>
            <a:endParaRPr lang="en-US" sz="1600" dirty="0"/>
          </a:p>
          <a:p>
            <a:pPr>
              <a:buFont typeface="Arial" charset="0"/>
              <a:buNone/>
            </a:pPr>
            <a:r>
              <a:rPr lang="en-US" sz="1600" dirty="0" smtClean="0"/>
              <a:t>For </a:t>
            </a:r>
            <a:r>
              <a:rPr lang="en-US" sz="1600" dirty="0"/>
              <a:t>more </a:t>
            </a:r>
            <a:r>
              <a:rPr lang="en-US" sz="1600" dirty="0" smtClean="0"/>
              <a:t>information: </a:t>
            </a:r>
            <a:r>
              <a:rPr lang="en-US" sz="1600" dirty="0" smtClean="0">
                <a:hlinkClick r:id="rId2"/>
              </a:rPr>
              <a:t>http</a:t>
            </a:r>
            <a:r>
              <a:rPr lang="en-US" sz="1600" dirty="0">
                <a:hlinkClick r:id="rId2"/>
              </a:rPr>
              <a:t>://leadinganswers.typepad.com/leading_answers/files/creating_and_interpreting_cumulative_flow_diagrams.pdf</a:t>
            </a:r>
            <a:endParaRPr lang="en-US" sz="1600" dirty="0"/>
          </a:p>
        </p:txBody>
      </p:sp>
    </p:spTree>
    <p:extLst>
      <p:ext uri="{BB962C8B-B14F-4D97-AF65-F5344CB8AC3E}">
        <p14:creationId xmlns:p14="http://schemas.microsoft.com/office/powerpoint/2010/main" val="355803197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sz="3100"/>
              <a:t>Cost of Delay</a:t>
            </a:r>
          </a:p>
        </p:txBody>
      </p:sp>
      <p:sp>
        <p:nvSpPr>
          <p:cNvPr id="52227" name="Content Placeholder 2"/>
          <p:cNvSpPr>
            <a:spLocks noGrp="1"/>
          </p:cNvSpPr>
          <p:nvPr>
            <p:ph idx="1"/>
          </p:nvPr>
        </p:nvSpPr>
        <p:spPr>
          <a:xfrm>
            <a:off x="502920" y="1813560"/>
            <a:ext cx="9052560" cy="5260414"/>
          </a:xfrm>
        </p:spPr>
        <p:txBody>
          <a:bodyPr/>
          <a:lstStyle/>
          <a:p>
            <a:r>
              <a:rPr lang="en-US" sz="1600" dirty="0"/>
              <a:t>Cost of delay is a model to examine the cost to the business if a particular feature is delayed.  It is used to prioritize items effectively in planning stages. The typical types of cost of delays are as follows:</a:t>
            </a:r>
          </a:p>
          <a:p>
            <a:endParaRPr lang="en-US" sz="1600" dirty="0"/>
          </a:p>
          <a:p>
            <a:pPr lvl="1"/>
            <a:r>
              <a:rPr lang="en-US" sz="1600" b="1" dirty="0"/>
              <a:t>Normal</a:t>
            </a:r>
            <a:r>
              <a:rPr lang="en-US" sz="1600" dirty="0"/>
              <a:t> – Linear cost of delay, the longer it takes to deliver, the higher the cost, proportional to the time it was postponed</a:t>
            </a:r>
          </a:p>
          <a:p>
            <a:pPr lvl="1"/>
            <a:endParaRPr lang="en-US" sz="1600" dirty="0"/>
          </a:p>
          <a:p>
            <a:pPr lvl="1"/>
            <a:r>
              <a:rPr lang="en-US" sz="1600" b="1" dirty="0"/>
              <a:t>Expedite</a:t>
            </a:r>
            <a:r>
              <a:rPr lang="en-US" sz="1600" dirty="0"/>
              <a:t> – constant high cost of delay, e.g. emergencies</a:t>
            </a:r>
          </a:p>
          <a:p>
            <a:pPr lvl="1">
              <a:buFont typeface="Arial" charset="0"/>
              <a:buNone/>
            </a:pPr>
            <a:endParaRPr lang="en-US" sz="1600" dirty="0"/>
          </a:p>
          <a:p>
            <a:pPr lvl="1"/>
            <a:r>
              <a:rPr lang="en-US" sz="1600" b="1" dirty="0"/>
              <a:t>Fixed Date</a:t>
            </a:r>
            <a:r>
              <a:rPr lang="en-US" sz="1600" dirty="0"/>
              <a:t> – features that have a fixed date that they must be ready by, so there is no cost of delay before the date, but a constantly high cost of delay after the date</a:t>
            </a:r>
          </a:p>
          <a:p>
            <a:pPr lvl="1">
              <a:buFont typeface="Arial" charset="0"/>
              <a:buNone/>
            </a:pPr>
            <a:endParaRPr lang="en-US" sz="1600" dirty="0"/>
          </a:p>
          <a:p>
            <a:pPr lvl="1"/>
            <a:r>
              <a:rPr lang="en-US" sz="1600" b="1" dirty="0"/>
              <a:t>Intangible</a:t>
            </a:r>
            <a:r>
              <a:rPr lang="en-US" sz="1600" dirty="0"/>
              <a:t> – Long term need of a feature without any immediate need but will eventually create high cost of delay </a:t>
            </a:r>
          </a:p>
          <a:p>
            <a:endParaRPr lang="en-US" sz="1600" dirty="0"/>
          </a:p>
          <a:p>
            <a:pPr>
              <a:buFont typeface="Arial" charset="0"/>
              <a:buNone/>
            </a:pPr>
            <a:r>
              <a:rPr lang="en-US" sz="1600" dirty="0"/>
              <a:t>	For more information: </a:t>
            </a:r>
            <a:r>
              <a:rPr lang="en-US" sz="1600" dirty="0">
                <a:hlinkClick r:id="rId2"/>
              </a:rPr>
              <a:t>http://toolsforagile.com/blog/archives/647</a:t>
            </a:r>
            <a:endParaRPr lang="en-US" sz="1600" dirty="0"/>
          </a:p>
        </p:txBody>
      </p:sp>
    </p:spTree>
    <p:extLst>
      <p:ext uri="{BB962C8B-B14F-4D97-AF65-F5344CB8AC3E}">
        <p14:creationId xmlns:p14="http://schemas.microsoft.com/office/powerpoint/2010/main" val="285105200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sz="3100"/>
              <a:t>Issue Management using Kanban</a:t>
            </a:r>
          </a:p>
        </p:txBody>
      </p:sp>
      <p:sp>
        <p:nvSpPr>
          <p:cNvPr id="53251" name="Content Placeholder 2"/>
          <p:cNvSpPr>
            <a:spLocks noGrp="1"/>
          </p:cNvSpPr>
          <p:nvPr>
            <p:ph idx="1"/>
          </p:nvPr>
        </p:nvSpPr>
        <p:spPr>
          <a:xfrm>
            <a:off x="502920" y="1813560"/>
            <a:ext cx="9052560" cy="2857192"/>
          </a:xfrm>
        </p:spPr>
        <p:txBody>
          <a:bodyPr/>
          <a:lstStyle/>
          <a:p>
            <a:r>
              <a:rPr lang="en-US" sz="1600" dirty="0"/>
              <a:t>Issue Tracking with Kanban consists of using tickets and tags to quickly mark and be able to identify issues. For example, a red sticker may be stuck onto a ticket with a description about the issue written on it, to represent a blocker.  Furthermore, a “Parking Lot List” can be used by facilitators to capture unresolved issues, it’s not only effective for keeping track of issues but also allows the team quickly get a sense of how many issues there are at any given time.</a:t>
            </a:r>
          </a:p>
          <a:p>
            <a:endParaRPr lang="en-US" sz="1600" dirty="0"/>
          </a:p>
          <a:p>
            <a:pPr>
              <a:buFont typeface="Arial" charset="0"/>
              <a:buNone/>
            </a:pPr>
            <a:r>
              <a:rPr lang="en-US" sz="1600" dirty="0" smtClean="0"/>
              <a:t>For </a:t>
            </a:r>
            <a:r>
              <a:rPr lang="en-US" sz="1600" dirty="0"/>
              <a:t>more information: </a:t>
            </a:r>
            <a:r>
              <a:rPr lang="en-US" sz="1600" dirty="0">
                <a:hlinkClick r:id="rId2"/>
              </a:rPr>
              <a:t>http://leadinganswers.typepad.com/leading_answers/files/creating_and_interpreting_cumulative_flow_diagrams.pdf</a:t>
            </a:r>
            <a:endParaRPr lang="en-US" sz="1600" dirty="0"/>
          </a:p>
        </p:txBody>
      </p:sp>
    </p:spTree>
    <p:extLst>
      <p:ext uri="{BB962C8B-B14F-4D97-AF65-F5344CB8AC3E}">
        <p14:creationId xmlns:p14="http://schemas.microsoft.com/office/powerpoint/2010/main" val="94823552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sz="3100"/>
              <a:t>Tasks</a:t>
            </a:r>
          </a:p>
        </p:txBody>
      </p:sp>
      <p:sp>
        <p:nvSpPr>
          <p:cNvPr id="54275" name="Content Placeholder 2"/>
          <p:cNvSpPr>
            <a:spLocks noGrp="1"/>
          </p:cNvSpPr>
          <p:nvPr>
            <p:ph idx="1"/>
          </p:nvPr>
        </p:nvSpPr>
        <p:spPr>
          <a:xfrm>
            <a:off x="502920" y="1813560"/>
            <a:ext cx="9052560" cy="2857192"/>
          </a:xfrm>
        </p:spPr>
        <p:txBody>
          <a:bodyPr/>
          <a:lstStyle/>
          <a:p>
            <a:r>
              <a:rPr lang="en-US" sz="1600" dirty="0"/>
              <a:t>A task is a work item that’s assigned to a person in the team be it developer, test, architect </a:t>
            </a:r>
            <a:r>
              <a:rPr lang="en-US" sz="1600" dirty="0" err="1"/>
              <a:t>etc</a:t>
            </a:r>
            <a:r>
              <a:rPr lang="en-US" sz="1600" dirty="0"/>
              <a:t>, who takes full responsibility of this item. Agile stories are broken down into a collection of these tasks that must be performed to complete the story in one sprint. Tasks should be well defined to eliminate unnecessary steps and establishing clear ownership. The person assigned with the task are expected to report on their progress of the item and ensure that blockers and issues attached to the task are resolved as soon as possible.</a:t>
            </a:r>
            <a:endParaRPr lang="en-US" altLang="ja-JP" sz="1600" dirty="0"/>
          </a:p>
          <a:p>
            <a:endParaRPr lang="en-US" sz="1600" dirty="0"/>
          </a:p>
          <a:p>
            <a:pPr>
              <a:buFont typeface="Arial" charset="0"/>
              <a:buNone/>
            </a:pPr>
            <a:r>
              <a:rPr lang="en-US" sz="1600" dirty="0" smtClean="0"/>
              <a:t>For </a:t>
            </a:r>
            <a:r>
              <a:rPr lang="en-US" sz="1600" dirty="0"/>
              <a:t>more information: </a:t>
            </a:r>
            <a:r>
              <a:rPr lang="en-US" sz="1600" dirty="0">
                <a:hlinkClick r:id="rId2"/>
              </a:rPr>
              <a:t>http://www.agilean.com/resources/faqs/agile_lean_glossary/agile_lean_glossary.htm#T</a:t>
            </a:r>
            <a:endParaRPr lang="en-US" sz="1600" dirty="0"/>
          </a:p>
        </p:txBody>
      </p:sp>
    </p:spTree>
    <p:extLst>
      <p:ext uri="{BB962C8B-B14F-4D97-AF65-F5344CB8AC3E}">
        <p14:creationId xmlns:p14="http://schemas.microsoft.com/office/powerpoint/2010/main" val="165853554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sz="3100"/>
              <a:t>Agile Work/Planning Board</a:t>
            </a:r>
          </a:p>
        </p:txBody>
      </p:sp>
      <p:sp>
        <p:nvSpPr>
          <p:cNvPr id="55299" name="Content Placeholder 2"/>
          <p:cNvSpPr>
            <a:spLocks noGrp="1"/>
          </p:cNvSpPr>
          <p:nvPr>
            <p:ph idx="1"/>
          </p:nvPr>
        </p:nvSpPr>
        <p:spPr>
          <a:xfrm>
            <a:off x="502920" y="1813560"/>
            <a:ext cx="9052560" cy="3177793"/>
          </a:xfrm>
        </p:spPr>
        <p:txBody>
          <a:bodyPr/>
          <a:lstStyle/>
          <a:p>
            <a:r>
              <a:rPr lang="en-US" sz="1600" dirty="0"/>
              <a:t>The task board displays all the completed, currently working on, and to be worked on tasks. It is the single most important information radiator for an agile team. It can be organized in various ways depending on how the team wants to design it. It allows the team to quickly see the progress of achieving their sprint goals. The board is located in a common and easily accessible area where the team can go to for updating their tasks any time. </a:t>
            </a:r>
          </a:p>
          <a:p>
            <a:endParaRPr lang="en-US" sz="1600" dirty="0"/>
          </a:p>
          <a:p>
            <a:pPr>
              <a:buFont typeface="Arial" charset="0"/>
              <a:buNone/>
            </a:pPr>
            <a:r>
              <a:rPr lang="en-US" sz="1600" dirty="0" smtClean="0"/>
              <a:t>For </a:t>
            </a:r>
            <a:r>
              <a:rPr lang="en-US" sz="1600" dirty="0"/>
              <a:t>more information: </a:t>
            </a:r>
            <a:r>
              <a:rPr lang="en-US" sz="1600" dirty="0" smtClean="0">
                <a:hlinkClick r:id="rId2"/>
              </a:rPr>
              <a:t>http</a:t>
            </a:r>
            <a:r>
              <a:rPr lang="en-US" sz="1600" dirty="0">
                <a:hlinkClick r:id="rId2"/>
              </a:rPr>
              <a:t>://agiletools.wordpress.com/2007/11/24/task-boards-telling-a-compelling-agile-story/</a:t>
            </a:r>
            <a:endParaRPr lang="en-US" sz="1600" dirty="0"/>
          </a:p>
          <a:p>
            <a:pPr>
              <a:buFont typeface="Arial" charset="0"/>
              <a:buNone/>
            </a:pPr>
            <a:endParaRPr lang="en-US" sz="1600" dirty="0"/>
          </a:p>
        </p:txBody>
      </p:sp>
    </p:spTree>
    <p:extLst>
      <p:ext uri="{BB962C8B-B14F-4D97-AF65-F5344CB8AC3E}">
        <p14:creationId xmlns:p14="http://schemas.microsoft.com/office/powerpoint/2010/main" val="400138686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sz="3100"/>
              <a:t>Tasks</a:t>
            </a:r>
          </a:p>
        </p:txBody>
      </p:sp>
      <p:sp>
        <p:nvSpPr>
          <p:cNvPr id="56323" name="Content Placeholder 2"/>
          <p:cNvSpPr>
            <a:spLocks noGrp="1"/>
          </p:cNvSpPr>
          <p:nvPr>
            <p:ph idx="1"/>
          </p:nvPr>
        </p:nvSpPr>
        <p:spPr>
          <a:xfrm>
            <a:off x="502920" y="1813560"/>
            <a:ext cx="9052560" cy="2857192"/>
          </a:xfrm>
        </p:spPr>
        <p:txBody>
          <a:bodyPr/>
          <a:lstStyle/>
          <a:p>
            <a:r>
              <a:rPr lang="en-US" sz="1600" dirty="0"/>
              <a:t>A task is a work item that’s assigned to a person in the team be it developer, test, architect </a:t>
            </a:r>
            <a:r>
              <a:rPr lang="en-US" sz="1600" dirty="0" err="1"/>
              <a:t>etc</a:t>
            </a:r>
            <a:r>
              <a:rPr lang="en-US" sz="1600" dirty="0"/>
              <a:t>, who takes full responsibility of this item. Agile stories are broken down into a collection of these tasks that must be performed to complete the story in one sprint. Tasks should be well defined to eliminate unnecessary steps and establishing clear ownership. The person assigned with the task are expected to report on their progress of the item and ensure that blockers and issues attached to the task are resolved as soon as possible.</a:t>
            </a:r>
            <a:endParaRPr lang="en-US" altLang="ja-JP" sz="1600" dirty="0"/>
          </a:p>
          <a:p>
            <a:endParaRPr lang="en-US" sz="1600" dirty="0"/>
          </a:p>
          <a:p>
            <a:pPr>
              <a:buFont typeface="Arial" charset="0"/>
              <a:buNone/>
            </a:pPr>
            <a:r>
              <a:rPr lang="en-US" sz="1600" dirty="0" smtClean="0"/>
              <a:t>For </a:t>
            </a:r>
            <a:r>
              <a:rPr lang="en-US" sz="1600" dirty="0"/>
              <a:t>more information: </a:t>
            </a:r>
            <a:r>
              <a:rPr lang="en-US" sz="1600" dirty="0">
                <a:hlinkClick r:id="rId2"/>
              </a:rPr>
              <a:t>http://www.agilean.com/resources/faqs/agile_lean_glossary/agile_lean_glossary.htm#T</a:t>
            </a:r>
            <a:endParaRPr lang="en-US" sz="1600" dirty="0"/>
          </a:p>
        </p:txBody>
      </p:sp>
    </p:spTree>
    <p:extLst>
      <p:ext uri="{BB962C8B-B14F-4D97-AF65-F5344CB8AC3E}">
        <p14:creationId xmlns:p14="http://schemas.microsoft.com/office/powerpoint/2010/main" val="170010496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sz="3100"/>
              <a:t>Iteration Plan</a:t>
            </a:r>
          </a:p>
        </p:txBody>
      </p:sp>
      <p:sp>
        <p:nvSpPr>
          <p:cNvPr id="57347" name="Content Placeholder 2"/>
          <p:cNvSpPr>
            <a:spLocks noGrp="1"/>
          </p:cNvSpPr>
          <p:nvPr>
            <p:ph idx="1"/>
          </p:nvPr>
        </p:nvSpPr>
        <p:spPr>
          <a:xfrm>
            <a:off x="502920" y="1813560"/>
            <a:ext cx="9052560" cy="2364750"/>
          </a:xfrm>
        </p:spPr>
        <p:txBody>
          <a:bodyPr/>
          <a:lstStyle/>
          <a:p>
            <a:r>
              <a:rPr lang="en-US" sz="1600"/>
              <a:t>At the start of each iteration the team pulls a set of requirements based on historical velocity/commitment from the team as well as the priority of the item from the back log. Then, agile estimation is conducted and a detailed plan is created with estimates for the delivery team to develop against. It is facilitated with an iteration planning session with the entire team (cross-functional) and may have business representation for prioritization.</a:t>
            </a:r>
          </a:p>
          <a:p>
            <a:endParaRPr lang="en-US" sz="1600"/>
          </a:p>
          <a:p>
            <a:pPr>
              <a:buFont typeface="Arial" charset="0"/>
              <a:buNone/>
            </a:pPr>
            <a:r>
              <a:rPr lang="en-US" sz="1600"/>
              <a:t>	For more information: </a:t>
            </a:r>
            <a:r>
              <a:rPr lang="en-US" sz="1600">
                <a:hlinkClick r:id="rId2"/>
              </a:rPr>
              <a:t>http://www.extremeprogramming.org/rules/iterationplanning.html</a:t>
            </a:r>
            <a:endParaRPr lang="en-US" sz="1600"/>
          </a:p>
        </p:txBody>
      </p:sp>
    </p:spTree>
    <p:extLst>
      <p:ext uri="{BB962C8B-B14F-4D97-AF65-F5344CB8AC3E}">
        <p14:creationId xmlns:p14="http://schemas.microsoft.com/office/powerpoint/2010/main" val="68720237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sz="3100"/>
              <a:t>Release Plan</a:t>
            </a:r>
          </a:p>
        </p:txBody>
      </p:sp>
      <p:sp>
        <p:nvSpPr>
          <p:cNvPr id="58371" name="Content Placeholder 2"/>
          <p:cNvSpPr>
            <a:spLocks noGrp="1"/>
          </p:cNvSpPr>
          <p:nvPr>
            <p:ph idx="1"/>
          </p:nvPr>
        </p:nvSpPr>
        <p:spPr>
          <a:xfrm>
            <a:off x="502920" y="1813560"/>
            <a:ext cx="9052560" cy="2610971"/>
          </a:xfrm>
        </p:spPr>
        <p:txBody>
          <a:bodyPr/>
          <a:lstStyle/>
          <a:p>
            <a:r>
              <a:rPr lang="en-US" sz="1600"/>
              <a:t>At the start of each project the team defines a high-level project plan consisting of release milestones with clear functional and integration objectives omitting details such as activities/tasks. The release plan specifies which user stories are going to be implemented for each system release and dates for those releases. A subset of these stories are then chosen during the iteration planning meeting to be implemented during the next iteration. These selected stories are then translated into individual programming tasks to be implemented and also into acceptance tests during the iteration.</a:t>
            </a:r>
          </a:p>
          <a:p>
            <a:endParaRPr lang="en-US" sz="1600"/>
          </a:p>
          <a:p>
            <a:pPr>
              <a:buFont typeface="Arial" charset="0"/>
              <a:buNone/>
            </a:pPr>
            <a:r>
              <a:rPr lang="en-US" sz="1600"/>
              <a:t>	For more information: </a:t>
            </a:r>
            <a:r>
              <a:rPr lang="en-US" sz="1600">
                <a:hlinkClick r:id="rId2"/>
              </a:rPr>
              <a:t>http://www.extremeprogramming.org/rules/commit.html</a:t>
            </a:r>
            <a:endParaRPr lang="en-US" sz="1600"/>
          </a:p>
        </p:txBody>
      </p:sp>
    </p:spTree>
    <p:extLst>
      <p:ext uri="{BB962C8B-B14F-4D97-AF65-F5344CB8AC3E}">
        <p14:creationId xmlns:p14="http://schemas.microsoft.com/office/powerpoint/2010/main" val="45036520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sz="3100"/>
              <a:t>Self-organizing Teams</a:t>
            </a:r>
          </a:p>
        </p:txBody>
      </p:sp>
      <p:sp>
        <p:nvSpPr>
          <p:cNvPr id="59395" name="Content Placeholder 2"/>
          <p:cNvSpPr>
            <a:spLocks noGrp="1"/>
          </p:cNvSpPr>
          <p:nvPr>
            <p:ph idx="1"/>
          </p:nvPr>
        </p:nvSpPr>
        <p:spPr>
          <a:xfrm>
            <a:off x="502920" y="1813560"/>
            <a:ext cx="9052560" cy="2118529"/>
          </a:xfrm>
        </p:spPr>
        <p:txBody>
          <a:bodyPr/>
          <a:lstStyle/>
          <a:p>
            <a:r>
              <a:rPr lang="en-US" sz="1600"/>
              <a:t>Self-organizing teams are teams formed naturally without explicitly assigning roles. The team works towards a defined deadline that they have decided. Frequent and effective face to face communication is used to decide on how to track progress, develop, collaborate, divide tasks etc in order to develop working software.</a:t>
            </a:r>
          </a:p>
          <a:p>
            <a:endParaRPr lang="en-US" sz="1600"/>
          </a:p>
          <a:p>
            <a:pPr>
              <a:buFont typeface="Arial" charset="0"/>
              <a:buNone/>
            </a:pPr>
            <a:r>
              <a:rPr lang="en-US" sz="1600"/>
              <a:t>	For more information: </a:t>
            </a:r>
            <a:r>
              <a:rPr lang="en-US" sz="1600">
                <a:hlinkClick r:id="rId2"/>
              </a:rPr>
              <a:t>http://www.agilecollab.com/self-organizing-team</a:t>
            </a:r>
            <a:endParaRPr lang="en-US" sz="1600"/>
          </a:p>
        </p:txBody>
      </p:sp>
    </p:spTree>
    <p:extLst>
      <p:ext uri="{BB962C8B-B14F-4D97-AF65-F5344CB8AC3E}">
        <p14:creationId xmlns:p14="http://schemas.microsoft.com/office/powerpoint/2010/main" val="7160873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sz="3100"/>
              <a:t>Planning Poker</a:t>
            </a:r>
          </a:p>
        </p:txBody>
      </p:sp>
      <p:sp>
        <p:nvSpPr>
          <p:cNvPr id="60419" name="Content Placeholder 2"/>
          <p:cNvSpPr>
            <a:spLocks noGrp="1"/>
          </p:cNvSpPr>
          <p:nvPr>
            <p:ph idx="1"/>
          </p:nvPr>
        </p:nvSpPr>
        <p:spPr>
          <a:xfrm>
            <a:off x="502920" y="1813560"/>
            <a:ext cx="9052560" cy="5357877"/>
          </a:xfrm>
        </p:spPr>
        <p:txBody>
          <a:bodyPr/>
          <a:lstStyle/>
          <a:p>
            <a:r>
              <a:rPr lang="en-US" sz="1600" dirty="0"/>
              <a:t>Involve analysts, architects, developers and testers doing the work to estimate work together and prioritize items with business input. The game is usually played with cards showing the Fibonacci sequence including a zero: 0, 1, 2, 3, 5, 8, 13, 21, 34, 55, 89,  to reflect the inherent uncertainty in estimating larger items. A Moderator, who will not play, chairs the meeting and the game is played as follows:</a:t>
            </a:r>
          </a:p>
          <a:p>
            <a:pPr>
              <a:buFont typeface="Arial" charset="0"/>
              <a:buNone/>
            </a:pPr>
            <a:endParaRPr lang="en-US" sz="1300" dirty="0"/>
          </a:p>
          <a:p>
            <a:pPr lvl="1">
              <a:buFont typeface="Calibri" pitchFamily="34" charset="0"/>
              <a:buAutoNum type="arabicPeriod"/>
            </a:pPr>
            <a:r>
              <a:rPr lang="en-US" sz="1600" dirty="0"/>
              <a:t>The Product Manager provides a short overview and the team is given an opportunity to ask questions and discuss to clarify assumptions and risks</a:t>
            </a:r>
          </a:p>
          <a:p>
            <a:pPr lvl="1">
              <a:buFont typeface="Calibri" pitchFamily="34" charset="0"/>
              <a:buAutoNum type="arabicPeriod"/>
            </a:pPr>
            <a:r>
              <a:rPr lang="en-US" sz="1600" dirty="0"/>
              <a:t>Each individual lays a card face down representing their estimate</a:t>
            </a:r>
          </a:p>
          <a:p>
            <a:pPr lvl="1">
              <a:buFont typeface="Calibri" pitchFamily="34" charset="0"/>
              <a:buAutoNum type="arabicPeriod"/>
            </a:pPr>
            <a:r>
              <a:rPr lang="en-US" sz="1600" dirty="0"/>
              <a:t>Everyone calls their cards simultaneously by turning them over</a:t>
            </a:r>
          </a:p>
          <a:p>
            <a:pPr lvl="1">
              <a:buFont typeface="Calibri" pitchFamily="34" charset="0"/>
              <a:buAutoNum type="arabicPeriod"/>
            </a:pPr>
            <a:r>
              <a:rPr lang="en-US" sz="1600" dirty="0"/>
              <a:t>People with high estimates and low estimates are given the opportunity to offer their justification for their estimate and then discussion continues</a:t>
            </a:r>
          </a:p>
          <a:p>
            <a:pPr lvl="1">
              <a:buFont typeface="Calibri" pitchFamily="34" charset="0"/>
              <a:buAutoNum type="arabicPeriod"/>
            </a:pPr>
            <a:r>
              <a:rPr lang="en-US" sz="1600" dirty="0"/>
              <a:t>Repeat the estimation process until a consensus is reached. The developer who was likely to own the deliverable has a large portion of the "consensus vote", although the Moderator can negotiate the consensus</a:t>
            </a:r>
            <a:endParaRPr lang="en-US" altLang="ja-JP" sz="1600" dirty="0"/>
          </a:p>
          <a:p>
            <a:endParaRPr lang="en-US" sz="1600" dirty="0"/>
          </a:p>
          <a:p>
            <a:pPr>
              <a:buFont typeface="Arial" charset="0"/>
              <a:buNone/>
            </a:pPr>
            <a:r>
              <a:rPr lang="en-US" sz="1600" dirty="0"/>
              <a:t>	For more information: </a:t>
            </a:r>
            <a:r>
              <a:rPr lang="en-US" sz="1600" dirty="0">
                <a:hlinkClick r:id="rId2"/>
              </a:rPr>
              <a:t>http://www.mountaingoatsoftware.com/books/1</a:t>
            </a:r>
            <a:endParaRPr lang="en-US" sz="1600" dirty="0"/>
          </a:p>
        </p:txBody>
      </p:sp>
    </p:spTree>
    <p:extLst>
      <p:ext uri="{BB962C8B-B14F-4D97-AF65-F5344CB8AC3E}">
        <p14:creationId xmlns:p14="http://schemas.microsoft.com/office/powerpoint/2010/main" val="171906357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sz="3100"/>
              <a:t>Definition of Done</a:t>
            </a:r>
          </a:p>
        </p:txBody>
      </p:sp>
      <p:sp>
        <p:nvSpPr>
          <p:cNvPr id="61443" name="Content Placeholder 2"/>
          <p:cNvSpPr>
            <a:spLocks noGrp="1"/>
          </p:cNvSpPr>
          <p:nvPr>
            <p:ph idx="1"/>
          </p:nvPr>
        </p:nvSpPr>
        <p:spPr>
          <a:xfrm>
            <a:off x="502920" y="1813560"/>
            <a:ext cx="9052560" cy="2364750"/>
          </a:xfrm>
        </p:spPr>
        <p:txBody>
          <a:bodyPr/>
          <a:lstStyle/>
          <a:p>
            <a:r>
              <a:rPr lang="en-US" sz="1600" dirty="0"/>
              <a:t>The definition of done is orthogonal to user acceptance criteria (functional acceptance) for a feature. It is a comprehensive checklist of necessary, value-added activities that assert the quality of a feature and not the functionality of that feature. Definition of done is informed by reality where it captures activities that can be realistically committed by the team to be completed at each level (feature, sprint, release).</a:t>
            </a:r>
            <a:endParaRPr lang="en-US" sz="1600" b="1" dirty="0"/>
          </a:p>
          <a:p>
            <a:endParaRPr lang="en-US" sz="1600" dirty="0"/>
          </a:p>
          <a:p>
            <a:pPr>
              <a:buFont typeface="Arial" charset="0"/>
              <a:buNone/>
            </a:pPr>
            <a:r>
              <a:rPr lang="en-US" sz="1600" dirty="0" smtClean="0"/>
              <a:t>For </a:t>
            </a:r>
            <a:r>
              <a:rPr lang="en-US" sz="1600" dirty="0"/>
              <a:t>more information: </a:t>
            </a:r>
            <a:r>
              <a:rPr lang="en-US" sz="1600" dirty="0">
                <a:hlinkClick r:id="rId2"/>
              </a:rPr>
              <a:t>http://www.scrumalliance.org/articles/105-what-is-definition-of-done-dod</a:t>
            </a:r>
            <a:endParaRPr lang="en-US" sz="1600" dirty="0"/>
          </a:p>
        </p:txBody>
      </p:sp>
    </p:spTree>
    <p:extLst>
      <p:ext uri="{BB962C8B-B14F-4D97-AF65-F5344CB8AC3E}">
        <p14:creationId xmlns:p14="http://schemas.microsoft.com/office/powerpoint/2010/main" val="257229564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sz="3100"/>
              <a:t>Kanban Workboard</a:t>
            </a:r>
          </a:p>
        </p:txBody>
      </p:sp>
      <p:sp>
        <p:nvSpPr>
          <p:cNvPr id="62467" name="Content Placeholder 2"/>
          <p:cNvSpPr>
            <a:spLocks noGrp="1"/>
          </p:cNvSpPr>
          <p:nvPr>
            <p:ph idx="1"/>
          </p:nvPr>
        </p:nvSpPr>
        <p:spPr>
          <a:xfrm>
            <a:off x="502920" y="1813560"/>
            <a:ext cx="9052560" cy="2610971"/>
          </a:xfrm>
        </p:spPr>
        <p:txBody>
          <a:bodyPr/>
          <a:lstStyle/>
          <a:p>
            <a:r>
              <a:rPr lang="en-US" sz="1600"/>
              <a:t>The Kanban Workboard helps the team visualize and quickly see the current state of the project and the work remaining. Tickets are used to represent tasks, and the board is separated and labeled with To Do, Doing, and Done, so statuses of tasks are indicated by where  the cards lie in. It can be used to achieve all three axes of the “iron triangle”: scope, speed, &amp; quality by enabling: </a:t>
            </a:r>
            <a:r>
              <a:rPr lang="en-US" altLang="ja-JP" sz="1600"/>
              <a:t>Visualization of Work, Limiting Work in Progress, Measuring &amp; Managing Flow, Making Process Policies Explicit, Continuous Improvement. </a:t>
            </a:r>
          </a:p>
          <a:p>
            <a:endParaRPr lang="en-US" sz="1600"/>
          </a:p>
          <a:p>
            <a:pPr>
              <a:buFont typeface="Arial" charset="0"/>
              <a:buNone/>
            </a:pPr>
            <a:r>
              <a:rPr lang="en-US" sz="1600"/>
              <a:t>	For more information: </a:t>
            </a:r>
            <a:r>
              <a:rPr lang="en-US" sz="1600">
                <a:hlinkClick r:id="rId2"/>
              </a:rPr>
              <a:t>http://www.infoq.com/articles/agile-kanban-boards</a:t>
            </a:r>
            <a:endParaRPr lang="en-US" sz="1600"/>
          </a:p>
        </p:txBody>
      </p:sp>
    </p:spTree>
    <p:extLst>
      <p:ext uri="{BB962C8B-B14F-4D97-AF65-F5344CB8AC3E}">
        <p14:creationId xmlns:p14="http://schemas.microsoft.com/office/powerpoint/2010/main" val="202782376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z="3100"/>
              <a:t>Daily Standups</a:t>
            </a:r>
          </a:p>
        </p:txBody>
      </p:sp>
      <p:sp>
        <p:nvSpPr>
          <p:cNvPr id="63491" name="Content Placeholder 2"/>
          <p:cNvSpPr>
            <a:spLocks noGrp="1"/>
          </p:cNvSpPr>
          <p:nvPr>
            <p:ph idx="1"/>
          </p:nvPr>
        </p:nvSpPr>
        <p:spPr>
          <a:xfrm>
            <a:off x="452628" y="1586865"/>
            <a:ext cx="9163202" cy="2685351"/>
          </a:xfrm>
        </p:spPr>
        <p:txBody>
          <a:bodyPr/>
          <a:lstStyle/>
          <a:p>
            <a:r>
              <a:rPr lang="en-US" sz="1600"/>
              <a:t>Daily Standup is a concept from Extreme Programming for the purpose of increasing and accelerating communication  between team members of a project. It is driven by one person to keep it short, focused, concise. At least three things must be reported on by each team member: what was accomplished yesterday, what will be attempted today, what problems are causing delays.</a:t>
            </a:r>
          </a:p>
          <a:p>
            <a:pPr>
              <a:buFont typeface="Arial" charset="0"/>
              <a:buNone/>
            </a:pPr>
            <a:endParaRPr lang="en-US" sz="1600"/>
          </a:p>
          <a:p>
            <a:pPr>
              <a:buFont typeface="Arial" charset="0"/>
              <a:buNone/>
            </a:pPr>
            <a:r>
              <a:rPr lang="en-US" sz="1600"/>
              <a:t>	For more information: </a:t>
            </a:r>
            <a:r>
              <a:rPr lang="en-US" sz="1600">
                <a:hlinkClick r:id="rId2"/>
              </a:rPr>
              <a:t>http://www.extremeprogramming.org/rules/standupmeeting.html</a:t>
            </a:r>
            <a:endParaRPr lang="en-US" sz="1600"/>
          </a:p>
          <a:p>
            <a:endParaRPr lang="en-US" sz="1600"/>
          </a:p>
        </p:txBody>
      </p:sp>
    </p:spTree>
    <p:extLst>
      <p:ext uri="{BB962C8B-B14F-4D97-AF65-F5344CB8AC3E}">
        <p14:creationId xmlns:p14="http://schemas.microsoft.com/office/powerpoint/2010/main" val="270427150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sz="3100"/>
              <a:t>Blockers and Issues</a:t>
            </a:r>
          </a:p>
        </p:txBody>
      </p:sp>
      <p:sp>
        <p:nvSpPr>
          <p:cNvPr id="64515" name="Content Placeholder 2"/>
          <p:cNvSpPr>
            <a:spLocks noGrp="1"/>
          </p:cNvSpPr>
          <p:nvPr>
            <p:ph idx="1"/>
          </p:nvPr>
        </p:nvSpPr>
        <p:spPr>
          <a:xfrm>
            <a:off x="452628" y="1586865"/>
            <a:ext cx="9163202" cy="3313728"/>
          </a:xfrm>
        </p:spPr>
        <p:txBody>
          <a:bodyPr/>
          <a:lstStyle/>
          <a:p>
            <a:r>
              <a:rPr lang="en-US" sz="1600"/>
              <a:t>Blockers are tasks that are preventing other tasks from being completed because of dependencies and hinders developers’ progress. They can either be blocking another task of the same owner, or another person owning a different task. Issues are simply anything important that is worth discussing and/or handling.</a:t>
            </a:r>
          </a:p>
          <a:p>
            <a:pPr>
              <a:buFont typeface="Arial" charset="0"/>
              <a:buNone/>
            </a:pPr>
            <a:r>
              <a:rPr lang="en-US" sz="1600"/>
              <a:t>	</a:t>
            </a:r>
          </a:p>
          <a:p>
            <a:pPr>
              <a:buFont typeface="Arial" charset="0"/>
              <a:buNone/>
            </a:pPr>
            <a:r>
              <a:rPr lang="en-US" sz="1600"/>
              <a:t>	For more information: </a:t>
            </a:r>
            <a:r>
              <a:rPr lang="en-US" sz="1600">
                <a:hlinkClick r:id="rId2"/>
              </a:rPr>
              <a:t>http://leanandkanban.wordpress.com/2009/04/04/tracking-blockers/</a:t>
            </a:r>
            <a:endParaRPr lang="en-US" sz="1600"/>
          </a:p>
          <a:p>
            <a:endParaRPr lang="en-US" sz="1600"/>
          </a:p>
          <a:p>
            <a:endParaRPr lang="en-US" smtClean="0"/>
          </a:p>
        </p:txBody>
      </p:sp>
    </p:spTree>
    <p:extLst>
      <p:ext uri="{BB962C8B-B14F-4D97-AF65-F5344CB8AC3E}">
        <p14:creationId xmlns:p14="http://schemas.microsoft.com/office/powerpoint/2010/main" val="25592539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sz="3100"/>
              <a:t>Retrospectives </a:t>
            </a:r>
          </a:p>
        </p:txBody>
      </p:sp>
      <p:sp>
        <p:nvSpPr>
          <p:cNvPr id="65539" name="Content Placeholder 2"/>
          <p:cNvSpPr>
            <a:spLocks noGrp="1"/>
          </p:cNvSpPr>
          <p:nvPr>
            <p:ph idx="1"/>
          </p:nvPr>
        </p:nvSpPr>
        <p:spPr>
          <a:xfrm>
            <a:off x="452628" y="1586865"/>
            <a:ext cx="9163202" cy="3290644"/>
          </a:xfrm>
        </p:spPr>
        <p:txBody>
          <a:bodyPr/>
          <a:lstStyle/>
          <a:p>
            <a:r>
              <a:rPr lang="en-US" sz="1600" dirty="0"/>
              <a:t>Retrospectives are reviews to assess the current state of the project and make adjustments to improve overall performance of the team and can be tailored for each team according to observations on what works and what doesn’t. It’s important to have a good definition and plan for each retrospective to prevent wasted time and effort, useful ideas to keep in mind include</a:t>
            </a:r>
            <a:r>
              <a:rPr lang="en-US" sz="1600" dirty="0" smtClean="0"/>
              <a:t>:</a:t>
            </a:r>
          </a:p>
          <a:p>
            <a:endParaRPr lang="en-US" sz="1300" dirty="0"/>
          </a:p>
          <a:p>
            <a:pPr lvl="1"/>
            <a:r>
              <a:rPr lang="en-US" sz="1600" dirty="0"/>
              <a:t>Decide on a focal point</a:t>
            </a:r>
          </a:p>
          <a:p>
            <a:pPr lvl="1"/>
            <a:r>
              <a:rPr lang="en-US" sz="1600" dirty="0"/>
              <a:t>State agenda and do appreciations</a:t>
            </a:r>
          </a:p>
          <a:p>
            <a:pPr lvl="1"/>
            <a:r>
              <a:rPr lang="en-US" sz="1600" dirty="0"/>
              <a:t>Brainstorm what went well, what didn’t go well with the focal point in mind</a:t>
            </a:r>
          </a:p>
          <a:p>
            <a:pPr lvl="1"/>
            <a:r>
              <a:rPr lang="en-US" sz="1600" dirty="0"/>
              <a:t>Create action plan</a:t>
            </a:r>
          </a:p>
          <a:p>
            <a:pPr lvl="1">
              <a:buFont typeface="Arial" charset="0"/>
              <a:buNone/>
            </a:pPr>
            <a:endParaRPr lang="en-US" sz="1600" dirty="0"/>
          </a:p>
          <a:p>
            <a:pPr lvl="1">
              <a:buFont typeface="Arial" charset="0"/>
              <a:buNone/>
            </a:pPr>
            <a:r>
              <a:rPr lang="en-US" sz="1600" dirty="0"/>
              <a:t>	For more information: </a:t>
            </a:r>
            <a:r>
              <a:rPr lang="en-US" sz="1600" dirty="0">
                <a:hlinkClick r:id="rId2"/>
              </a:rPr>
              <a:t>http://www.infoq.com/news/2010/12/agile-scrum-retrospectives</a:t>
            </a:r>
            <a:endParaRPr lang="en-US" sz="1600" dirty="0"/>
          </a:p>
        </p:txBody>
      </p:sp>
    </p:spTree>
    <p:extLst>
      <p:ext uri="{BB962C8B-B14F-4D97-AF65-F5344CB8AC3E}">
        <p14:creationId xmlns:p14="http://schemas.microsoft.com/office/powerpoint/2010/main" val="98241191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sz="3100"/>
              <a:t>Release Burndown Chart</a:t>
            </a:r>
          </a:p>
        </p:txBody>
      </p:sp>
      <p:sp>
        <p:nvSpPr>
          <p:cNvPr id="66563" name="Content Placeholder 2"/>
          <p:cNvSpPr>
            <a:spLocks noGrp="1"/>
          </p:cNvSpPr>
          <p:nvPr>
            <p:ph idx="1"/>
          </p:nvPr>
        </p:nvSpPr>
        <p:spPr>
          <a:xfrm>
            <a:off x="502920" y="1813560"/>
            <a:ext cx="9052560" cy="2685351"/>
          </a:xfrm>
        </p:spPr>
        <p:txBody>
          <a:bodyPr/>
          <a:lstStyle/>
          <a:p>
            <a:r>
              <a:rPr lang="en-US" sz="1600"/>
              <a:t>A Release Burndown Chart is a Scrum concept that allows for visual representation of the progress of a project release plan. It’s updated regularly, daily if statuses of tasks are being updated daily. The horizontal axis is time, the vertical axis is the amount of work remaining in some predefined unit (whatever unit the team decides on such as story points, ideal days, team days etc.)</a:t>
            </a:r>
          </a:p>
          <a:p>
            <a:endParaRPr lang="en-US" sz="1600"/>
          </a:p>
          <a:p>
            <a:pPr>
              <a:buFont typeface="Arial" charset="0"/>
              <a:buNone/>
            </a:pPr>
            <a:r>
              <a:rPr lang="en-US" sz="1600"/>
              <a:t>	For more information: </a:t>
            </a:r>
            <a:r>
              <a:rPr lang="en-US" sz="1600">
                <a:hlinkClick r:id="rId2"/>
              </a:rPr>
              <a:t>http://www.mountaingoatsoftware.com/scrum/release-burndown</a:t>
            </a:r>
            <a:endParaRPr lang="en-US" sz="1600"/>
          </a:p>
          <a:p>
            <a:endParaRPr lang="en-US" sz="1600"/>
          </a:p>
        </p:txBody>
      </p:sp>
    </p:spTree>
    <p:extLst>
      <p:ext uri="{BB962C8B-B14F-4D97-AF65-F5344CB8AC3E}">
        <p14:creationId xmlns:p14="http://schemas.microsoft.com/office/powerpoint/2010/main" val="310450584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sz="3100"/>
              <a:t>Continuous Integration</a:t>
            </a:r>
          </a:p>
        </p:txBody>
      </p:sp>
      <p:sp>
        <p:nvSpPr>
          <p:cNvPr id="67587" name="Content Placeholder 2"/>
          <p:cNvSpPr>
            <a:spLocks noGrp="1"/>
          </p:cNvSpPr>
          <p:nvPr>
            <p:ph idx="1"/>
          </p:nvPr>
        </p:nvSpPr>
        <p:spPr>
          <a:xfrm>
            <a:off x="502920" y="1813560"/>
            <a:ext cx="9052560" cy="3424014"/>
          </a:xfrm>
        </p:spPr>
        <p:txBody>
          <a:bodyPr/>
          <a:lstStyle/>
          <a:p>
            <a:r>
              <a:rPr lang="en-US" sz="1600"/>
              <a:t>Continuous Integration is a software development practice where members of a team integrate their work frequently, at least daily, leading to multiple integrations per day, with each integration being verified by an automated build and test to detect integration errors as quickly as possible. An automated build process should be set-up that performs full system builds and runs suites of automated test cases every time new code is checked into the source control system. The intention is to significantly reduced integration problems and allows a team to develop cohesive software more rapidly. </a:t>
            </a:r>
          </a:p>
          <a:p>
            <a:pPr>
              <a:buFont typeface="Arial" charset="0"/>
              <a:buNone/>
            </a:pPr>
            <a:endParaRPr lang="en-US" sz="1600"/>
          </a:p>
          <a:p>
            <a:pPr>
              <a:buFont typeface="Arial" charset="0"/>
              <a:buNone/>
            </a:pPr>
            <a:r>
              <a:rPr lang="en-US" sz="1600"/>
              <a:t>	For more information: </a:t>
            </a:r>
            <a:r>
              <a:rPr lang="en-US" sz="1600">
                <a:hlinkClick r:id="rId2"/>
              </a:rPr>
              <a:t>http://martinfowler.com/articles/continuousIntegration.html</a:t>
            </a:r>
            <a:endParaRPr lang="en-US" sz="1600"/>
          </a:p>
          <a:p>
            <a:endParaRPr lang="en-US" sz="1600"/>
          </a:p>
        </p:txBody>
      </p:sp>
    </p:spTree>
    <p:extLst>
      <p:ext uri="{BB962C8B-B14F-4D97-AF65-F5344CB8AC3E}">
        <p14:creationId xmlns:p14="http://schemas.microsoft.com/office/powerpoint/2010/main" val="258343303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sz="3100"/>
              <a:t>Continuous Deployment</a:t>
            </a:r>
          </a:p>
        </p:txBody>
      </p:sp>
      <p:sp>
        <p:nvSpPr>
          <p:cNvPr id="68611" name="Content Placeholder 2"/>
          <p:cNvSpPr>
            <a:spLocks noGrp="1"/>
          </p:cNvSpPr>
          <p:nvPr>
            <p:ph idx="1"/>
          </p:nvPr>
        </p:nvSpPr>
        <p:spPr>
          <a:xfrm>
            <a:off x="502920" y="1813560"/>
            <a:ext cx="9052560" cy="3498394"/>
          </a:xfrm>
        </p:spPr>
        <p:txBody>
          <a:bodyPr/>
          <a:lstStyle/>
          <a:p>
            <a:r>
              <a:rPr lang="en-US" sz="1600"/>
              <a:t>Continuous deployment is a software practice where code that is written for an application is immediately deployed into production. The result is a dramatic lowering of cycle time and freeing up of individual initiative. It has enabled companies to deploy new code to production as often as fifty times every day. The implementation could be a an automated deployment script that deploys the system every time a successful build completes.</a:t>
            </a:r>
          </a:p>
          <a:p>
            <a:endParaRPr lang="en-US" sz="1600"/>
          </a:p>
          <a:p>
            <a:pPr>
              <a:buFont typeface="Arial" charset="0"/>
              <a:buNone/>
            </a:pPr>
            <a:r>
              <a:rPr lang="en-US" sz="1600"/>
              <a:t>	For more information: </a:t>
            </a:r>
            <a:r>
              <a:rPr lang="en-US" sz="1600">
                <a:hlinkClick r:id="rId2"/>
              </a:rPr>
              <a:t>http://radar.oreilly.com/2009/03/continuous-deployment-5-eas.htm</a:t>
            </a:r>
            <a:r>
              <a:rPr lang="en-US" sz="1600"/>
              <a:t>l</a:t>
            </a:r>
          </a:p>
          <a:p>
            <a:pPr>
              <a:buFont typeface="Arial" charset="0"/>
              <a:buNone/>
            </a:pPr>
            <a:r>
              <a:rPr lang="en-US" sz="1600"/>
              <a:t>	</a:t>
            </a:r>
            <a:r>
              <a:rPr lang="en-US" sz="1600">
                <a:hlinkClick r:id="rId3"/>
              </a:rPr>
              <a:t>http://www.avc.com/a_vc/2011/02/continuous-deployment.html</a:t>
            </a:r>
            <a:endParaRPr lang="en-US" sz="1600"/>
          </a:p>
          <a:p>
            <a:endParaRPr lang="en-US" sz="1600"/>
          </a:p>
        </p:txBody>
      </p:sp>
    </p:spTree>
    <p:extLst>
      <p:ext uri="{BB962C8B-B14F-4D97-AF65-F5344CB8AC3E}">
        <p14:creationId xmlns:p14="http://schemas.microsoft.com/office/powerpoint/2010/main" val="24537578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sz="3100"/>
              <a:t>Snapshot Builds</a:t>
            </a:r>
          </a:p>
        </p:txBody>
      </p:sp>
      <p:sp>
        <p:nvSpPr>
          <p:cNvPr id="69635" name="Content Placeholder 2"/>
          <p:cNvSpPr>
            <a:spLocks noGrp="1"/>
          </p:cNvSpPr>
          <p:nvPr>
            <p:ph idx="1"/>
          </p:nvPr>
        </p:nvSpPr>
        <p:spPr>
          <a:xfrm>
            <a:off x="502920" y="1813560"/>
            <a:ext cx="9052560" cy="2439129"/>
          </a:xfrm>
        </p:spPr>
        <p:txBody>
          <a:bodyPr/>
          <a:lstStyle/>
          <a:p>
            <a:r>
              <a:rPr lang="en-US" sz="1600"/>
              <a:t>Snapshot builds are software for use and review while the platform is still being developed. It will not be necessarily stable or ready for full use and can be changed in the future. A snapshot build can also be referred to as a neutral/nightly build.</a:t>
            </a:r>
          </a:p>
          <a:p>
            <a:pPr>
              <a:buFont typeface="Arial" charset="0"/>
              <a:buNone/>
            </a:pPr>
            <a:endParaRPr lang="en-US" sz="1600"/>
          </a:p>
          <a:p>
            <a:pPr>
              <a:buFont typeface="Arial" charset="0"/>
              <a:buNone/>
            </a:pPr>
            <a:r>
              <a:rPr lang="en-US" sz="1600"/>
              <a:t>	For more information: </a:t>
            </a:r>
            <a:r>
              <a:rPr lang="en-US" sz="1600">
                <a:hlinkClick r:id="rId2"/>
              </a:rPr>
              <a:t>http://en.wikipedia.org/wiki/Neutral_build</a:t>
            </a:r>
            <a:endParaRPr lang="en-US" sz="1600"/>
          </a:p>
          <a:p>
            <a:endParaRPr lang="en-US" sz="1600"/>
          </a:p>
        </p:txBody>
      </p:sp>
    </p:spTree>
    <p:extLst>
      <p:ext uri="{BB962C8B-B14F-4D97-AF65-F5344CB8AC3E}">
        <p14:creationId xmlns:p14="http://schemas.microsoft.com/office/powerpoint/2010/main" val="173312525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sz="3100"/>
              <a:t>Domain Driven Design</a:t>
            </a:r>
          </a:p>
        </p:txBody>
      </p:sp>
      <p:sp>
        <p:nvSpPr>
          <p:cNvPr id="70659" name="Content Placeholder 2"/>
          <p:cNvSpPr>
            <a:spLocks noGrp="1"/>
          </p:cNvSpPr>
          <p:nvPr>
            <p:ph idx="1"/>
          </p:nvPr>
        </p:nvSpPr>
        <p:spPr>
          <a:xfrm>
            <a:off x="502920" y="1813560"/>
            <a:ext cx="9052560" cy="5127045"/>
          </a:xfrm>
        </p:spPr>
        <p:txBody>
          <a:bodyPr/>
          <a:lstStyle/>
          <a:p>
            <a:r>
              <a:rPr lang="en-US" sz="1600" dirty="0"/>
              <a:t>Domain-Driven Design (DDD) descript the practice of designing the system to mirror the business domain and work to establish a domain model that the business can understand. It’s founded on two main concepts:</a:t>
            </a:r>
          </a:p>
          <a:p>
            <a:pPr>
              <a:buFont typeface="Arial" charset="0"/>
              <a:buNone/>
            </a:pPr>
            <a:endParaRPr lang="en-US" sz="1600" dirty="0"/>
          </a:p>
          <a:p>
            <a:pPr lvl="1">
              <a:buFont typeface="Calibri" pitchFamily="34" charset="0"/>
              <a:buAutoNum type="arabicPeriod"/>
            </a:pPr>
            <a:r>
              <a:rPr lang="en-US" sz="1600" dirty="0"/>
              <a:t>For most software projects, the primary focus should be on the domain and domain logic</a:t>
            </a:r>
          </a:p>
          <a:p>
            <a:pPr lvl="1">
              <a:buFont typeface="Calibri" pitchFamily="34" charset="0"/>
              <a:buAutoNum type="arabicPeriod"/>
            </a:pPr>
            <a:r>
              <a:rPr lang="en-US" sz="1600" dirty="0"/>
              <a:t>Complex domain designs should be based on a model</a:t>
            </a:r>
          </a:p>
          <a:p>
            <a:pPr lvl="1">
              <a:buFont typeface="Calibri" pitchFamily="34" charset="0"/>
              <a:buAutoNum type="arabicPeriod"/>
            </a:pPr>
            <a:endParaRPr lang="en-US" sz="1100" dirty="0"/>
          </a:p>
          <a:p>
            <a:r>
              <a:rPr lang="en-US" sz="1600" dirty="0"/>
              <a:t>DDD is way of thinking and a set of priorities, aimed at accelerating software projects that have to deal with complicated domains. To achieve this, teams need an extensive set of design practices, techniques and principles such as using a Domain Model and keeping it up to date while development. </a:t>
            </a:r>
          </a:p>
          <a:p>
            <a:pPr>
              <a:buFont typeface="Arial" charset="0"/>
              <a:buNone/>
            </a:pPr>
            <a:endParaRPr lang="en-US" sz="1600" dirty="0"/>
          </a:p>
          <a:p>
            <a:pPr>
              <a:buFont typeface="Arial" charset="0"/>
              <a:buNone/>
            </a:pPr>
            <a:r>
              <a:rPr lang="en-US" sz="1600" dirty="0"/>
              <a:t>	For more information: </a:t>
            </a:r>
            <a:r>
              <a:rPr lang="en-US" sz="1600" dirty="0">
                <a:hlinkClick r:id="rId2"/>
              </a:rPr>
              <a:t>http://domaindrivendesign.org/</a:t>
            </a:r>
            <a:endParaRPr lang="en-US" sz="1600" dirty="0"/>
          </a:p>
          <a:p>
            <a:endParaRPr lang="en-US" sz="1600" dirty="0"/>
          </a:p>
        </p:txBody>
      </p:sp>
    </p:spTree>
    <p:extLst>
      <p:ext uri="{BB962C8B-B14F-4D97-AF65-F5344CB8AC3E}">
        <p14:creationId xmlns:p14="http://schemas.microsoft.com/office/powerpoint/2010/main" val="277657369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sz="3100"/>
              <a:t>Architectural Baseline</a:t>
            </a:r>
          </a:p>
        </p:txBody>
      </p:sp>
      <p:sp>
        <p:nvSpPr>
          <p:cNvPr id="71683" name="Content Placeholder 2"/>
          <p:cNvSpPr>
            <a:spLocks noGrp="1"/>
          </p:cNvSpPr>
          <p:nvPr>
            <p:ph idx="1"/>
          </p:nvPr>
        </p:nvSpPr>
        <p:spPr>
          <a:xfrm>
            <a:off x="502920" y="1813560"/>
            <a:ext cx="9052560" cy="3670236"/>
          </a:xfrm>
        </p:spPr>
        <p:txBody>
          <a:bodyPr/>
          <a:lstStyle/>
          <a:p>
            <a:r>
              <a:rPr lang="en-US" sz="1600"/>
              <a:t> The architecture baseline is a subset of the entire system. The baseline has versions of all the models that the full-fledged system has at the end of the project, including the same skeleton of subsystems, components, and nodes, but not all the musculature. However, they do have behavior, and they are executable code. The architecture baseline evolves to become the full-fledged system, perhaps with some minor changes to the structure and behavior but the changes are minor because, at the end of the elaboration or architectural iterations, we have by definition a stable architecture. The architectural baseline should be designed and built early to mitigate technical risk and prove the architecture.</a:t>
            </a:r>
          </a:p>
          <a:p>
            <a:endParaRPr lang="en-US" sz="1600"/>
          </a:p>
          <a:p>
            <a:pPr>
              <a:buFont typeface="Arial" charset="0"/>
              <a:buNone/>
            </a:pPr>
            <a:r>
              <a:rPr lang="en-US" sz="1600"/>
              <a:t>	For more information: </a:t>
            </a:r>
            <a:r>
              <a:rPr lang="en-US" sz="1600">
                <a:hlinkClick r:id="rId2"/>
              </a:rPr>
              <a:t>http://www.informit.com/articles/article.aspx?p=375542&amp;seqNum=3</a:t>
            </a:r>
            <a:endParaRPr lang="en-US" sz="1600"/>
          </a:p>
          <a:p>
            <a:endParaRPr lang="en-US" sz="1600"/>
          </a:p>
        </p:txBody>
      </p:sp>
    </p:spTree>
    <p:extLst>
      <p:ext uri="{BB962C8B-B14F-4D97-AF65-F5344CB8AC3E}">
        <p14:creationId xmlns:p14="http://schemas.microsoft.com/office/powerpoint/2010/main" val="30542481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sz="3100"/>
              <a:t>Code Reviews</a:t>
            </a:r>
          </a:p>
        </p:txBody>
      </p:sp>
      <p:sp>
        <p:nvSpPr>
          <p:cNvPr id="72707" name="Content Placeholder 2"/>
          <p:cNvSpPr>
            <a:spLocks noGrp="1"/>
          </p:cNvSpPr>
          <p:nvPr>
            <p:ph idx="1"/>
          </p:nvPr>
        </p:nvSpPr>
        <p:spPr>
          <a:xfrm>
            <a:off x="502920" y="1813560"/>
            <a:ext cx="9052560" cy="3252172"/>
          </a:xfrm>
        </p:spPr>
        <p:txBody>
          <a:bodyPr/>
          <a:lstStyle/>
          <a:p>
            <a:r>
              <a:rPr lang="en-US" sz="1600"/>
              <a:t>A code review is a formal process established to review key pieces of the code for approval before the code is accepted into the final iteration build with the intention of catching bugs and design errors before the code becomes part of the product. Performing such reviews can dramatically improve the quality of products by catching mistakes early.</a:t>
            </a:r>
          </a:p>
          <a:p>
            <a:endParaRPr lang="en-US" sz="1600"/>
          </a:p>
          <a:p>
            <a:endParaRPr lang="en-US" sz="1600"/>
          </a:p>
          <a:p>
            <a:pPr>
              <a:buFont typeface="Arial" charset="0"/>
              <a:buNone/>
            </a:pPr>
            <a:r>
              <a:rPr lang="en-US" sz="1600"/>
              <a:t>	For more information: </a:t>
            </a:r>
            <a:r>
              <a:rPr lang="en-US" sz="1600">
                <a:hlinkClick r:id="rId2"/>
              </a:rPr>
              <a:t>http://en.wikipedia.org/wiki/Code_review</a:t>
            </a:r>
            <a:endParaRPr lang="en-US" sz="1600"/>
          </a:p>
          <a:p>
            <a:endParaRPr lang="en-US" sz="1600"/>
          </a:p>
        </p:txBody>
      </p:sp>
    </p:spTree>
    <p:extLst>
      <p:ext uri="{BB962C8B-B14F-4D97-AF65-F5344CB8AC3E}">
        <p14:creationId xmlns:p14="http://schemas.microsoft.com/office/powerpoint/2010/main" val="378722615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sz="3100"/>
              <a:t>Automated Code Quality Governance</a:t>
            </a:r>
          </a:p>
        </p:txBody>
      </p:sp>
      <p:sp>
        <p:nvSpPr>
          <p:cNvPr id="73731" name="Content Placeholder 2"/>
          <p:cNvSpPr>
            <a:spLocks noGrp="1"/>
          </p:cNvSpPr>
          <p:nvPr>
            <p:ph idx="1"/>
          </p:nvPr>
        </p:nvSpPr>
        <p:spPr>
          <a:xfrm>
            <a:off x="502920" y="1813560"/>
            <a:ext cx="9052560" cy="2685351"/>
          </a:xfrm>
        </p:spPr>
        <p:txBody>
          <a:bodyPr/>
          <a:lstStyle/>
          <a:p>
            <a:r>
              <a:rPr lang="en-US" sz="1600" dirty="0"/>
              <a:t>An automated process is developed that analyzes system code to identify code quality issues that need to be addressed before the code is accepted into the final iteration build.</a:t>
            </a:r>
          </a:p>
          <a:p>
            <a:endParaRPr lang="en-US" sz="1600" dirty="0"/>
          </a:p>
          <a:p>
            <a:pPr>
              <a:buFont typeface="Arial" charset="0"/>
              <a:buNone/>
            </a:pPr>
            <a:r>
              <a:rPr lang="en-US" sz="1600" dirty="0" smtClean="0"/>
              <a:t>For </a:t>
            </a:r>
            <a:r>
              <a:rPr lang="en-US" sz="1600" dirty="0"/>
              <a:t>more information: </a:t>
            </a:r>
            <a:r>
              <a:rPr lang="en-US" sz="1600" dirty="0">
                <a:hlinkClick r:id="rId2"/>
              </a:rPr>
              <a:t>http://www.slideshare.net/wakaleo/how-can-you-improve-harmonize-and-automate-your-development-process-using-tools-like-maven-hudson-and-nexus-this-presentation-is-a-highlevel-overview-of-java-software-development-process-improvement-3321091</a:t>
            </a:r>
            <a:endParaRPr lang="en-US" sz="1600" dirty="0"/>
          </a:p>
          <a:p>
            <a:endParaRPr lang="en-US" sz="1600" dirty="0"/>
          </a:p>
        </p:txBody>
      </p:sp>
    </p:spTree>
    <p:extLst>
      <p:ext uri="{BB962C8B-B14F-4D97-AF65-F5344CB8AC3E}">
        <p14:creationId xmlns:p14="http://schemas.microsoft.com/office/powerpoint/2010/main" val="148055358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sz="3100"/>
              <a:t>Automated Unit Testing</a:t>
            </a:r>
          </a:p>
        </p:txBody>
      </p:sp>
      <p:sp>
        <p:nvSpPr>
          <p:cNvPr id="74755" name="Content Placeholder 2"/>
          <p:cNvSpPr>
            <a:spLocks noGrp="1"/>
          </p:cNvSpPr>
          <p:nvPr>
            <p:ph idx="1"/>
          </p:nvPr>
        </p:nvSpPr>
        <p:spPr>
          <a:xfrm>
            <a:off x="502920" y="1813560"/>
            <a:ext cx="9052560" cy="3498394"/>
          </a:xfrm>
        </p:spPr>
        <p:txBody>
          <a:bodyPr/>
          <a:lstStyle/>
          <a:p>
            <a:r>
              <a:rPr lang="en-US" sz="1600"/>
              <a:t>Automated Unit Testing is a process that automates unit testing in order to get the full benefit from unit tests. The test suite should be scheduled to run as part of the same build process . By running the tests as part of a scheduled build, tests are ran early and often, improving the health of source code in the main repository. Automated unit tests offer a pay back far greater than the cost of creation.</a:t>
            </a:r>
          </a:p>
          <a:p>
            <a:pPr>
              <a:buFont typeface="Arial" charset="0"/>
              <a:buNone/>
            </a:pPr>
            <a:endParaRPr lang="en-US" sz="1600"/>
          </a:p>
          <a:p>
            <a:pPr>
              <a:buFont typeface="Arial" charset="0"/>
              <a:buNone/>
            </a:pPr>
            <a:r>
              <a:rPr lang="en-US" sz="1600"/>
              <a:t>	For more information: </a:t>
            </a:r>
            <a:r>
              <a:rPr lang="en-US" sz="1600">
                <a:hlinkClick r:id="rId2"/>
              </a:rPr>
              <a:t>http://en.wikipedia.org/wiki/Unit_testing</a:t>
            </a:r>
            <a:endParaRPr lang="en-US" sz="1600"/>
          </a:p>
          <a:p>
            <a:pPr>
              <a:buFont typeface="Arial" charset="0"/>
              <a:buNone/>
            </a:pPr>
            <a:r>
              <a:rPr lang="en-US" sz="1600"/>
              <a:t>	</a:t>
            </a:r>
            <a:r>
              <a:rPr lang="en-US" sz="1600">
                <a:hlinkClick r:id="rId3"/>
              </a:rPr>
              <a:t>http://www.extremeprogramming.org/rules/unittests.html</a:t>
            </a:r>
            <a:endParaRPr lang="en-US" sz="1600"/>
          </a:p>
          <a:p>
            <a:endParaRPr lang="en-US" sz="1600"/>
          </a:p>
        </p:txBody>
      </p:sp>
    </p:spTree>
    <p:extLst>
      <p:ext uri="{BB962C8B-B14F-4D97-AF65-F5344CB8AC3E}">
        <p14:creationId xmlns:p14="http://schemas.microsoft.com/office/powerpoint/2010/main" val="427982804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sz="3100"/>
              <a:t>Test-Driven Development (TDD)</a:t>
            </a:r>
          </a:p>
        </p:txBody>
      </p:sp>
      <p:sp>
        <p:nvSpPr>
          <p:cNvPr id="75779" name="Content Placeholder 2"/>
          <p:cNvSpPr>
            <a:spLocks noGrp="1"/>
          </p:cNvSpPr>
          <p:nvPr>
            <p:ph idx="1"/>
          </p:nvPr>
        </p:nvSpPr>
        <p:spPr>
          <a:xfrm>
            <a:off x="502920" y="1813560"/>
            <a:ext cx="9052560" cy="3424014"/>
          </a:xfrm>
        </p:spPr>
        <p:txBody>
          <a:bodyPr/>
          <a:lstStyle/>
          <a:p>
            <a:r>
              <a:rPr lang="en-US" sz="1600"/>
              <a:t>TDD is a development methodology that practices writing test cases before development, which would then drive the development of a class or piece of code. Tests are written first by the developer before any system code and the developers follows a red, green, refactor based development process. TDD is a different mind-set. It is the ‘tests’ that ‘drive’ the ‘development’, not the other way around. By writing a test case for a scenario, your test either dictates your implementation or gives you some good pointers. TDD uses small, fine-grained steps to gradually increase developer confidence, which results in larger steps downstream.</a:t>
            </a:r>
          </a:p>
          <a:p>
            <a:endParaRPr lang="en-US" sz="1600"/>
          </a:p>
          <a:p>
            <a:pPr>
              <a:buFont typeface="Arial" charset="0"/>
              <a:buNone/>
            </a:pPr>
            <a:r>
              <a:rPr lang="en-US" sz="1600"/>
              <a:t>	For more information: </a:t>
            </a:r>
            <a:r>
              <a:rPr lang="en-US" sz="1600">
                <a:hlinkClick r:id="rId2"/>
              </a:rPr>
              <a:t>http://www.methodsandtools.com/archive/archive.php?id=20</a:t>
            </a:r>
            <a:endParaRPr lang="en-US" sz="1600"/>
          </a:p>
          <a:p>
            <a:endParaRPr lang="en-US" sz="1600"/>
          </a:p>
        </p:txBody>
      </p:sp>
    </p:spTree>
    <p:extLst>
      <p:ext uri="{BB962C8B-B14F-4D97-AF65-F5344CB8AC3E}">
        <p14:creationId xmlns:p14="http://schemas.microsoft.com/office/powerpoint/2010/main" val="333435608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en-US" sz="3100"/>
              <a:t>Automated Builds</a:t>
            </a:r>
          </a:p>
        </p:txBody>
      </p:sp>
      <p:sp>
        <p:nvSpPr>
          <p:cNvPr id="76803" name="Content Placeholder 2"/>
          <p:cNvSpPr>
            <a:spLocks noGrp="1"/>
          </p:cNvSpPr>
          <p:nvPr>
            <p:ph idx="1"/>
          </p:nvPr>
        </p:nvSpPr>
        <p:spPr>
          <a:xfrm>
            <a:off x="502920" y="1813560"/>
            <a:ext cx="9052560" cy="4247317"/>
          </a:xfrm>
        </p:spPr>
        <p:txBody>
          <a:bodyPr/>
          <a:lstStyle/>
          <a:p>
            <a:r>
              <a:rPr lang="en-US" sz="1600" dirty="0"/>
              <a:t>Automated builds are builds generated by scripts or an automation process which involves tasks such as:</a:t>
            </a:r>
          </a:p>
          <a:p>
            <a:pPr>
              <a:buFont typeface="Arial" charset="0"/>
              <a:buNone/>
            </a:pPr>
            <a:endParaRPr lang="en-US" sz="1600" dirty="0"/>
          </a:p>
          <a:p>
            <a:pPr lvl="1"/>
            <a:r>
              <a:rPr lang="en-US" sz="1600" dirty="0"/>
              <a:t>Compiling computer source code into binary code</a:t>
            </a:r>
          </a:p>
          <a:p>
            <a:pPr lvl="1"/>
            <a:r>
              <a:rPr lang="en-US" sz="1600" dirty="0"/>
              <a:t>Packaging binary code</a:t>
            </a:r>
          </a:p>
          <a:p>
            <a:pPr lvl="1"/>
            <a:r>
              <a:rPr lang="en-US" sz="1600" dirty="0"/>
              <a:t>Running tests</a:t>
            </a:r>
          </a:p>
          <a:p>
            <a:pPr lvl="1"/>
            <a:r>
              <a:rPr lang="en-US" sz="1600" dirty="0"/>
              <a:t>Deployment to production systems</a:t>
            </a:r>
          </a:p>
          <a:p>
            <a:pPr lvl="1"/>
            <a:r>
              <a:rPr lang="en-US" sz="1600" dirty="0"/>
              <a:t>Creating documentation and/or release notes</a:t>
            </a:r>
          </a:p>
          <a:p>
            <a:endParaRPr lang="en-US" sz="1600" dirty="0"/>
          </a:p>
          <a:p>
            <a:pPr>
              <a:buFont typeface="Arial" charset="0"/>
              <a:buNone/>
            </a:pPr>
            <a:r>
              <a:rPr lang="en-US" sz="1600" dirty="0"/>
              <a:t>	For more information: </a:t>
            </a:r>
            <a:r>
              <a:rPr lang="en-US" sz="1600" dirty="0">
                <a:hlinkClick r:id="rId2"/>
              </a:rPr>
              <a:t>http://en.wikipedia.org/wiki/Build_automation</a:t>
            </a:r>
            <a:endParaRPr lang="en-US" sz="1600" dirty="0"/>
          </a:p>
          <a:p>
            <a:endParaRPr lang="en-US" sz="1600" dirty="0"/>
          </a:p>
        </p:txBody>
      </p:sp>
    </p:spTree>
    <p:extLst>
      <p:ext uri="{BB962C8B-B14F-4D97-AF65-F5344CB8AC3E}">
        <p14:creationId xmlns:p14="http://schemas.microsoft.com/office/powerpoint/2010/main" val="417296137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sz="3100"/>
              <a:t>Iteration Reviews</a:t>
            </a:r>
          </a:p>
        </p:txBody>
      </p:sp>
      <p:sp>
        <p:nvSpPr>
          <p:cNvPr id="77827" name="Content Placeholder 2"/>
          <p:cNvSpPr>
            <a:spLocks noGrp="1"/>
          </p:cNvSpPr>
          <p:nvPr>
            <p:ph idx="1"/>
          </p:nvPr>
        </p:nvSpPr>
        <p:spPr>
          <a:xfrm>
            <a:off x="502920" y="1813560"/>
            <a:ext cx="9052560" cy="2931572"/>
          </a:xfrm>
        </p:spPr>
        <p:txBody>
          <a:bodyPr/>
          <a:lstStyle/>
          <a:p>
            <a:r>
              <a:rPr lang="en-US" sz="1600"/>
              <a:t>An iteration review is a meeting held on the final day of the iteration. The length of the review meeting depends on the length of the iterations, but should be limited to four hours. The goal of the review meeting is to successfully demonstrate the features and functions completed during the iteration. The meeting gives product owners, users, management, and other project stakeholders the opportunity to see the actual progress being made on the project.</a:t>
            </a:r>
          </a:p>
          <a:p>
            <a:endParaRPr lang="en-US" sz="1600"/>
          </a:p>
          <a:p>
            <a:pPr>
              <a:buFont typeface="Arial" charset="0"/>
              <a:buNone/>
            </a:pPr>
            <a:r>
              <a:rPr lang="en-US" sz="1600"/>
              <a:t>	For more information: </a:t>
            </a:r>
            <a:r>
              <a:rPr lang="en-US" sz="1600">
                <a:hlinkClick r:id="rId2"/>
              </a:rPr>
              <a:t>http://www.agilesherpa.org/agile_coach/review/iteration_review/</a:t>
            </a:r>
            <a:endParaRPr lang="en-US" sz="1600"/>
          </a:p>
          <a:p>
            <a:endParaRPr lang="en-US" sz="1600"/>
          </a:p>
        </p:txBody>
      </p:sp>
    </p:spTree>
    <p:extLst>
      <p:ext uri="{BB962C8B-B14F-4D97-AF65-F5344CB8AC3E}">
        <p14:creationId xmlns:p14="http://schemas.microsoft.com/office/powerpoint/2010/main" val="141145126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sz="3100"/>
              <a:t>Self-documenting Code</a:t>
            </a:r>
          </a:p>
        </p:txBody>
      </p:sp>
      <p:sp>
        <p:nvSpPr>
          <p:cNvPr id="78851" name="Content Placeholder 2"/>
          <p:cNvSpPr>
            <a:spLocks noGrp="1"/>
          </p:cNvSpPr>
          <p:nvPr>
            <p:ph idx="1"/>
          </p:nvPr>
        </p:nvSpPr>
        <p:spPr>
          <a:xfrm>
            <a:off x="502920" y="1813560"/>
            <a:ext cx="9052560" cy="2439129"/>
          </a:xfrm>
        </p:spPr>
        <p:txBody>
          <a:bodyPr/>
          <a:lstStyle/>
          <a:p>
            <a:r>
              <a:rPr lang="en-US" sz="1600" dirty="0"/>
              <a:t>Self-documenting code is code written in such a way that is easily understandable without the need to supply comments regarding how the code works. This may be done through various ways such as intuitive and non-convoluted logic, proper usage of API, good naming of variables and methods.</a:t>
            </a:r>
          </a:p>
          <a:p>
            <a:endParaRPr lang="en-US" sz="1600" dirty="0"/>
          </a:p>
          <a:p>
            <a:pPr>
              <a:buFont typeface="Arial" charset="0"/>
              <a:buNone/>
            </a:pPr>
            <a:r>
              <a:rPr lang="en-US" sz="1600" dirty="0" smtClean="0"/>
              <a:t>For </a:t>
            </a:r>
            <a:r>
              <a:rPr lang="en-US" sz="1600" dirty="0"/>
              <a:t>more information: </a:t>
            </a:r>
            <a:r>
              <a:rPr lang="en-US" sz="1600" dirty="0">
                <a:hlinkClick r:id="rId2"/>
              </a:rPr>
              <a:t>http://en.wikipedia.org/wiki/Self-documenting</a:t>
            </a:r>
            <a:endParaRPr lang="en-US" sz="1600" dirty="0"/>
          </a:p>
          <a:p>
            <a:endParaRPr lang="en-US" sz="1600" dirty="0"/>
          </a:p>
        </p:txBody>
      </p:sp>
    </p:spTree>
    <p:extLst>
      <p:ext uri="{BB962C8B-B14F-4D97-AF65-F5344CB8AC3E}">
        <p14:creationId xmlns:p14="http://schemas.microsoft.com/office/powerpoint/2010/main" val="353921276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sz="3100"/>
              <a:t>Potentially Shippable Code</a:t>
            </a:r>
          </a:p>
        </p:txBody>
      </p:sp>
      <p:sp>
        <p:nvSpPr>
          <p:cNvPr id="79875" name="Content Placeholder 2"/>
          <p:cNvSpPr>
            <a:spLocks noGrp="1"/>
          </p:cNvSpPr>
          <p:nvPr>
            <p:ph idx="1"/>
          </p:nvPr>
        </p:nvSpPr>
        <p:spPr>
          <a:xfrm>
            <a:off x="502920" y="1813560"/>
            <a:ext cx="9052560" cy="2685351"/>
          </a:xfrm>
        </p:spPr>
        <p:txBody>
          <a:bodyPr/>
          <a:lstStyle/>
          <a:p>
            <a:r>
              <a:rPr lang="en-US" sz="1600" dirty="0"/>
              <a:t>Potentially Shippable Code is code that is developed in the interaction right before it is ready for distribution to anyone in the company for review or even to any external stakeholder to try out. It does not have to passed every item on the list of “done” criteria, if it does, then it would be shippable code. </a:t>
            </a:r>
          </a:p>
          <a:p>
            <a:endParaRPr lang="en-US" sz="1600" dirty="0"/>
          </a:p>
          <a:p>
            <a:pPr>
              <a:buFont typeface="Arial" charset="0"/>
              <a:buNone/>
            </a:pPr>
            <a:r>
              <a:rPr lang="en-US" sz="1600" dirty="0" smtClean="0"/>
              <a:t>For </a:t>
            </a:r>
            <a:r>
              <a:rPr lang="en-US" sz="1600" dirty="0"/>
              <a:t>more information: </a:t>
            </a:r>
            <a:r>
              <a:rPr lang="en-US" sz="1600" dirty="0">
                <a:hlinkClick r:id="rId2"/>
              </a:rPr>
              <a:t>http://www.scrumalliance.org/articles/106-definition-of-done-a-reference</a:t>
            </a:r>
            <a:endParaRPr lang="en-US" sz="1600" dirty="0"/>
          </a:p>
          <a:p>
            <a:endParaRPr lang="en-US" sz="1600" dirty="0"/>
          </a:p>
        </p:txBody>
      </p:sp>
    </p:spTree>
    <p:extLst>
      <p:ext uri="{BB962C8B-B14F-4D97-AF65-F5344CB8AC3E}">
        <p14:creationId xmlns:p14="http://schemas.microsoft.com/office/powerpoint/2010/main" val="277809624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sz="3100"/>
              <a:t>Pair Programming</a:t>
            </a:r>
          </a:p>
        </p:txBody>
      </p:sp>
      <p:sp>
        <p:nvSpPr>
          <p:cNvPr id="80899" name="Content Placeholder 2"/>
          <p:cNvSpPr>
            <a:spLocks noGrp="1"/>
          </p:cNvSpPr>
          <p:nvPr>
            <p:ph idx="1"/>
          </p:nvPr>
        </p:nvSpPr>
        <p:spPr>
          <a:xfrm>
            <a:off x="502920" y="1813560"/>
            <a:ext cx="9052560" cy="2192908"/>
          </a:xfrm>
        </p:spPr>
        <p:txBody>
          <a:bodyPr/>
          <a:lstStyle/>
          <a:p>
            <a:r>
              <a:rPr lang="en-US" sz="1600"/>
              <a:t>Adopt a pair-programming culture that regularly involves two developers working together 25-75% of the time to collaboratively design and write code.</a:t>
            </a:r>
          </a:p>
          <a:p>
            <a:endParaRPr lang="en-US" sz="1600"/>
          </a:p>
          <a:p>
            <a:pPr>
              <a:buFont typeface="Arial" charset="0"/>
              <a:buNone/>
            </a:pPr>
            <a:r>
              <a:rPr lang="en-US" sz="1600"/>
              <a:t>	For more information: </a:t>
            </a:r>
            <a:r>
              <a:rPr lang="en-US" sz="1600">
                <a:hlinkClick r:id="rId2"/>
              </a:rPr>
              <a:t>http://www.extremeprogramming.org/rules/pair.html</a:t>
            </a:r>
            <a:endParaRPr lang="en-US" sz="1600"/>
          </a:p>
          <a:p>
            <a:endParaRPr lang="en-US" sz="1600"/>
          </a:p>
        </p:txBody>
      </p:sp>
    </p:spTree>
    <p:extLst>
      <p:ext uri="{BB962C8B-B14F-4D97-AF65-F5344CB8AC3E}">
        <p14:creationId xmlns:p14="http://schemas.microsoft.com/office/powerpoint/2010/main" val="421419237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sz="3100"/>
              <a:t>Collective Code Ownership</a:t>
            </a:r>
          </a:p>
        </p:txBody>
      </p:sp>
      <p:sp>
        <p:nvSpPr>
          <p:cNvPr id="81923" name="Content Placeholder 2"/>
          <p:cNvSpPr>
            <a:spLocks noGrp="1"/>
          </p:cNvSpPr>
          <p:nvPr>
            <p:ph idx="1"/>
          </p:nvPr>
        </p:nvSpPr>
        <p:spPr>
          <a:xfrm>
            <a:off x="502920" y="1813560"/>
            <a:ext cx="9052560" cy="2192908"/>
          </a:xfrm>
        </p:spPr>
        <p:txBody>
          <a:bodyPr/>
          <a:lstStyle/>
          <a:p>
            <a:r>
              <a:rPr lang="en-US" sz="1600"/>
              <a:t>All system code should be collectively owned by the entire delivery team and frequent rotation of developers to different parts of the code base should occur.</a:t>
            </a:r>
          </a:p>
          <a:p>
            <a:pPr>
              <a:buFont typeface="Arial" charset="0"/>
              <a:buNone/>
            </a:pPr>
            <a:endParaRPr lang="en-US" sz="1600"/>
          </a:p>
          <a:p>
            <a:pPr>
              <a:buFont typeface="Arial" charset="0"/>
              <a:buNone/>
            </a:pPr>
            <a:r>
              <a:rPr lang="en-US" sz="1600"/>
              <a:t>	For more information: </a:t>
            </a:r>
            <a:r>
              <a:rPr lang="en-US" sz="1600">
                <a:hlinkClick r:id="rId2"/>
              </a:rPr>
              <a:t>http://www.extremeprogramming.org/rules/collective.html</a:t>
            </a:r>
            <a:endParaRPr lang="en-US" sz="1600"/>
          </a:p>
          <a:p>
            <a:endParaRPr lang="en-US" sz="1600"/>
          </a:p>
        </p:txBody>
      </p:sp>
    </p:spTree>
    <p:extLst>
      <p:ext uri="{BB962C8B-B14F-4D97-AF65-F5344CB8AC3E}">
        <p14:creationId xmlns:p14="http://schemas.microsoft.com/office/powerpoint/2010/main" val="394350517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sz="3100"/>
              <a:t>Refactoring</a:t>
            </a:r>
          </a:p>
        </p:txBody>
      </p:sp>
      <p:sp>
        <p:nvSpPr>
          <p:cNvPr id="82947" name="Content Placeholder 2"/>
          <p:cNvSpPr>
            <a:spLocks noGrp="1"/>
          </p:cNvSpPr>
          <p:nvPr>
            <p:ph idx="1"/>
          </p:nvPr>
        </p:nvSpPr>
        <p:spPr>
          <a:xfrm>
            <a:off x="502920" y="1813560"/>
            <a:ext cx="9052560" cy="2192908"/>
          </a:xfrm>
        </p:spPr>
        <p:txBody>
          <a:bodyPr/>
          <a:lstStyle/>
          <a:p>
            <a:r>
              <a:rPr lang="en-US" sz="1600"/>
              <a:t>A frequent process to improve and clean-up code quality is established to enable developers to improve the code base to support future changes and ease maintainability/understanding.</a:t>
            </a:r>
          </a:p>
          <a:p>
            <a:endParaRPr lang="en-US" sz="1600"/>
          </a:p>
          <a:p>
            <a:pPr>
              <a:buFont typeface="Arial" charset="0"/>
              <a:buNone/>
            </a:pPr>
            <a:r>
              <a:rPr lang="en-US" sz="1600"/>
              <a:t>	For more information: </a:t>
            </a:r>
            <a:r>
              <a:rPr lang="en-US" sz="1600">
                <a:hlinkClick r:id="rId2"/>
              </a:rPr>
              <a:t>http://en.wikipedia.org/wiki/Code_refactoring</a:t>
            </a:r>
            <a:endParaRPr lang="en-US" sz="1600"/>
          </a:p>
          <a:p>
            <a:endParaRPr lang="en-US" sz="1600"/>
          </a:p>
        </p:txBody>
      </p:sp>
    </p:spTree>
    <p:extLst>
      <p:ext uri="{BB962C8B-B14F-4D97-AF65-F5344CB8AC3E}">
        <p14:creationId xmlns:p14="http://schemas.microsoft.com/office/powerpoint/2010/main" val="238911045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sz="3100"/>
              <a:t>Co-located Teams</a:t>
            </a:r>
          </a:p>
        </p:txBody>
      </p:sp>
      <p:sp>
        <p:nvSpPr>
          <p:cNvPr id="83971" name="Content Placeholder 2"/>
          <p:cNvSpPr>
            <a:spLocks noGrp="1"/>
          </p:cNvSpPr>
          <p:nvPr>
            <p:ph idx="1"/>
          </p:nvPr>
        </p:nvSpPr>
        <p:spPr>
          <a:xfrm>
            <a:off x="502920" y="1813560"/>
            <a:ext cx="9052560" cy="2192908"/>
          </a:xfrm>
        </p:spPr>
        <p:txBody>
          <a:bodyPr/>
          <a:lstStyle/>
          <a:p>
            <a:r>
              <a:rPr lang="en-US" sz="1600"/>
              <a:t>Locate the majority of the delivery team in one physical location to enhance face-to-face communication and leverage information radiators.</a:t>
            </a:r>
          </a:p>
          <a:p>
            <a:endParaRPr lang="en-US" sz="1600"/>
          </a:p>
          <a:p>
            <a:pPr>
              <a:buFont typeface="Arial" charset="0"/>
              <a:buNone/>
            </a:pPr>
            <a:r>
              <a:rPr lang="en-US" sz="1600"/>
              <a:t>	For more information: </a:t>
            </a:r>
            <a:r>
              <a:rPr lang="en-US" sz="1600">
                <a:hlinkClick r:id="rId2"/>
              </a:rPr>
              <a:t>http://www.infoq.com/news/collaborative-team-space-study</a:t>
            </a:r>
            <a:endParaRPr lang="en-US" sz="1600"/>
          </a:p>
          <a:p>
            <a:endParaRPr lang="en-US" sz="1600"/>
          </a:p>
        </p:txBody>
      </p:sp>
    </p:spTree>
    <p:extLst>
      <p:ext uri="{BB962C8B-B14F-4D97-AF65-F5344CB8AC3E}">
        <p14:creationId xmlns:p14="http://schemas.microsoft.com/office/powerpoint/2010/main" val="299879367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sz="3100"/>
              <a:t>Standardized Estimation Template</a:t>
            </a:r>
          </a:p>
        </p:txBody>
      </p:sp>
      <p:sp>
        <p:nvSpPr>
          <p:cNvPr id="84995" name="Content Placeholder 2"/>
          <p:cNvSpPr>
            <a:spLocks noGrp="1"/>
          </p:cNvSpPr>
          <p:nvPr>
            <p:ph idx="1"/>
          </p:nvPr>
        </p:nvSpPr>
        <p:spPr>
          <a:xfrm>
            <a:off x="502920" y="1813560"/>
            <a:ext cx="9052560" cy="2192908"/>
          </a:xfrm>
        </p:spPr>
        <p:txBody>
          <a:bodyPr/>
          <a:lstStyle/>
          <a:p>
            <a:r>
              <a:rPr lang="en-US" sz="1600" dirty="0"/>
              <a:t>A standardized estimation template is created that </a:t>
            </a:r>
            <a:r>
              <a:rPr lang="en-US" sz="1600" dirty="0" smtClean="0"/>
              <a:t>can be </a:t>
            </a:r>
            <a:r>
              <a:rPr lang="en-US" sz="1600" dirty="0"/>
              <a:t>used by every delivery team to estimate work.</a:t>
            </a:r>
          </a:p>
          <a:p>
            <a:endParaRPr lang="en-US" sz="1600" dirty="0"/>
          </a:p>
          <a:p>
            <a:pPr>
              <a:buFont typeface="Arial" charset="0"/>
              <a:buNone/>
            </a:pPr>
            <a:r>
              <a:rPr lang="en-US" sz="1600" dirty="0"/>
              <a:t>	</a:t>
            </a:r>
          </a:p>
          <a:p>
            <a:endParaRPr lang="en-US" sz="1600" dirty="0"/>
          </a:p>
        </p:txBody>
      </p:sp>
    </p:spTree>
    <p:extLst>
      <p:ext uri="{BB962C8B-B14F-4D97-AF65-F5344CB8AC3E}">
        <p14:creationId xmlns:p14="http://schemas.microsoft.com/office/powerpoint/2010/main" val="421323360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sz="3100"/>
              <a:t>Centralized Alignment Team</a:t>
            </a:r>
          </a:p>
        </p:txBody>
      </p:sp>
      <p:sp>
        <p:nvSpPr>
          <p:cNvPr id="86019" name="Content Placeholder 2"/>
          <p:cNvSpPr>
            <a:spLocks noGrp="1"/>
          </p:cNvSpPr>
          <p:nvPr>
            <p:ph idx="1"/>
          </p:nvPr>
        </p:nvSpPr>
        <p:spPr>
          <a:xfrm>
            <a:off x="502920" y="1813560"/>
            <a:ext cx="9052560" cy="2439129"/>
          </a:xfrm>
        </p:spPr>
        <p:txBody>
          <a:bodyPr/>
          <a:lstStyle/>
          <a:p>
            <a:r>
              <a:rPr lang="en-US" sz="1600"/>
              <a:t>A centralized team is established to maintain alignment between individual delivery teams. The alignment team is responsible for scheduling frequent cross-team meetings to discuss status and resolve issues.</a:t>
            </a:r>
          </a:p>
          <a:p>
            <a:endParaRPr lang="en-US" sz="1600"/>
          </a:p>
          <a:p>
            <a:pPr>
              <a:buFont typeface="Arial" charset="0"/>
              <a:buNone/>
            </a:pPr>
            <a:r>
              <a:rPr lang="en-US" sz="1600"/>
              <a:t>	For more information: </a:t>
            </a:r>
            <a:r>
              <a:rPr lang="en-US" sz="1600">
                <a:hlinkClick r:id="rId2"/>
              </a:rPr>
              <a:t>http://inventuregroup.com/Leading/Alignment.aspx</a:t>
            </a:r>
            <a:endParaRPr lang="en-US" sz="1600"/>
          </a:p>
          <a:p>
            <a:endParaRPr lang="en-US" sz="1600"/>
          </a:p>
        </p:txBody>
      </p:sp>
    </p:spTree>
    <p:extLst>
      <p:ext uri="{BB962C8B-B14F-4D97-AF65-F5344CB8AC3E}">
        <p14:creationId xmlns:p14="http://schemas.microsoft.com/office/powerpoint/2010/main" val="36345787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z="3100"/>
              <a:t>Independent QA and Testing Team</a:t>
            </a:r>
          </a:p>
        </p:txBody>
      </p:sp>
      <p:sp>
        <p:nvSpPr>
          <p:cNvPr id="87043" name="Content Placeholder 2"/>
          <p:cNvSpPr>
            <a:spLocks noGrp="1"/>
          </p:cNvSpPr>
          <p:nvPr>
            <p:ph idx="1"/>
          </p:nvPr>
        </p:nvSpPr>
        <p:spPr>
          <a:xfrm>
            <a:off x="502920" y="1813560"/>
            <a:ext cx="9052560" cy="2192908"/>
          </a:xfrm>
        </p:spPr>
        <p:txBody>
          <a:bodyPr/>
          <a:lstStyle/>
          <a:p>
            <a:r>
              <a:rPr lang="en-US" sz="1600" dirty="0"/>
              <a:t>At the end of each iteration, a separate QA and Testing Team should test the system against a suite of detailed test suites.</a:t>
            </a:r>
          </a:p>
          <a:p>
            <a:endParaRPr lang="en-US" sz="1600" dirty="0"/>
          </a:p>
          <a:p>
            <a:pPr>
              <a:buFont typeface="Arial" charset="0"/>
              <a:buNone/>
            </a:pPr>
            <a:r>
              <a:rPr lang="en-US" sz="1600" dirty="0" smtClean="0"/>
              <a:t>For </a:t>
            </a:r>
            <a:r>
              <a:rPr lang="en-US" sz="1600" dirty="0"/>
              <a:t>more information: </a:t>
            </a:r>
            <a:r>
              <a:rPr lang="en-US" sz="1600" dirty="0">
                <a:hlinkClick r:id="rId2"/>
              </a:rPr>
              <a:t>http://acetechnologiesnet.com/services/independent_qa_testing.php</a:t>
            </a:r>
            <a:endParaRPr lang="en-US" sz="1600" dirty="0"/>
          </a:p>
          <a:p>
            <a:endParaRPr lang="en-US" sz="1600" dirty="0"/>
          </a:p>
        </p:txBody>
      </p:sp>
    </p:spTree>
    <p:extLst>
      <p:ext uri="{BB962C8B-B14F-4D97-AF65-F5344CB8AC3E}">
        <p14:creationId xmlns:p14="http://schemas.microsoft.com/office/powerpoint/2010/main" val="340397337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sz="3100"/>
              <a:t>Acceptance Tests</a:t>
            </a:r>
          </a:p>
        </p:txBody>
      </p:sp>
      <p:sp>
        <p:nvSpPr>
          <p:cNvPr id="88067" name="Content Placeholder 2"/>
          <p:cNvSpPr>
            <a:spLocks noGrp="1"/>
          </p:cNvSpPr>
          <p:nvPr>
            <p:ph idx="1"/>
          </p:nvPr>
        </p:nvSpPr>
        <p:spPr>
          <a:xfrm>
            <a:off x="502920" y="1813560"/>
            <a:ext cx="9052560" cy="2192908"/>
          </a:xfrm>
        </p:spPr>
        <p:txBody>
          <a:bodyPr/>
          <a:lstStyle/>
          <a:p>
            <a:r>
              <a:rPr lang="en-US" sz="1600"/>
              <a:t> Acceptance Tests are tests written in a form that allows requirements to be expressed in a way that provides an unambiguous answer to the question “are we done?”. </a:t>
            </a:r>
          </a:p>
          <a:p>
            <a:pPr>
              <a:buFont typeface="Arial" charset="0"/>
              <a:buNone/>
            </a:pPr>
            <a:endParaRPr lang="en-US" sz="1600"/>
          </a:p>
          <a:p>
            <a:pPr>
              <a:buFont typeface="Arial" charset="0"/>
              <a:buNone/>
            </a:pPr>
            <a:r>
              <a:rPr lang="en-US" sz="1600"/>
              <a:t>	For more information: </a:t>
            </a:r>
            <a:r>
              <a:rPr lang="en-US" sz="1600">
                <a:hlinkClick r:id="rId2"/>
              </a:rPr>
              <a:t>http://www.extremeprogramming.org/rules/functionaltests.html</a:t>
            </a:r>
            <a:endParaRPr lang="en-US" sz="1600"/>
          </a:p>
          <a:p>
            <a:endParaRPr lang="en-US" sz="1600"/>
          </a:p>
        </p:txBody>
      </p:sp>
    </p:spTree>
    <p:extLst>
      <p:ext uri="{BB962C8B-B14F-4D97-AF65-F5344CB8AC3E}">
        <p14:creationId xmlns:p14="http://schemas.microsoft.com/office/powerpoint/2010/main" val="198780572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sz="3100"/>
              <a:t>Acceptance Test Driven Plans</a:t>
            </a:r>
          </a:p>
        </p:txBody>
      </p:sp>
      <p:sp>
        <p:nvSpPr>
          <p:cNvPr id="89091" name="Content Placeholder 2"/>
          <p:cNvSpPr>
            <a:spLocks noGrp="1"/>
          </p:cNvSpPr>
          <p:nvPr>
            <p:ph idx="1"/>
          </p:nvPr>
        </p:nvSpPr>
        <p:spPr>
          <a:xfrm>
            <a:off x="502920" y="1813560"/>
            <a:ext cx="9052560" cy="5011628"/>
          </a:xfrm>
        </p:spPr>
        <p:txBody>
          <a:bodyPr/>
          <a:lstStyle/>
          <a:p>
            <a:r>
              <a:rPr lang="en-US" sz="1600" dirty="0"/>
              <a:t>Acceptance Test-Driven Planning is an extension of Extreme Programming Planning. During planning, the team defines acceptance tests for every work item in each iteration to drive the work that developers must develop. The planning process is supposed to take up about 10% of the time while the development effort takes 90%. It involves the following steps:</a:t>
            </a:r>
          </a:p>
          <a:p>
            <a:pPr>
              <a:buFont typeface="Arial" charset="0"/>
              <a:buNone/>
            </a:pPr>
            <a:endParaRPr lang="en-US" sz="1600" dirty="0"/>
          </a:p>
          <a:p>
            <a:pPr lvl="1">
              <a:buFont typeface="Calibri" pitchFamily="34" charset="0"/>
              <a:buAutoNum type="arabicPeriod"/>
            </a:pPr>
            <a:r>
              <a:rPr lang="en-US" sz="1300" dirty="0"/>
              <a:t>Getting the story straight</a:t>
            </a:r>
          </a:p>
          <a:p>
            <a:pPr lvl="1">
              <a:buFont typeface="Calibri" pitchFamily="34" charset="0"/>
              <a:buAutoNum type="arabicPeriod"/>
            </a:pPr>
            <a:r>
              <a:rPr lang="en-US" sz="1300" dirty="0"/>
              <a:t>Show and tell</a:t>
            </a:r>
          </a:p>
          <a:p>
            <a:pPr lvl="1">
              <a:buFont typeface="Calibri" pitchFamily="34" charset="0"/>
              <a:buAutoNum type="arabicPeriod"/>
            </a:pPr>
            <a:r>
              <a:rPr lang="en-US" sz="1300" dirty="0"/>
              <a:t>Retrospective</a:t>
            </a:r>
          </a:p>
          <a:p>
            <a:pPr lvl="1">
              <a:buFont typeface="Calibri" pitchFamily="34" charset="0"/>
              <a:buAutoNum type="arabicPeriod"/>
            </a:pPr>
            <a:r>
              <a:rPr lang="en-US" sz="1300" dirty="0"/>
              <a:t>(optional) Technical Retrospective</a:t>
            </a:r>
          </a:p>
          <a:p>
            <a:pPr lvl="1">
              <a:buFont typeface="Calibri" pitchFamily="34" charset="0"/>
              <a:buAutoNum type="arabicPeriod"/>
            </a:pPr>
            <a:r>
              <a:rPr lang="en-US" sz="1300" dirty="0"/>
              <a:t>Iteration Planning Workshop</a:t>
            </a:r>
          </a:p>
          <a:p>
            <a:pPr lvl="1">
              <a:buFont typeface="Calibri" pitchFamily="34" charset="0"/>
              <a:buAutoNum type="arabicPeriod"/>
            </a:pPr>
            <a:r>
              <a:rPr lang="en-US" sz="1300" dirty="0"/>
              <a:t>(optional) Big, up-front thinking</a:t>
            </a:r>
          </a:p>
          <a:p>
            <a:pPr lvl="1">
              <a:buFont typeface="Calibri" pitchFamily="34" charset="0"/>
              <a:buAutoNum type="arabicPeriod"/>
            </a:pPr>
            <a:r>
              <a:rPr lang="en-US" sz="1300" dirty="0"/>
              <a:t>Cutting the iteration</a:t>
            </a:r>
            <a:endParaRPr lang="en-US" sz="1600" dirty="0"/>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a:hlinkClick r:id="rId2"/>
              </a:rPr>
              <a:t>http://www.vietnamesetestingboard.org/zbxe/?document_srl=276643</a:t>
            </a:r>
            <a:endParaRPr lang="en-US" sz="1600" dirty="0"/>
          </a:p>
          <a:p>
            <a:endParaRPr lang="en-US" sz="1600" dirty="0"/>
          </a:p>
        </p:txBody>
      </p:sp>
    </p:spTree>
    <p:extLst>
      <p:ext uri="{BB962C8B-B14F-4D97-AF65-F5344CB8AC3E}">
        <p14:creationId xmlns:p14="http://schemas.microsoft.com/office/powerpoint/2010/main" val="62377454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sz="3100"/>
              <a:t>Acceptance Test Driven Development</a:t>
            </a:r>
          </a:p>
        </p:txBody>
      </p:sp>
      <p:sp>
        <p:nvSpPr>
          <p:cNvPr id="90115" name="Content Placeholder 2"/>
          <p:cNvSpPr>
            <a:spLocks noGrp="1"/>
          </p:cNvSpPr>
          <p:nvPr>
            <p:ph idx="1"/>
          </p:nvPr>
        </p:nvSpPr>
        <p:spPr>
          <a:xfrm>
            <a:off x="502920" y="1813560"/>
            <a:ext cx="9052560" cy="3252172"/>
          </a:xfrm>
        </p:spPr>
        <p:txBody>
          <a:bodyPr/>
          <a:lstStyle/>
          <a:p>
            <a:r>
              <a:rPr lang="en-US" sz="1600"/>
              <a:t>Acceptance Test Driven Development (ATDD) is a practice in which the entire team collaboratively discusses acceptance criteria and uses real world examples to formulate a set of concrete acceptance tests before development begins. By doing ATDD, the team is able to gain a shared understanding of what is being developed and when it would be considered as done.</a:t>
            </a:r>
          </a:p>
          <a:p>
            <a:endParaRPr lang="en-US" sz="1600"/>
          </a:p>
          <a:p>
            <a:pPr>
              <a:buFont typeface="Arial" charset="0"/>
              <a:buNone/>
            </a:pPr>
            <a:r>
              <a:rPr lang="en-US" sz="1600"/>
              <a:t>	For more information: </a:t>
            </a:r>
            <a:r>
              <a:rPr lang="en-US" sz="1600">
                <a:hlinkClick r:id="rId2"/>
              </a:rPr>
              <a:t>http://en.wikipedia.org/wiki/Test-driven_development</a:t>
            </a:r>
            <a:endParaRPr lang="en-US" sz="1600"/>
          </a:p>
          <a:p>
            <a:pPr>
              <a:buFont typeface="Arial" charset="0"/>
              <a:buNone/>
            </a:pPr>
            <a:endParaRPr lang="en-US" sz="1600"/>
          </a:p>
          <a:p>
            <a:endParaRPr lang="en-US" sz="1600"/>
          </a:p>
        </p:txBody>
      </p:sp>
    </p:spTree>
    <p:extLst>
      <p:ext uri="{BB962C8B-B14F-4D97-AF65-F5344CB8AC3E}">
        <p14:creationId xmlns:p14="http://schemas.microsoft.com/office/powerpoint/2010/main" val="307230991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sz="3100"/>
              <a:t>Iterative Requirements</a:t>
            </a:r>
          </a:p>
        </p:txBody>
      </p:sp>
      <p:sp>
        <p:nvSpPr>
          <p:cNvPr id="91139" name="Content Placeholder 2"/>
          <p:cNvSpPr>
            <a:spLocks noGrp="1"/>
          </p:cNvSpPr>
          <p:nvPr>
            <p:ph idx="1"/>
          </p:nvPr>
        </p:nvSpPr>
        <p:spPr>
          <a:xfrm>
            <a:off x="502920" y="1813560"/>
            <a:ext cx="9052560" cy="3177793"/>
          </a:xfrm>
        </p:spPr>
        <p:txBody>
          <a:bodyPr/>
          <a:lstStyle/>
          <a:p>
            <a:r>
              <a:rPr lang="en-US" sz="1600" dirty="0"/>
              <a:t>Iterative Requirements are requirements developed interactively through iterative requirements planning sessions. At the start of each iteration the team elaborates on a set of requirements and produces detailed requirements for the developers. Iterative requirements sessions may be conducted using Joint Application Development  (JAD ) mythology, in which business sponsor and participant interviews and orientations can be conducted. </a:t>
            </a:r>
          </a:p>
          <a:p>
            <a:pPr>
              <a:buFont typeface="Arial" charset="0"/>
              <a:buNone/>
            </a:pPr>
            <a:endParaRPr lang="en-US" sz="1600" dirty="0"/>
          </a:p>
          <a:p>
            <a:pPr>
              <a:buFont typeface="Arial" charset="0"/>
              <a:buNone/>
            </a:pPr>
            <a:r>
              <a:rPr lang="en-US" sz="1600" dirty="0" smtClean="0"/>
              <a:t>For </a:t>
            </a:r>
            <a:r>
              <a:rPr lang="en-US" sz="1600" dirty="0"/>
              <a:t>more information: </a:t>
            </a:r>
            <a:r>
              <a:rPr lang="en-US" sz="1600" dirty="0">
                <a:hlinkClick r:id="rId2"/>
              </a:rPr>
              <a:t>http://www.developerfusion.com/article/6766/secrets-of-successful-software-requirements/5/</a:t>
            </a:r>
            <a:endParaRPr lang="en-US" sz="1600" dirty="0"/>
          </a:p>
          <a:p>
            <a:endParaRPr lang="en-US" sz="1600" dirty="0"/>
          </a:p>
        </p:txBody>
      </p:sp>
    </p:spTree>
    <p:extLst>
      <p:ext uri="{BB962C8B-B14F-4D97-AF65-F5344CB8AC3E}">
        <p14:creationId xmlns:p14="http://schemas.microsoft.com/office/powerpoint/2010/main" val="130467362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sz="3100"/>
              <a:t>Executable Requirements</a:t>
            </a:r>
          </a:p>
        </p:txBody>
      </p:sp>
      <p:sp>
        <p:nvSpPr>
          <p:cNvPr id="92163" name="Content Placeholder 2"/>
          <p:cNvSpPr>
            <a:spLocks noGrp="1"/>
          </p:cNvSpPr>
          <p:nvPr>
            <p:ph idx="1"/>
          </p:nvPr>
        </p:nvSpPr>
        <p:spPr>
          <a:xfrm>
            <a:off x="502920" y="1813560"/>
            <a:ext cx="9052560" cy="2931572"/>
          </a:xfrm>
        </p:spPr>
        <p:txBody>
          <a:bodyPr/>
          <a:lstStyle/>
          <a:p>
            <a:r>
              <a:rPr lang="en-US" sz="1600"/>
              <a:t>Executable requirements are requirements that can be run. A team can develop a process to automate the requirements into executable test cases that validate the system using the vocabulary of behavior-driven development,  by defining a feature in terms of a Story with Scenarios that describe how the feature behaves. Using a minimum of syntax, this becomes an executable and self-describing requirements document.</a:t>
            </a:r>
          </a:p>
          <a:p>
            <a:endParaRPr lang="en-US" sz="1600"/>
          </a:p>
          <a:p>
            <a:pPr>
              <a:buFont typeface="Arial" charset="0"/>
              <a:buNone/>
            </a:pPr>
            <a:r>
              <a:rPr lang="en-US" sz="1600"/>
              <a:t>	For more information: </a:t>
            </a:r>
            <a:r>
              <a:rPr lang="en-US" sz="1600">
                <a:hlinkClick r:id="rId2"/>
              </a:rPr>
              <a:t>http://dannorth.net/introducing-bdd/</a:t>
            </a:r>
            <a:endParaRPr lang="en-US" sz="1600"/>
          </a:p>
          <a:p>
            <a:endParaRPr lang="en-US" sz="1600"/>
          </a:p>
        </p:txBody>
      </p:sp>
    </p:spTree>
    <p:extLst>
      <p:ext uri="{BB962C8B-B14F-4D97-AF65-F5344CB8AC3E}">
        <p14:creationId xmlns:p14="http://schemas.microsoft.com/office/powerpoint/2010/main" val="282182229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sz="3100"/>
              <a:t>Stubbing Dependencies</a:t>
            </a:r>
          </a:p>
        </p:txBody>
      </p:sp>
      <p:sp>
        <p:nvSpPr>
          <p:cNvPr id="93187" name="Content Placeholder 2"/>
          <p:cNvSpPr>
            <a:spLocks noGrp="1"/>
          </p:cNvSpPr>
          <p:nvPr>
            <p:ph idx="1"/>
          </p:nvPr>
        </p:nvSpPr>
        <p:spPr>
          <a:xfrm>
            <a:off x="502920" y="1813560"/>
            <a:ext cx="9052560" cy="2685351"/>
          </a:xfrm>
        </p:spPr>
        <p:txBody>
          <a:bodyPr/>
          <a:lstStyle/>
          <a:p>
            <a:r>
              <a:rPr lang="en-US" sz="1600" dirty="0"/>
              <a:t>Stubbing dependencies is a practice of developing stubs of external systems to support continued development and enable automated builds independent of external systems. Stubs are fast to develop, ensuring that what’s needed can be completed with having to get the exact details correct before completion of a task, such as a successful build for example.</a:t>
            </a:r>
          </a:p>
          <a:p>
            <a:endParaRPr lang="en-US" sz="1600" dirty="0"/>
          </a:p>
          <a:p>
            <a:pPr>
              <a:buFont typeface="Arial" charset="0"/>
              <a:buNone/>
            </a:pPr>
            <a:r>
              <a:rPr lang="en-US" sz="1600" dirty="0" smtClean="0"/>
              <a:t>For </a:t>
            </a:r>
            <a:r>
              <a:rPr lang="en-US" sz="1600" dirty="0"/>
              <a:t>more information: </a:t>
            </a:r>
            <a:r>
              <a:rPr lang="en-US" sz="1600" dirty="0">
                <a:hlinkClick r:id="rId2"/>
              </a:rPr>
              <a:t>http://blog.springsource.com/2007/01/15/unit-testing-with-stubs-and-mocks/</a:t>
            </a:r>
            <a:endParaRPr lang="en-US" sz="1600" dirty="0"/>
          </a:p>
          <a:p>
            <a:endParaRPr lang="en-US" sz="1600" dirty="0"/>
          </a:p>
        </p:txBody>
      </p:sp>
    </p:spTree>
    <p:extLst>
      <p:ext uri="{BB962C8B-B14F-4D97-AF65-F5344CB8AC3E}">
        <p14:creationId xmlns:p14="http://schemas.microsoft.com/office/powerpoint/2010/main" val="397293140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sz="3100"/>
              <a:t>Standardized Development Tooling</a:t>
            </a:r>
          </a:p>
        </p:txBody>
      </p:sp>
      <p:sp>
        <p:nvSpPr>
          <p:cNvPr id="94211" name="Content Placeholder 2"/>
          <p:cNvSpPr>
            <a:spLocks noGrp="1"/>
          </p:cNvSpPr>
          <p:nvPr>
            <p:ph idx="1"/>
          </p:nvPr>
        </p:nvSpPr>
        <p:spPr>
          <a:xfrm>
            <a:off x="502920" y="1813560"/>
            <a:ext cx="9052560" cy="1551707"/>
          </a:xfrm>
        </p:spPr>
        <p:txBody>
          <a:bodyPr/>
          <a:lstStyle/>
          <a:p>
            <a:r>
              <a:rPr lang="en-US" sz="1600" dirty="0"/>
              <a:t>A set of standardized development tools (IDE, source control clients/systems, frameworks, etc.) are defined and mandated for use by the development team. This reduces IT overhead and ensures that all developers are working in the same environment and issues, testing, demos can be run interchangeably on different machines. </a:t>
            </a:r>
          </a:p>
          <a:p>
            <a:endParaRPr lang="en-US" sz="1600" dirty="0"/>
          </a:p>
        </p:txBody>
      </p:sp>
    </p:spTree>
    <p:extLst>
      <p:ext uri="{BB962C8B-B14F-4D97-AF65-F5344CB8AC3E}">
        <p14:creationId xmlns:p14="http://schemas.microsoft.com/office/powerpoint/2010/main" val="349186376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sz="3100"/>
              <a:t>Iterative Performance Testing</a:t>
            </a:r>
          </a:p>
        </p:txBody>
      </p:sp>
      <p:sp>
        <p:nvSpPr>
          <p:cNvPr id="95235" name="Content Placeholder 2"/>
          <p:cNvSpPr>
            <a:spLocks noGrp="1"/>
          </p:cNvSpPr>
          <p:nvPr>
            <p:ph idx="1"/>
          </p:nvPr>
        </p:nvSpPr>
        <p:spPr>
          <a:xfrm>
            <a:off x="502920" y="1813560"/>
            <a:ext cx="9052560" cy="2192908"/>
          </a:xfrm>
        </p:spPr>
        <p:txBody>
          <a:bodyPr/>
          <a:lstStyle/>
          <a:p>
            <a:r>
              <a:rPr lang="en-US" sz="1600"/>
              <a:t>During each iteration, a set of performance tests are run by an independent testing team to validate the performance of the system to identify bottlenecks early on.</a:t>
            </a:r>
          </a:p>
          <a:p>
            <a:endParaRPr lang="en-US" sz="1600"/>
          </a:p>
          <a:p>
            <a:pPr>
              <a:buFont typeface="Arial" charset="0"/>
              <a:buNone/>
            </a:pPr>
            <a:r>
              <a:rPr lang="en-US" sz="1600"/>
              <a:t>	For more information: </a:t>
            </a:r>
            <a:r>
              <a:rPr lang="en-US" sz="1600">
                <a:hlinkClick r:id="rId2"/>
              </a:rPr>
              <a:t>http://en.wikipedia.org/wiki/Code_refactoring</a:t>
            </a:r>
            <a:endParaRPr lang="en-US" sz="1600"/>
          </a:p>
          <a:p>
            <a:endParaRPr lang="en-US" sz="1600"/>
          </a:p>
        </p:txBody>
      </p:sp>
    </p:spTree>
    <p:extLst>
      <p:ext uri="{BB962C8B-B14F-4D97-AF65-F5344CB8AC3E}">
        <p14:creationId xmlns:p14="http://schemas.microsoft.com/office/powerpoint/2010/main" val="171708308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r>
              <a:rPr lang="en-US" sz="3100"/>
              <a:t>Coding Standards</a:t>
            </a:r>
          </a:p>
        </p:txBody>
      </p:sp>
      <p:sp>
        <p:nvSpPr>
          <p:cNvPr id="96259" name="Content Placeholder 2"/>
          <p:cNvSpPr>
            <a:spLocks noGrp="1"/>
          </p:cNvSpPr>
          <p:nvPr>
            <p:ph idx="1"/>
          </p:nvPr>
        </p:nvSpPr>
        <p:spPr>
          <a:xfrm>
            <a:off x="502920" y="1813560"/>
            <a:ext cx="9052560" cy="4237057"/>
          </a:xfrm>
        </p:spPr>
        <p:txBody>
          <a:bodyPr/>
          <a:lstStyle/>
          <a:p>
            <a:r>
              <a:rPr lang="en-US" sz="1600" dirty="0"/>
              <a:t>Coding standards are a set of standards and conventions are established (formatting, naming, patterns, etc.) that the development team must adhere to in their code, which avoids letting each developer code in their own preferred style, making sure that a large project is coded in a consistent style. A typical supplementary best practice is to employ Self Describing Code, a set of coding conventions with the intent of making code a self-documenting artifact. Specific implementation patterns can be followed to ensure that code is developed with readability as a primary consideration, in effect reducing the need for code comments, supporting documentation, and other artifacts which may not always be kept up to date with production code.</a:t>
            </a:r>
          </a:p>
          <a:p>
            <a:endParaRPr lang="en-US" sz="1600" dirty="0"/>
          </a:p>
          <a:p>
            <a:pPr>
              <a:buFont typeface="Arial" charset="0"/>
              <a:buNone/>
            </a:pPr>
            <a:r>
              <a:rPr lang="en-US" sz="1600" dirty="0" smtClean="0"/>
              <a:t>For </a:t>
            </a:r>
            <a:r>
              <a:rPr lang="en-US" sz="1600" dirty="0"/>
              <a:t>more information: </a:t>
            </a:r>
            <a:r>
              <a:rPr lang="en-US" sz="1600" dirty="0">
                <a:hlinkClick r:id="rId2"/>
              </a:rPr>
              <a:t>http://</a:t>
            </a:r>
            <a:r>
              <a:rPr lang="en-US" sz="1600" dirty="0" smtClean="0">
                <a:hlinkClick r:id="rId2"/>
              </a:rPr>
              <a:t>www.extremeprogramming.org/rules/standards.html</a:t>
            </a:r>
            <a:endParaRPr lang="en-US" sz="1600" dirty="0" smtClean="0"/>
          </a:p>
          <a:p>
            <a:pPr>
              <a:buFont typeface="Arial" charset="0"/>
              <a:buNone/>
            </a:pPr>
            <a:r>
              <a:rPr lang="en-US" sz="1600" dirty="0" smtClean="0">
                <a:hlinkClick r:id="rId3"/>
              </a:rPr>
              <a:t>http</a:t>
            </a:r>
            <a:r>
              <a:rPr lang="en-US" sz="1600" dirty="0">
                <a:hlinkClick r:id="rId3"/>
              </a:rPr>
              <a:t>://agileconsulting.blogspot.com/2009/01/agile-over-rup-my-preferred-development.html</a:t>
            </a:r>
            <a:endParaRPr lang="en-US" sz="1600" dirty="0"/>
          </a:p>
          <a:p>
            <a:endParaRPr lang="en-US" sz="1600" dirty="0"/>
          </a:p>
        </p:txBody>
      </p:sp>
    </p:spTree>
    <p:extLst>
      <p:ext uri="{BB962C8B-B14F-4D97-AF65-F5344CB8AC3E}">
        <p14:creationId xmlns:p14="http://schemas.microsoft.com/office/powerpoint/2010/main" val="81423601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sz="3100"/>
              <a:t>Architectural POC</a:t>
            </a:r>
          </a:p>
        </p:txBody>
      </p:sp>
      <p:sp>
        <p:nvSpPr>
          <p:cNvPr id="97283" name="Content Placeholder 2"/>
          <p:cNvSpPr>
            <a:spLocks noGrp="1"/>
          </p:cNvSpPr>
          <p:nvPr>
            <p:ph idx="1"/>
          </p:nvPr>
        </p:nvSpPr>
        <p:spPr>
          <a:xfrm>
            <a:off x="502920" y="1813560"/>
            <a:ext cx="9052560" cy="2192908"/>
          </a:xfrm>
        </p:spPr>
        <p:txBody>
          <a:bodyPr/>
          <a:lstStyle/>
          <a:p>
            <a:r>
              <a:rPr lang="en-US" sz="1600"/>
              <a:t>Architectural proof-of-concepts are development efforts based on design that is created to learn by doing and test the feasibility of uncertain architectural options.</a:t>
            </a:r>
          </a:p>
          <a:p>
            <a:endParaRPr lang="en-US" sz="1600"/>
          </a:p>
          <a:p>
            <a:pPr>
              <a:buFont typeface="Arial" charset="0"/>
              <a:buNone/>
            </a:pPr>
            <a:r>
              <a:rPr lang="en-US" sz="1600"/>
              <a:t>	For more information: </a:t>
            </a:r>
            <a:r>
              <a:rPr lang="en-US" sz="1600">
                <a:hlinkClick r:id="rId2"/>
              </a:rPr>
              <a:t>http://msdn.microsoft.com/en-us/library/cc168618.aspx</a:t>
            </a:r>
            <a:endParaRPr lang="en-US" sz="1600"/>
          </a:p>
          <a:p>
            <a:endParaRPr lang="en-US" sz="1600"/>
          </a:p>
        </p:txBody>
      </p:sp>
    </p:spTree>
    <p:extLst>
      <p:ext uri="{BB962C8B-B14F-4D97-AF65-F5344CB8AC3E}">
        <p14:creationId xmlns:p14="http://schemas.microsoft.com/office/powerpoint/2010/main" val="3894513599"/>
      </p:ext>
    </p:extLst>
  </p:cSld>
  <p:clrMapOvr>
    <a:masterClrMapping/>
  </p:clrMapOvr>
  <p:timing>
    <p:tnLst>
      <p:par>
        <p:cTn id="1" dur="indefinite" restart="never" nodeType="tmRoot"/>
      </p:par>
    </p:tnLst>
  </p:timing>
</p:sld>
</file>

<file path=ppt/theme/theme1.xml><?xml version="1.0" encoding="utf-8"?>
<a:theme xmlns:a="http://schemas.openxmlformats.org/drawingml/2006/main" name="Canadian S&amp;O Template 082407">
  <a:themeElements>
    <a:clrScheme name="">
      <a:dk1>
        <a:srgbClr val="000000"/>
      </a:dk1>
      <a:lt1>
        <a:srgbClr val="FFFFFF"/>
      </a:lt1>
      <a:dk2>
        <a:srgbClr val="99CC33"/>
      </a:dk2>
      <a:lt2>
        <a:srgbClr val="009999"/>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fontScheme name="Canadian S&amp;O Template 08240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cap="rnd">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wrap="none" anchor="ctr"/>
      <a:lstStyle>
        <a:defPPr algn="ctr" eaLnBrk="0" hangingPunct="0">
          <a:lnSpc>
            <a:spcPct val="106000"/>
          </a:lnSpc>
          <a:defRPr>
            <a:solidFill>
              <a:srgbClr val="FFFFFF"/>
            </a:solidFill>
            <a:latin typeface="Arial" pitchFamily="34" charset="0"/>
            <a:cs typeface="+mn-cs"/>
          </a:defRPr>
        </a:defPPr>
      </a:lstStyle>
    </a:spDef>
    <a:lnDef>
      <a:spPr bwMode="auto">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89803" dir="2700000" algn="ctr" rotWithShape="0">
                  <a:schemeClr val="bg2"/>
                </a:outerShdw>
              </a:effectLst>
            </a14:hiddenEffects>
          </a:ext>
        </a:extLst>
      </a:spPr>
      <a:bodyPr/>
      <a:lstStyle/>
    </a:lnDef>
  </a:objectDefaults>
  <a:extraClrSchemeLst>
    <a:extraClrScheme>
      <a:clrScheme name="Canadian S&amp;O Template 0824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anadian S&amp;O Template 0824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anadian S&amp;O Template 0824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anadian S&amp;O Template 0824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anadian S&amp;O Template 0824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anadian S&amp;O Template 0824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anadian S&amp;O Template 0824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anadian S&amp;O Template 082407 8">
        <a:dk1>
          <a:srgbClr val="000000"/>
        </a:dk1>
        <a:lt1>
          <a:srgbClr val="FFFFFF"/>
        </a:lt1>
        <a:dk2>
          <a:srgbClr val="B2CADB"/>
        </a:dk2>
        <a:lt2>
          <a:srgbClr val="1D3A6A"/>
        </a:lt2>
        <a:accent1>
          <a:srgbClr val="DED3B6"/>
        </a:accent1>
        <a:accent2>
          <a:srgbClr val="EAB58E"/>
        </a:accent2>
        <a:accent3>
          <a:srgbClr val="FFFFFF"/>
        </a:accent3>
        <a:accent4>
          <a:srgbClr val="000000"/>
        </a:accent4>
        <a:accent5>
          <a:srgbClr val="ECE6D7"/>
        </a:accent5>
        <a:accent6>
          <a:srgbClr val="D4A480"/>
        </a:accent6>
        <a:hlink>
          <a:srgbClr val="F5DDCB"/>
        </a:hlink>
        <a:folHlink>
          <a:srgbClr val="FEF2D2"/>
        </a:folHlink>
      </a:clrScheme>
      <a:clrMap bg1="lt1" tx1="dk1" bg2="lt2" tx2="dk2" accent1="accent1" accent2="accent2" accent3="accent3" accent4="accent4" accent5="accent5" accent6="accent6" hlink="hlink" folHlink="folHlink"/>
    </a:extraClrScheme>
    <a:extraClrScheme>
      <a:clrScheme name="Canadian S&amp;O Template 082407 9">
        <a:dk1>
          <a:srgbClr val="000000"/>
        </a:dk1>
        <a:lt1>
          <a:srgbClr val="FFFFFF"/>
        </a:lt1>
        <a:dk2>
          <a:srgbClr val="FEF2D2"/>
        </a:dk2>
        <a:lt2>
          <a:srgbClr val="1D3A6A"/>
        </a:lt2>
        <a:accent1>
          <a:srgbClr val="B2CADB"/>
        </a:accent1>
        <a:accent2>
          <a:srgbClr val="DED3B6"/>
        </a:accent2>
        <a:accent3>
          <a:srgbClr val="FFFFFF"/>
        </a:accent3>
        <a:accent4>
          <a:srgbClr val="000000"/>
        </a:accent4>
        <a:accent5>
          <a:srgbClr val="D5E1EA"/>
        </a:accent5>
        <a:accent6>
          <a:srgbClr val="C9BFA5"/>
        </a:accent6>
        <a:hlink>
          <a:srgbClr val="EAB58E"/>
        </a:hlink>
        <a:folHlink>
          <a:srgbClr val="F5DDCB"/>
        </a:folHlink>
      </a:clrScheme>
      <a:clrMap bg1="lt1" tx1="dk1" bg2="lt2" tx2="dk2" accent1="accent1" accent2="accent2" accent3="accent3" accent4="accent4" accent5="accent5" accent6="accent6" hlink="hlink" folHlink="folHlink"/>
    </a:extraClrScheme>
    <a:extraClrScheme>
      <a:clrScheme name="Canadian S&amp;O Template 082407 10">
        <a:dk1>
          <a:srgbClr val="000000"/>
        </a:dk1>
        <a:lt1>
          <a:srgbClr val="FFFFFF"/>
        </a:lt1>
        <a:dk2>
          <a:srgbClr val="F1EDE1"/>
        </a:dk2>
        <a:lt2>
          <a:srgbClr val="091D5D"/>
        </a:lt2>
        <a:accent1>
          <a:srgbClr val="9DA5BE"/>
        </a:accent1>
        <a:accent2>
          <a:srgbClr val="85C2FE"/>
        </a:accent2>
        <a:accent3>
          <a:srgbClr val="FFFFFF"/>
        </a:accent3>
        <a:accent4>
          <a:srgbClr val="000000"/>
        </a:accent4>
        <a:accent5>
          <a:srgbClr val="CCCFDB"/>
        </a:accent5>
        <a:accent6>
          <a:srgbClr val="78B0E6"/>
        </a:accent6>
        <a:hlink>
          <a:srgbClr val="ADD6FF"/>
        </a:hlink>
        <a:folHlink>
          <a:srgbClr val="D6EBFF"/>
        </a:folHlink>
      </a:clrScheme>
      <a:clrMap bg1="lt1" tx1="dk1" bg2="lt2" tx2="dk2" accent1="accent1" accent2="accent2" accent3="accent3" accent4="accent4" accent5="accent5" accent6="accent6" hlink="hlink" folHlink="folHlink"/>
    </a:extraClrScheme>
    <a:extraClrScheme>
      <a:clrScheme name="Canadian S&amp;O Template 082407 11">
        <a:dk1>
          <a:srgbClr val="AFAFAF"/>
        </a:dk1>
        <a:lt1>
          <a:srgbClr val="FFFFFF"/>
        </a:lt1>
        <a:dk2>
          <a:srgbClr val="F1EDE1"/>
        </a:dk2>
        <a:lt2>
          <a:srgbClr val="091D5D"/>
        </a:lt2>
        <a:accent1>
          <a:srgbClr val="85C2FE"/>
        </a:accent1>
        <a:accent2>
          <a:srgbClr val="ADD6FF"/>
        </a:accent2>
        <a:accent3>
          <a:srgbClr val="FFFFFF"/>
        </a:accent3>
        <a:accent4>
          <a:srgbClr val="959595"/>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Canadian S&amp;O Template 082407 12">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Canadian S&amp;O Template 082407 13">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D6EBFF"/>
        </a:folHlink>
      </a:clrScheme>
      <a:clrMap bg1="lt1" tx1="dk1" bg2="lt2" tx2="dk2" accent1="accent1" accent2="accent2" accent3="accent3" accent4="accent4" accent5="accent5" accent6="accent6" hlink="hlink" folHlink="folHlink"/>
    </a:extraClrScheme>
    <a:extraClrScheme>
      <a:clrScheme name="Canadian S&amp;O Template 082407 14">
        <a:dk1>
          <a:srgbClr val="000000"/>
        </a:dk1>
        <a:lt1>
          <a:srgbClr val="FFFFFF"/>
        </a:lt1>
        <a:dk2>
          <a:srgbClr val="CCD6EB"/>
        </a:dk2>
        <a:lt2>
          <a:srgbClr val="000066"/>
        </a:lt2>
        <a:accent1>
          <a:srgbClr val="40B3B3"/>
        </a:accent1>
        <a:accent2>
          <a:srgbClr val="B2C1E0"/>
        </a:accent2>
        <a:accent3>
          <a:srgbClr val="FFFFFF"/>
        </a:accent3>
        <a:accent4>
          <a:srgbClr val="000000"/>
        </a:accent4>
        <a:accent5>
          <a:srgbClr val="AFD6D6"/>
        </a:accent5>
        <a:accent6>
          <a:srgbClr val="A1AFCB"/>
        </a:accent6>
        <a:hlink>
          <a:srgbClr val="66C2C2"/>
        </a:hlink>
        <a:folHlink>
          <a:srgbClr val="8CA3D1"/>
        </a:folHlink>
      </a:clrScheme>
      <a:clrMap bg1="lt1" tx1="dk1" bg2="lt2" tx2="dk2" accent1="accent1" accent2="accent2" accent3="accent3" accent4="accent4" accent5="accent5" accent6="accent6" hlink="hlink" folHlink="folHlink"/>
    </a:extraClrScheme>
    <a:extraClrScheme>
      <a:clrScheme name="Canadian S&amp;O Template 082407 15">
        <a:dk1>
          <a:srgbClr val="000000"/>
        </a:dk1>
        <a:lt1>
          <a:srgbClr val="FFFFFF"/>
        </a:lt1>
        <a:dk2>
          <a:srgbClr val="4066B2"/>
        </a:dk2>
        <a:lt2>
          <a:srgbClr val="000066"/>
        </a:lt2>
        <a:accent1>
          <a:srgbClr val="003399"/>
        </a:accent1>
        <a:accent2>
          <a:srgbClr val="80CCCC"/>
        </a:accent2>
        <a:accent3>
          <a:srgbClr val="FFFFFF"/>
        </a:accent3>
        <a:accent4>
          <a:srgbClr val="000000"/>
        </a:accent4>
        <a:accent5>
          <a:srgbClr val="AAADCA"/>
        </a:accent5>
        <a:accent6>
          <a:srgbClr val="73B9B9"/>
        </a:accent6>
        <a:hlink>
          <a:srgbClr val="8099CC"/>
        </a:hlink>
        <a:folHlink>
          <a:srgbClr val="009999"/>
        </a:folHlink>
      </a:clrScheme>
      <a:clrMap bg1="lt1" tx1="dk1" bg2="lt2" tx2="dk2" accent1="accent1" accent2="accent2" accent3="accent3" accent4="accent4" accent5="accent5" accent6="accent6" hlink="hlink" folHlink="folHlink"/>
    </a:extraClrScheme>
    <a:extraClrScheme>
      <a:clrScheme name="Canadian S&amp;O Template 082407 16">
        <a:dk1>
          <a:srgbClr val="000000"/>
        </a:dk1>
        <a:lt1>
          <a:srgbClr val="FFFFFF"/>
        </a:lt1>
        <a:dk2>
          <a:srgbClr val="4066B2"/>
        </a:dk2>
        <a:lt2>
          <a:srgbClr val="000066"/>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loitte Screen (small)">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C0568293A19343BA628AD62C410A05" ma:contentTypeVersion="" ma:contentTypeDescription="Create a new document." ma:contentTypeScope="" ma:versionID="5ebbb1a15566cbe7f198a4351794335c">
  <xsd:schema xmlns:xsd="http://www.w3.org/2001/XMLSchema" xmlns:xs="http://www.w3.org/2001/XMLSchema" xmlns:p="http://schemas.microsoft.com/office/2006/metadata/properties" targetNamespace="http://schemas.microsoft.com/office/2006/metadata/properties" ma:root="true" ma:fieldsID="b2384c6cc0088fcedbaf6edaf557def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4492AA-7606-4E5B-BF8A-B1A0D000257B}"/>
</file>

<file path=customXml/itemProps2.xml><?xml version="1.0" encoding="utf-8"?>
<ds:datastoreItem xmlns:ds="http://schemas.openxmlformats.org/officeDocument/2006/customXml" ds:itemID="{AD8AF05E-129C-4FC1-9003-2B55470E95A3}"/>
</file>

<file path=customXml/itemProps3.xml><?xml version="1.0" encoding="utf-8"?>
<ds:datastoreItem xmlns:ds="http://schemas.openxmlformats.org/officeDocument/2006/customXml" ds:itemID="{7D117D94-C51D-479D-9639-ED802EA39D90}"/>
</file>

<file path=docProps/app.xml><?xml version="1.0" encoding="utf-8"?>
<Properties xmlns="http://schemas.openxmlformats.org/officeDocument/2006/extended-properties" xmlns:vt="http://schemas.openxmlformats.org/officeDocument/2006/docPropsVTypes">
  <Template/>
  <TotalTime>2644</TotalTime>
  <Words>7129</Words>
  <Application>Microsoft Office PowerPoint</Application>
  <PresentationFormat>Custom</PresentationFormat>
  <Paragraphs>1094</Paragraphs>
  <Slides>113</Slides>
  <Notes>4</Notes>
  <HiddenSlides>0</HiddenSlides>
  <MMClips>0</MMClips>
  <ScaleCrop>false</ScaleCrop>
  <HeadingPairs>
    <vt:vector size="4" baseType="variant">
      <vt:variant>
        <vt:lpstr>Theme</vt:lpstr>
      </vt:variant>
      <vt:variant>
        <vt:i4>2</vt:i4>
      </vt:variant>
      <vt:variant>
        <vt:lpstr>Slide Titles</vt:lpstr>
      </vt:variant>
      <vt:variant>
        <vt:i4>113</vt:i4>
      </vt:variant>
    </vt:vector>
  </HeadingPairs>
  <TitlesOfParts>
    <vt:vector size="115" baseType="lpstr">
      <vt:lpstr>Canadian S&amp;O Template 082407</vt:lpstr>
      <vt:lpstr>Deloitte Screen (small)</vt:lpstr>
      <vt:lpstr>PowerPoint Presentation</vt:lpstr>
      <vt:lpstr>Five simple techniques to increase the agility in your current process</vt:lpstr>
      <vt:lpstr>Describe planning units as increments of business value, and treat them as atomic units that can be designed and delivered independently</vt:lpstr>
      <vt:lpstr>Replace Stage Gates with time boxed reviews and other activities completed at a regularly scheduled cadence</vt:lpstr>
      <vt:lpstr>Use visualization to make sure that everyone understands what the processes are, and where the current work fits into that process</vt:lpstr>
      <vt:lpstr>Limit Consumption of Demand According to the Capacity of Workers to Satisfy That Demand </vt:lpstr>
      <vt:lpstr>To get started on building more agility into a software development process, start by answering the following questions</vt:lpstr>
      <vt:lpstr>Building Your Own Agile Method</vt:lpstr>
      <vt:lpstr>PowerPoint Presentation</vt:lpstr>
      <vt:lpstr>PowerPoint Presentation</vt:lpstr>
      <vt:lpstr>PowerPoint Presentation</vt:lpstr>
      <vt:lpstr>PowerPoint Presentation</vt:lpstr>
      <vt:lpstr>PowerPoint Presentation</vt:lpstr>
      <vt:lpstr>PowerPoint Presentation</vt:lpstr>
      <vt:lpstr>Agile Methods</vt:lpstr>
      <vt:lpstr>PowerPoint Presentation</vt:lpstr>
      <vt:lpstr>PowerPoint Presentation</vt:lpstr>
      <vt:lpstr>PowerPoint Presentation</vt:lpstr>
      <vt:lpstr>PowerPoint Presentation</vt:lpstr>
      <vt:lpstr>Agile Practices</vt:lpstr>
      <vt:lpstr>User Acceptance Tests (UAT)</vt:lpstr>
      <vt:lpstr>User Acceptance Tests (Types)</vt:lpstr>
      <vt:lpstr>Exploratory Tests</vt:lpstr>
      <vt:lpstr>Technical Tests</vt:lpstr>
      <vt:lpstr>Defects</vt:lpstr>
      <vt:lpstr>Agile Application Lifecycle Management (ALM)</vt:lpstr>
      <vt:lpstr>Operations Support Manual</vt:lpstr>
      <vt:lpstr>Code Katas</vt:lpstr>
      <vt:lpstr>SOLID Practices</vt:lpstr>
      <vt:lpstr>Software Architecture (RUP)</vt:lpstr>
      <vt:lpstr>Architecture Key Mechanism (RUP) </vt:lpstr>
      <vt:lpstr>4 + 1 Views (RUP)</vt:lpstr>
      <vt:lpstr>Emerging Design (Code Craftsmanship)</vt:lpstr>
      <vt:lpstr>Wiki Project Repository </vt:lpstr>
      <vt:lpstr>Model Storming</vt:lpstr>
      <vt:lpstr>Agile Class and Sequence Diagrams</vt:lpstr>
      <vt:lpstr>System Metaphor</vt:lpstr>
      <vt:lpstr>Spike</vt:lpstr>
      <vt:lpstr>Class Responsibility Collaboration (CRC)</vt:lpstr>
      <vt:lpstr>Agile Use Cases</vt:lpstr>
      <vt:lpstr>Non-functional Requirements</vt:lpstr>
      <vt:lpstr>System Context Diagrams</vt:lpstr>
      <vt:lpstr>Domain/Service Model</vt:lpstr>
      <vt:lpstr>Ubiquitous Language</vt:lpstr>
      <vt:lpstr>Bounded Context Maps</vt:lpstr>
      <vt:lpstr>Low Fidelity UI Mockup (Agile Modeling)</vt:lpstr>
      <vt:lpstr>Features (Agile Modeling)</vt:lpstr>
      <vt:lpstr>Minimum Marketable Feature Set (Agile Modeling)</vt:lpstr>
      <vt:lpstr>User Story</vt:lpstr>
      <vt:lpstr>Story Map</vt:lpstr>
      <vt:lpstr>Usage Scenarios</vt:lpstr>
      <vt:lpstr>Epics/Themes</vt:lpstr>
      <vt:lpstr>A3</vt:lpstr>
      <vt:lpstr>Backlog</vt:lpstr>
      <vt:lpstr>The 5 Whys</vt:lpstr>
      <vt:lpstr>Value Stream Map (Lean)</vt:lpstr>
      <vt:lpstr>Kaizen (Lean)</vt:lpstr>
      <vt:lpstr>Work in Progress Limits (Kanban)</vt:lpstr>
      <vt:lpstr>Operational Review (Kanban) </vt:lpstr>
      <vt:lpstr>Portfolio Kanban</vt:lpstr>
      <vt:lpstr>Policies with Kanban</vt:lpstr>
      <vt:lpstr>Classes of Service with Delivery Promise (Kanban) </vt:lpstr>
      <vt:lpstr>Information Radiators</vt:lpstr>
      <vt:lpstr>Collaborative Workspaces</vt:lpstr>
      <vt:lpstr>Product Lifecycle (RUP)</vt:lpstr>
      <vt:lpstr>Work Ticket Types</vt:lpstr>
      <vt:lpstr>Statistical Process Control (SPC) Charts </vt:lpstr>
      <vt:lpstr>Cumulative Flow Diagrams</vt:lpstr>
      <vt:lpstr>Cost of Delay</vt:lpstr>
      <vt:lpstr>Issue Management using Kanban</vt:lpstr>
      <vt:lpstr>Tasks</vt:lpstr>
      <vt:lpstr>Agile Work/Planning Board</vt:lpstr>
      <vt:lpstr>Tasks</vt:lpstr>
      <vt:lpstr>Iteration Plan</vt:lpstr>
      <vt:lpstr>Release Plan</vt:lpstr>
      <vt:lpstr>Self-organizing Teams</vt:lpstr>
      <vt:lpstr>Planning Poker</vt:lpstr>
      <vt:lpstr>Definition of Done</vt:lpstr>
      <vt:lpstr>Kanban Workboard</vt:lpstr>
      <vt:lpstr>Daily Standups</vt:lpstr>
      <vt:lpstr>Blockers and Issues</vt:lpstr>
      <vt:lpstr>Retrospectives </vt:lpstr>
      <vt:lpstr>Release Burndown Chart</vt:lpstr>
      <vt:lpstr>Continuous Integration</vt:lpstr>
      <vt:lpstr>Continuous Deployment</vt:lpstr>
      <vt:lpstr>Snapshot Builds</vt:lpstr>
      <vt:lpstr>Domain Driven Design</vt:lpstr>
      <vt:lpstr>Architectural Baseline</vt:lpstr>
      <vt:lpstr>Code Reviews</vt:lpstr>
      <vt:lpstr>Automated Code Quality Governance</vt:lpstr>
      <vt:lpstr>Automated Unit Testing</vt:lpstr>
      <vt:lpstr>Test-Driven Development (TDD)</vt:lpstr>
      <vt:lpstr>Automated Builds</vt:lpstr>
      <vt:lpstr>Iteration Reviews</vt:lpstr>
      <vt:lpstr>Self-documenting Code</vt:lpstr>
      <vt:lpstr>Potentially Shippable Code</vt:lpstr>
      <vt:lpstr>Pair Programming</vt:lpstr>
      <vt:lpstr>Collective Code Ownership</vt:lpstr>
      <vt:lpstr>Refactoring</vt:lpstr>
      <vt:lpstr>Co-located Teams</vt:lpstr>
      <vt:lpstr>Standardized Estimation Template</vt:lpstr>
      <vt:lpstr>Centralized Alignment Team</vt:lpstr>
      <vt:lpstr>Independent QA and Testing Team</vt:lpstr>
      <vt:lpstr>Acceptance Tests</vt:lpstr>
      <vt:lpstr>Acceptance Test Driven Plans</vt:lpstr>
      <vt:lpstr>Acceptance Test Driven Development</vt:lpstr>
      <vt:lpstr>Iterative Requirements</vt:lpstr>
      <vt:lpstr>Executable Requirements</vt:lpstr>
      <vt:lpstr>Stubbing Dependencies</vt:lpstr>
      <vt:lpstr>Standardized Development Tooling</vt:lpstr>
      <vt:lpstr>Iterative Performance Testing</vt:lpstr>
      <vt:lpstr>Coding Standards</vt:lpstr>
      <vt:lpstr>Architectural POC</vt:lpstr>
    </vt:vector>
  </TitlesOfParts>
  <Company>Deloitte.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Deloitte LEAN is an organization transformation framework dedicated to helping our clients obtain remarkable improvements in the technology aspects of their business</dc:title>
  <dc:creator>Emad Toukan</dc:creator>
  <cp:lastModifiedBy>Alexis Hui</cp:lastModifiedBy>
  <cp:revision>246</cp:revision>
  <dcterms:created xsi:type="dcterms:W3CDTF">2011-09-14T01:09:05Z</dcterms:created>
  <dcterms:modified xsi:type="dcterms:W3CDTF">2012-02-06T12:00:25Z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0x010100B3C0568293A19343BA628AD62C410A05</vt:lpwstr>
  </property>
</Properties>
</file>